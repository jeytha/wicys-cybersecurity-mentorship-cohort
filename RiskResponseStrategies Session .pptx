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8" d="100"/>
          <a:sy n="128" d="100"/>
        </p:scale>
        <p:origin x="82" y="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269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943600" y="-457200"/>
            <a:ext cx="4114800" cy="3200400"/>
          </a:xfrm>
          <a:prstGeom prst="rect">
            <a:avLst/>
          </a:prstGeom>
          <a:solidFill>
            <a:srgbClr val="0E7490">
              <a:alpha val="12000"/>
            </a:srgbClr>
          </a:solidFill>
          <a:ln w="12700">
            <a:solidFill>
              <a:srgbClr val="0E7490">
                <a:alpha val="12000"/>
              </a:srgbClr>
            </a:solidFill>
            <a:prstDash val="solid"/>
          </a:ln>
        </p:spPr>
        <p:txBody>
          <a:bodyPr/>
          <a:lstStyle/>
          <a:p>
            <a:endParaRPr lang="en-US"/>
          </a:p>
        </p:txBody>
      </p:sp>
      <p:sp>
        <p:nvSpPr>
          <p:cNvPr id="3" name="Shape 1"/>
          <p:cNvSpPr/>
          <p:nvPr/>
        </p:nvSpPr>
        <p:spPr>
          <a:xfrm>
            <a:off x="7132320" y="-182880"/>
            <a:ext cx="2560320" cy="2011680"/>
          </a:xfrm>
          <a:prstGeom prst="rect">
            <a:avLst/>
          </a:prstGeom>
          <a:solidFill>
            <a:srgbClr val="0E7490">
              <a:alpha val="22000"/>
            </a:srgbClr>
          </a:solidFill>
          <a:ln w="12700">
            <a:solidFill>
              <a:srgbClr val="0E7490">
                <a:alpha val="22000"/>
              </a:srgbClr>
            </a:solidFill>
            <a:prstDash val="solid"/>
          </a:ln>
        </p:spPr>
        <p:txBody>
          <a:bodyPr/>
          <a:lstStyle/>
          <a:p>
            <a:endParaRPr lang="en-US"/>
          </a:p>
        </p:txBody>
      </p:sp>
      <p:sp>
        <p:nvSpPr>
          <p:cNvPr id="4" name="Shape 2"/>
          <p:cNvSpPr/>
          <p:nvPr/>
        </p:nvSpPr>
        <p:spPr>
          <a:xfrm>
            <a:off x="0" y="0"/>
            <a:ext cx="201168" cy="5143500"/>
          </a:xfrm>
          <a:prstGeom prst="rect">
            <a:avLst/>
          </a:prstGeom>
          <a:solidFill>
            <a:srgbClr val="22D3EE"/>
          </a:solidFill>
          <a:ln w="12700">
            <a:solidFill>
              <a:srgbClr val="22D3EE"/>
            </a:solidFill>
            <a:prstDash val="solid"/>
          </a:ln>
        </p:spPr>
        <p:txBody>
          <a:bodyPr/>
          <a:lstStyle/>
          <a:p>
            <a:endParaRPr lang="en-US"/>
          </a:p>
        </p:txBody>
      </p:sp>
      <p:sp>
        <p:nvSpPr>
          <p:cNvPr id="5" name="Text 3"/>
          <p:cNvSpPr/>
          <p:nvPr/>
        </p:nvSpPr>
        <p:spPr>
          <a:xfrm>
            <a:off x="457200" y="1097280"/>
            <a:ext cx="8229600" cy="365760"/>
          </a:xfrm>
          <a:prstGeom prst="rect">
            <a:avLst/>
          </a:prstGeom>
          <a:noFill/>
          <a:ln/>
        </p:spPr>
        <p:txBody>
          <a:bodyPr wrap="square" lIns="0" tIns="0" rIns="0" bIns="0" rtlCol="0" anchor="ctr"/>
          <a:lstStyle/>
          <a:p>
            <a:pPr marL="0" indent="0">
              <a:buNone/>
            </a:pPr>
            <a:r>
              <a:rPr lang="en-US" sz="1200" b="1" kern="0" spc="800" dirty="0">
                <a:solidFill>
                  <a:srgbClr val="22D3EE"/>
                </a:solidFill>
              </a:rPr>
              <a:t>RISK MANAGEMENT</a:t>
            </a:r>
            <a:endParaRPr lang="en-US" sz="1200" dirty="0"/>
          </a:p>
        </p:txBody>
      </p:sp>
      <p:sp>
        <p:nvSpPr>
          <p:cNvPr id="6" name="Text 4"/>
          <p:cNvSpPr/>
          <p:nvPr/>
        </p:nvSpPr>
        <p:spPr>
          <a:xfrm>
            <a:off x="404308" y="1271195"/>
            <a:ext cx="6858000" cy="1737360"/>
          </a:xfrm>
          <a:prstGeom prst="rect">
            <a:avLst/>
          </a:prstGeom>
          <a:noFill/>
          <a:ln/>
        </p:spPr>
        <p:txBody>
          <a:bodyPr wrap="square" lIns="0" tIns="0" rIns="0" bIns="0" rtlCol="0" anchor="ctr"/>
          <a:lstStyle/>
          <a:p>
            <a:pPr marL="0" indent="0">
              <a:buNone/>
            </a:pPr>
            <a:r>
              <a:rPr lang="en-US" sz="5800" b="1" dirty="0">
                <a:solidFill>
                  <a:srgbClr val="FFFFFF"/>
                </a:solidFill>
              </a:rPr>
              <a:t>Response</a:t>
            </a:r>
            <a:endParaRPr lang="en-US" sz="5800" dirty="0"/>
          </a:p>
          <a:p>
            <a:pPr marL="0" indent="0">
              <a:buNone/>
            </a:pPr>
            <a:r>
              <a:rPr lang="en-US" sz="5800" b="1" dirty="0">
                <a:solidFill>
                  <a:srgbClr val="FFFFFF"/>
                </a:solidFill>
              </a:rPr>
              <a:t>Strategies</a:t>
            </a:r>
            <a:endParaRPr lang="en-US" sz="5800" dirty="0"/>
          </a:p>
        </p:txBody>
      </p:sp>
      <p:sp>
        <p:nvSpPr>
          <p:cNvPr id="7" name="Text 5"/>
          <p:cNvSpPr/>
          <p:nvPr/>
        </p:nvSpPr>
        <p:spPr>
          <a:xfrm>
            <a:off x="457200" y="3173057"/>
            <a:ext cx="8229600" cy="365760"/>
          </a:xfrm>
          <a:prstGeom prst="rect">
            <a:avLst/>
          </a:prstGeom>
          <a:noFill/>
          <a:ln/>
        </p:spPr>
        <p:txBody>
          <a:bodyPr wrap="square" lIns="0" tIns="0" rIns="0" bIns="0" rtlCol="0" anchor="ctr"/>
          <a:lstStyle/>
          <a:p>
            <a:pPr marL="0" indent="0">
              <a:buNone/>
            </a:pPr>
            <a:r>
              <a:rPr lang="en-US" sz="1300" i="1" dirty="0">
                <a:solidFill>
                  <a:srgbClr val="94A3B8"/>
                </a:solidFill>
              </a:rPr>
              <a:t>Transfer · Mitigate · Accept · Avoid · Exploit · Escalate  </a:t>
            </a:r>
          </a:p>
          <a:p>
            <a:pPr marL="0" indent="0">
              <a:buNone/>
            </a:pPr>
            <a:endParaRPr lang="en-US" sz="1300" i="1" dirty="0">
              <a:solidFill>
                <a:srgbClr val="94A3B8"/>
              </a:solidFill>
            </a:endParaRPr>
          </a:p>
          <a:p>
            <a:pPr marL="0" indent="0">
              <a:buNone/>
            </a:pPr>
            <a:r>
              <a:rPr lang="en-US" sz="1300" i="1" dirty="0">
                <a:solidFill>
                  <a:srgbClr val="94A3B8"/>
                </a:solidFill>
              </a:rPr>
              <a:t>By: </a:t>
            </a:r>
            <a:r>
              <a:rPr lang="en-US" sz="1300" i="1" dirty="0" err="1">
                <a:solidFill>
                  <a:srgbClr val="94A3B8"/>
                </a:solidFill>
              </a:rPr>
              <a:t>Jeytha</a:t>
            </a:r>
            <a:r>
              <a:rPr lang="en-US" sz="1300" i="1" dirty="0">
                <a:solidFill>
                  <a:srgbClr val="94A3B8"/>
                </a:solidFill>
              </a:rPr>
              <a:t> Sahana .V</a:t>
            </a:r>
            <a:endParaRPr lang="en-US" sz="1300" dirty="0"/>
          </a:p>
        </p:txBody>
      </p:sp>
      <p:sp>
        <p:nvSpPr>
          <p:cNvPr id="8" name="Shape 6"/>
          <p:cNvSpPr/>
          <p:nvPr/>
        </p:nvSpPr>
        <p:spPr>
          <a:xfrm>
            <a:off x="457200" y="3703320"/>
            <a:ext cx="228600" cy="228600"/>
          </a:xfrm>
          <a:prstGeom prst="ellipse">
            <a:avLst/>
          </a:prstGeom>
          <a:solidFill>
            <a:srgbClr val="7C3AED"/>
          </a:solidFill>
          <a:ln w="12700">
            <a:solidFill>
              <a:srgbClr val="7C3AED"/>
            </a:solidFill>
            <a:prstDash val="solid"/>
          </a:ln>
        </p:spPr>
        <p:txBody>
          <a:bodyPr/>
          <a:lstStyle/>
          <a:p>
            <a:endParaRPr lang="en-US"/>
          </a:p>
        </p:txBody>
      </p:sp>
      <p:sp>
        <p:nvSpPr>
          <p:cNvPr id="9" name="Shape 7"/>
          <p:cNvSpPr/>
          <p:nvPr/>
        </p:nvSpPr>
        <p:spPr>
          <a:xfrm>
            <a:off x="804672" y="3703320"/>
            <a:ext cx="228600" cy="228600"/>
          </a:xfrm>
          <a:prstGeom prst="ellipse">
            <a:avLst/>
          </a:prstGeom>
          <a:solidFill>
            <a:srgbClr val="0891B2"/>
          </a:solidFill>
          <a:ln w="12700">
            <a:solidFill>
              <a:srgbClr val="0891B2"/>
            </a:solidFill>
            <a:prstDash val="solid"/>
          </a:ln>
        </p:spPr>
        <p:txBody>
          <a:bodyPr/>
          <a:lstStyle/>
          <a:p>
            <a:endParaRPr lang="en-US"/>
          </a:p>
        </p:txBody>
      </p:sp>
      <p:sp>
        <p:nvSpPr>
          <p:cNvPr id="10" name="Shape 8"/>
          <p:cNvSpPr/>
          <p:nvPr/>
        </p:nvSpPr>
        <p:spPr>
          <a:xfrm>
            <a:off x="1152144" y="3703320"/>
            <a:ext cx="228600" cy="228600"/>
          </a:xfrm>
          <a:prstGeom prst="ellipse">
            <a:avLst/>
          </a:prstGeom>
          <a:solidFill>
            <a:srgbClr val="059669"/>
          </a:solidFill>
          <a:ln w="12700">
            <a:solidFill>
              <a:srgbClr val="059669"/>
            </a:solidFill>
            <a:prstDash val="solid"/>
          </a:ln>
        </p:spPr>
        <p:txBody>
          <a:bodyPr/>
          <a:lstStyle/>
          <a:p>
            <a:endParaRPr lang="en-US"/>
          </a:p>
        </p:txBody>
      </p:sp>
      <p:sp>
        <p:nvSpPr>
          <p:cNvPr id="11" name="Shape 9"/>
          <p:cNvSpPr/>
          <p:nvPr/>
        </p:nvSpPr>
        <p:spPr>
          <a:xfrm>
            <a:off x="1499616" y="3703320"/>
            <a:ext cx="228600" cy="228600"/>
          </a:xfrm>
          <a:prstGeom prst="ellipse">
            <a:avLst/>
          </a:prstGeom>
          <a:solidFill>
            <a:srgbClr val="DC2626"/>
          </a:solidFill>
          <a:ln w="12700">
            <a:solidFill>
              <a:srgbClr val="DC2626"/>
            </a:solidFill>
            <a:prstDash val="solid"/>
          </a:ln>
        </p:spPr>
        <p:txBody>
          <a:bodyPr/>
          <a:lstStyle/>
          <a:p>
            <a:endParaRPr lang="en-US"/>
          </a:p>
        </p:txBody>
      </p:sp>
      <p:sp>
        <p:nvSpPr>
          <p:cNvPr id="12" name="Shape 10"/>
          <p:cNvSpPr/>
          <p:nvPr/>
        </p:nvSpPr>
        <p:spPr>
          <a:xfrm>
            <a:off x="1847088" y="3703320"/>
            <a:ext cx="228600" cy="228600"/>
          </a:xfrm>
          <a:prstGeom prst="ellipse">
            <a:avLst/>
          </a:prstGeom>
          <a:solidFill>
            <a:srgbClr val="D97706"/>
          </a:solidFill>
          <a:ln w="12700">
            <a:solidFill>
              <a:srgbClr val="D97706"/>
            </a:solidFill>
            <a:prstDash val="solid"/>
          </a:ln>
        </p:spPr>
        <p:txBody>
          <a:bodyPr/>
          <a:lstStyle/>
          <a:p>
            <a:endParaRPr lang="en-US"/>
          </a:p>
        </p:txBody>
      </p:sp>
      <p:sp>
        <p:nvSpPr>
          <p:cNvPr id="13" name="Shape 11"/>
          <p:cNvSpPr/>
          <p:nvPr/>
        </p:nvSpPr>
        <p:spPr>
          <a:xfrm>
            <a:off x="2194560" y="3703320"/>
            <a:ext cx="228600" cy="228600"/>
          </a:xfrm>
          <a:prstGeom prst="ellipse">
            <a:avLst/>
          </a:prstGeom>
          <a:solidFill>
            <a:srgbClr val="DB2777"/>
          </a:solidFill>
          <a:ln w="12700">
            <a:solidFill>
              <a:srgbClr val="DB2777"/>
            </a:solidFill>
            <a:prstDash val="solid"/>
          </a:ln>
        </p:spPr>
        <p:txBody>
          <a:bodyPr/>
          <a:lstStyle/>
          <a:p>
            <a:endParaRPr lang="en-US"/>
          </a:p>
        </p:txBody>
      </p:sp>
      <p:sp>
        <p:nvSpPr>
          <p:cNvPr id="14" name="Shape 12"/>
          <p:cNvSpPr/>
          <p:nvPr/>
        </p:nvSpPr>
        <p:spPr>
          <a:xfrm>
            <a:off x="0" y="4773168"/>
            <a:ext cx="9144000" cy="370332"/>
          </a:xfrm>
          <a:prstGeom prst="rect">
            <a:avLst/>
          </a:prstGeom>
          <a:solidFill>
            <a:srgbClr val="0A1628"/>
          </a:solidFill>
          <a:ln w="12700">
            <a:solidFill>
              <a:srgbClr val="0A1628"/>
            </a:solidFill>
            <a:prstDash val="solid"/>
          </a:ln>
        </p:spPr>
        <p:txBody>
          <a:bodyPr/>
          <a:lstStyle/>
          <a:p>
            <a:endParaRPr lang="en-US"/>
          </a:p>
        </p:txBody>
      </p:sp>
      <p:sp>
        <p:nvSpPr>
          <p:cNvPr id="15" name="Text 13"/>
          <p:cNvSpPr/>
          <p:nvPr/>
        </p:nvSpPr>
        <p:spPr>
          <a:xfrm>
            <a:off x="365760" y="4773168"/>
            <a:ext cx="8229600" cy="370332"/>
          </a:xfrm>
          <a:prstGeom prst="rect">
            <a:avLst/>
          </a:prstGeom>
          <a:noFill/>
          <a:ln/>
        </p:spPr>
        <p:txBody>
          <a:bodyPr wrap="square" lIns="0" tIns="0" rIns="0" bIns="0" rtlCol="0" anchor="ctr"/>
          <a:lstStyle/>
          <a:p>
            <a:pPr marL="0" indent="0">
              <a:buNone/>
            </a:pPr>
            <a:r>
              <a:rPr lang="en-US" sz="1100" dirty="0">
                <a:solidFill>
                  <a:srgbClr val="94A3B8"/>
                </a:solidFill>
              </a:rPr>
              <a:t>Cybersecurity Risk Management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02920"/>
          </a:xfrm>
          <a:prstGeom prst="rect">
            <a:avLst/>
          </a:prstGeom>
          <a:noFill/>
          <a:ln/>
        </p:spPr>
        <p:txBody>
          <a:bodyPr wrap="square" lIns="0" tIns="0" rIns="0" bIns="0" rtlCol="0" anchor="ctr"/>
          <a:lstStyle/>
          <a:p>
            <a:pPr marL="0" indent="0">
              <a:buNone/>
            </a:pPr>
            <a:r>
              <a:rPr lang="en-US" sz="2600" b="1" dirty="0">
                <a:solidFill>
                  <a:srgbClr val="FFFFFF"/>
                </a:solidFill>
              </a:rPr>
              <a:t>The 6 Risk Response Strategies</a:t>
            </a:r>
            <a:endParaRPr lang="en-US" sz="2600" dirty="0"/>
          </a:p>
        </p:txBody>
      </p:sp>
      <p:sp>
        <p:nvSpPr>
          <p:cNvPr id="3" name="Shape 1"/>
          <p:cNvSpPr/>
          <p:nvPr/>
        </p:nvSpPr>
        <p:spPr>
          <a:xfrm>
            <a:off x="365760" y="658368"/>
            <a:ext cx="8412480" cy="45720"/>
          </a:xfrm>
          <a:prstGeom prst="rect">
            <a:avLst/>
          </a:prstGeom>
          <a:solidFill>
            <a:srgbClr val="22D3EE"/>
          </a:solidFill>
          <a:ln w="12700">
            <a:solidFill>
              <a:srgbClr val="22D3EE"/>
            </a:solidFill>
            <a:prstDash val="solid"/>
          </a:ln>
        </p:spPr>
        <p:txBody>
          <a:bodyPr/>
          <a:lstStyle/>
          <a:p>
            <a:endParaRPr lang="en-US"/>
          </a:p>
        </p:txBody>
      </p:sp>
      <p:sp>
        <p:nvSpPr>
          <p:cNvPr id="4" name="Text 2"/>
          <p:cNvSpPr/>
          <p:nvPr/>
        </p:nvSpPr>
        <p:spPr>
          <a:xfrm>
            <a:off x="365760" y="749808"/>
            <a:ext cx="8412480" cy="320040"/>
          </a:xfrm>
          <a:prstGeom prst="rect">
            <a:avLst/>
          </a:prstGeom>
          <a:noFill/>
          <a:ln/>
        </p:spPr>
        <p:txBody>
          <a:bodyPr wrap="square" lIns="0" tIns="0" rIns="0" bIns="0" rtlCol="0" anchor="ctr"/>
          <a:lstStyle/>
          <a:p>
            <a:pPr marL="0" indent="0">
              <a:buNone/>
            </a:pPr>
            <a:r>
              <a:rPr lang="en-US" sz="1200" i="1" dirty="0">
                <a:solidFill>
                  <a:srgbClr val="94A3B8"/>
                </a:solidFill>
              </a:rPr>
              <a:t>Every risk you identify must get one of these responses. Here's the full picture.</a:t>
            </a:r>
            <a:endParaRPr lang="en-US" sz="1200" dirty="0"/>
          </a:p>
        </p:txBody>
      </p:sp>
      <p:sp>
        <p:nvSpPr>
          <p:cNvPr id="5" name="Shape 3"/>
          <p:cNvSpPr/>
          <p:nvPr/>
        </p:nvSpPr>
        <p:spPr>
          <a:xfrm>
            <a:off x="256032" y="1170432"/>
            <a:ext cx="2788920" cy="1737360"/>
          </a:xfrm>
          <a:prstGeom prst="rect">
            <a:avLst/>
          </a:prstGeom>
          <a:solidFill>
            <a:srgbClr val="132338"/>
          </a:solidFill>
          <a:ln w="19050">
            <a:solidFill>
              <a:srgbClr val="DC2626"/>
            </a:solidFill>
            <a:prstDash val="solid"/>
          </a:ln>
          <a:effectLst>
            <a:outerShdw blurRad="127000" dist="38100" dir="8100000" algn="bl" rotWithShape="0">
              <a:srgbClr val="000000">
                <a:alpha val="20000"/>
              </a:srgbClr>
            </a:outerShdw>
          </a:effectLst>
        </p:spPr>
        <p:txBody>
          <a:bodyPr/>
          <a:lstStyle/>
          <a:p>
            <a:endParaRPr lang="en-US"/>
          </a:p>
        </p:txBody>
      </p:sp>
      <p:sp>
        <p:nvSpPr>
          <p:cNvPr id="6" name="Shape 4"/>
          <p:cNvSpPr/>
          <p:nvPr/>
        </p:nvSpPr>
        <p:spPr>
          <a:xfrm>
            <a:off x="256032" y="1170432"/>
            <a:ext cx="2788920" cy="164592"/>
          </a:xfrm>
          <a:prstGeom prst="rect">
            <a:avLst/>
          </a:prstGeom>
          <a:solidFill>
            <a:srgbClr val="DC2626"/>
          </a:solidFill>
          <a:ln w="12700">
            <a:solidFill>
              <a:srgbClr val="DC2626"/>
            </a:solidFill>
            <a:prstDash val="solid"/>
          </a:ln>
        </p:spPr>
        <p:txBody>
          <a:bodyPr/>
          <a:lstStyle/>
          <a:p>
            <a:endParaRPr lang="en-US"/>
          </a:p>
        </p:txBody>
      </p:sp>
      <p:sp>
        <p:nvSpPr>
          <p:cNvPr id="7" name="Text 5"/>
          <p:cNvSpPr/>
          <p:nvPr/>
        </p:nvSpPr>
        <p:spPr>
          <a:xfrm>
            <a:off x="365760" y="1371600"/>
            <a:ext cx="2560320" cy="411480"/>
          </a:xfrm>
          <a:prstGeom prst="rect">
            <a:avLst/>
          </a:prstGeom>
          <a:noFill/>
          <a:ln/>
        </p:spPr>
        <p:txBody>
          <a:bodyPr wrap="square" lIns="0" tIns="0" rIns="0" bIns="0" rtlCol="0" anchor="ctr"/>
          <a:lstStyle/>
          <a:p>
            <a:pPr marL="0" indent="0">
              <a:buNone/>
            </a:pPr>
            <a:r>
              <a:rPr lang="en-US" sz="1600" b="1" dirty="0">
                <a:solidFill>
                  <a:srgbClr val="DC2626"/>
                </a:solidFill>
              </a:rPr>
              <a:t>🚫  Avoid</a:t>
            </a:r>
            <a:endParaRPr lang="en-US" sz="1600" dirty="0"/>
          </a:p>
        </p:txBody>
      </p:sp>
      <p:sp>
        <p:nvSpPr>
          <p:cNvPr id="8" name="Text 6"/>
          <p:cNvSpPr/>
          <p:nvPr/>
        </p:nvSpPr>
        <p:spPr>
          <a:xfrm>
            <a:off x="365760" y="1764792"/>
            <a:ext cx="2560320" cy="365760"/>
          </a:xfrm>
          <a:prstGeom prst="rect">
            <a:avLst/>
          </a:prstGeom>
          <a:noFill/>
          <a:ln/>
        </p:spPr>
        <p:txBody>
          <a:bodyPr wrap="square" lIns="0" tIns="0" rIns="0" bIns="0" rtlCol="0" anchor="ctr"/>
          <a:lstStyle/>
          <a:p>
            <a:pPr marL="0" indent="0">
              <a:buNone/>
            </a:pPr>
            <a:r>
              <a:rPr lang="en-US" sz="1000" dirty="0">
                <a:solidFill>
                  <a:srgbClr val="E2E8F0"/>
                </a:solidFill>
              </a:rPr>
              <a:t>Eliminate the risk entirely</a:t>
            </a:r>
            <a:endParaRPr lang="en-US" sz="1000" dirty="0"/>
          </a:p>
        </p:txBody>
      </p:sp>
      <p:sp>
        <p:nvSpPr>
          <p:cNvPr id="9" name="Text 7"/>
          <p:cNvSpPr/>
          <p:nvPr/>
        </p:nvSpPr>
        <p:spPr>
          <a:xfrm>
            <a:off x="365760" y="2157984"/>
            <a:ext cx="2560320" cy="502920"/>
          </a:xfrm>
          <a:prstGeom prst="rect">
            <a:avLst/>
          </a:prstGeom>
          <a:noFill/>
          <a:ln/>
        </p:spPr>
        <p:txBody>
          <a:bodyPr wrap="square" lIns="0" tIns="0" rIns="0" bIns="0" rtlCol="0" anchor="ctr"/>
          <a:lstStyle/>
          <a:p>
            <a:pPr marL="0" indent="0">
              <a:buNone/>
            </a:pPr>
            <a:r>
              <a:rPr lang="en-US" sz="900" i="1" dirty="0">
                <a:solidFill>
                  <a:srgbClr val="94A3B8"/>
                </a:solidFill>
              </a:rPr>
              <a:t>WHEN: Risk is too high to tolerate</a:t>
            </a:r>
            <a:endParaRPr lang="en-US" sz="900" dirty="0"/>
          </a:p>
        </p:txBody>
      </p:sp>
      <p:sp>
        <p:nvSpPr>
          <p:cNvPr id="10" name="Shape 8"/>
          <p:cNvSpPr/>
          <p:nvPr/>
        </p:nvSpPr>
        <p:spPr>
          <a:xfrm>
            <a:off x="3163824" y="1170432"/>
            <a:ext cx="2788920" cy="1737360"/>
          </a:xfrm>
          <a:prstGeom prst="rect">
            <a:avLst/>
          </a:prstGeom>
          <a:solidFill>
            <a:srgbClr val="132338"/>
          </a:solidFill>
          <a:ln w="19050">
            <a:solidFill>
              <a:srgbClr val="0891B2"/>
            </a:solidFill>
            <a:prstDash val="solid"/>
          </a:ln>
          <a:effectLst>
            <a:outerShdw blurRad="127000" dist="38100" dir="8100000" algn="bl" rotWithShape="0">
              <a:srgbClr val="000000">
                <a:alpha val="20000"/>
              </a:srgbClr>
            </a:outerShdw>
          </a:effectLst>
        </p:spPr>
        <p:txBody>
          <a:bodyPr/>
          <a:lstStyle/>
          <a:p>
            <a:endParaRPr lang="en-US"/>
          </a:p>
        </p:txBody>
      </p:sp>
      <p:sp>
        <p:nvSpPr>
          <p:cNvPr id="11" name="Shape 9"/>
          <p:cNvSpPr/>
          <p:nvPr/>
        </p:nvSpPr>
        <p:spPr>
          <a:xfrm>
            <a:off x="3163824" y="1170432"/>
            <a:ext cx="2788920" cy="164592"/>
          </a:xfrm>
          <a:prstGeom prst="rect">
            <a:avLst/>
          </a:prstGeom>
          <a:solidFill>
            <a:srgbClr val="0891B2"/>
          </a:solidFill>
          <a:ln w="12700">
            <a:solidFill>
              <a:srgbClr val="0891B2"/>
            </a:solidFill>
            <a:prstDash val="solid"/>
          </a:ln>
        </p:spPr>
        <p:txBody>
          <a:bodyPr/>
          <a:lstStyle/>
          <a:p>
            <a:endParaRPr lang="en-US"/>
          </a:p>
        </p:txBody>
      </p:sp>
      <p:sp>
        <p:nvSpPr>
          <p:cNvPr id="12" name="Text 10"/>
          <p:cNvSpPr/>
          <p:nvPr/>
        </p:nvSpPr>
        <p:spPr>
          <a:xfrm>
            <a:off x="3273552" y="1371600"/>
            <a:ext cx="2560320" cy="411480"/>
          </a:xfrm>
          <a:prstGeom prst="rect">
            <a:avLst/>
          </a:prstGeom>
          <a:noFill/>
          <a:ln/>
        </p:spPr>
        <p:txBody>
          <a:bodyPr wrap="square" lIns="0" tIns="0" rIns="0" bIns="0" rtlCol="0" anchor="ctr"/>
          <a:lstStyle/>
          <a:p>
            <a:pPr marL="0" indent="0">
              <a:buNone/>
            </a:pPr>
            <a:r>
              <a:rPr lang="en-US" sz="1600" b="1" dirty="0">
                <a:solidFill>
                  <a:srgbClr val="0891B2"/>
                </a:solidFill>
              </a:rPr>
              <a:t>🛡️  Mitigate</a:t>
            </a:r>
            <a:endParaRPr lang="en-US" sz="1600" dirty="0"/>
          </a:p>
        </p:txBody>
      </p:sp>
      <p:sp>
        <p:nvSpPr>
          <p:cNvPr id="13" name="Text 11"/>
          <p:cNvSpPr/>
          <p:nvPr/>
        </p:nvSpPr>
        <p:spPr>
          <a:xfrm>
            <a:off x="3273552" y="1764792"/>
            <a:ext cx="2560320" cy="365760"/>
          </a:xfrm>
          <a:prstGeom prst="rect">
            <a:avLst/>
          </a:prstGeom>
          <a:noFill/>
          <a:ln/>
        </p:spPr>
        <p:txBody>
          <a:bodyPr wrap="square" lIns="0" tIns="0" rIns="0" bIns="0" rtlCol="0" anchor="ctr"/>
          <a:lstStyle/>
          <a:p>
            <a:pPr marL="0" indent="0">
              <a:buNone/>
            </a:pPr>
            <a:r>
              <a:rPr lang="en-US" sz="1000" dirty="0">
                <a:solidFill>
                  <a:srgbClr val="E2E8F0"/>
                </a:solidFill>
              </a:rPr>
              <a:t>Reduce likelihood or impact</a:t>
            </a:r>
            <a:endParaRPr lang="en-US" sz="1000" dirty="0"/>
          </a:p>
        </p:txBody>
      </p:sp>
      <p:sp>
        <p:nvSpPr>
          <p:cNvPr id="14" name="Text 12"/>
          <p:cNvSpPr/>
          <p:nvPr/>
        </p:nvSpPr>
        <p:spPr>
          <a:xfrm>
            <a:off x="3273552" y="2157984"/>
            <a:ext cx="2560320" cy="502920"/>
          </a:xfrm>
          <a:prstGeom prst="rect">
            <a:avLst/>
          </a:prstGeom>
          <a:noFill/>
          <a:ln/>
        </p:spPr>
        <p:txBody>
          <a:bodyPr wrap="square" lIns="0" tIns="0" rIns="0" bIns="0" rtlCol="0" anchor="ctr"/>
          <a:lstStyle/>
          <a:p>
            <a:pPr marL="0" indent="0">
              <a:buNone/>
            </a:pPr>
            <a:r>
              <a:rPr lang="en-US" sz="900" i="1" dirty="0">
                <a:solidFill>
                  <a:srgbClr val="94A3B8"/>
                </a:solidFill>
              </a:rPr>
              <a:t>WHEN: Controls can bring risk to acceptable level</a:t>
            </a:r>
            <a:endParaRPr lang="en-US" sz="900" dirty="0"/>
          </a:p>
        </p:txBody>
      </p:sp>
      <p:sp>
        <p:nvSpPr>
          <p:cNvPr id="15" name="Shape 13"/>
          <p:cNvSpPr/>
          <p:nvPr/>
        </p:nvSpPr>
        <p:spPr>
          <a:xfrm>
            <a:off x="6071616" y="1170432"/>
            <a:ext cx="2788920" cy="1737360"/>
          </a:xfrm>
          <a:prstGeom prst="rect">
            <a:avLst/>
          </a:prstGeom>
          <a:solidFill>
            <a:srgbClr val="132338"/>
          </a:solidFill>
          <a:ln w="19050">
            <a:solidFill>
              <a:srgbClr val="7C3AED"/>
            </a:solidFill>
            <a:prstDash val="solid"/>
          </a:ln>
          <a:effectLst>
            <a:outerShdw blurRad="127000" dist="38100" dir="8100000" algn="bl" rotWithShape="0">
              <a:srgbClr val="000000">
                <a:alpha val="20000"/>
              </a:srgbClr>
            </a:outerShdw>
          </a:effectLst>
        </p:spPr>
        <p:txBody>
          <a:bodyPr/>
          <a:lstStyle/>
          <a:p>
            <a:endParaRPr lang="en-US"/>
          </a:p>
        </p:txBody>
      </p:sp>
      <p:sp>
        <p:nvSpPr>
          <p:cNvPr id="16" name="Shape 14"/>
          <p:cNvSpPr/>
          <p:nvPr/>
        </p:nvSpPr>
        <p:spPr>
          <a:xfrm>
            <a:off x="6071616" y="1170432"/>
            <a:ext cx="2788920" cy="164592"/>
          </a:xfrm>
          <a:prstGeom prst="rect">
            <a:avLst/>
          </a:prstGeom>
          <a:solidFill>
            <a:srgbClr val="7C3AED"/>
          </a:solidFill>
          <a:ln w="12700">
            <a:solidFill>
              <a:srgbClr val="7C3AED"/>
            </a:solidFill>
            <a:prstDash val="solid"/>
          </a:ln>
        </p:spPr>
        <p:txBody>
          <a:bodyPr/>
          <a:lstStyle/>
          <a:p>
            <a:endParaRPr lang="en-US"/>
          </a:p>
        </p:txBody>
      </p:sp>
      <p:sp>
        <p:nvSpPr>
          <p:cNvPr id="17" name="Text 15"/>
          <p:cNvSpPr/>
          <p:nvPr/>
        </p:nvSpPr>
        <p:spPr>
          <a:xfrm>
            <a:off x="6181344" y="1371600"/>
            <a:ext cx="2560320" cy="411480"/>
          </a:xfrm>
          <a:prstGeom prst="rect">
            <a:avLst/>
          </a:prstGeom>
          <a:noFill/>
          <a:ln/>
        </p:spPr>
        <p:txBody>
          <a:bodyPr wrap="square" lIns="0" tIns="0" rIns="0" bIns="0" rtlCol="0" anchor="ctr"/>
          <a:lstStyle/>
          <a:p>
            <a:pPr marL="0" indent="0">
              <a:buNone/>
            </a:pPr>
            <a:r>
              <a:rPr lang="en-US" sz="1600" b="1" dirty="0">
                <a:solidFill>
                  <a:srgbClr val="7C3AED"/>
                </a:solidFill>
              </a:rPr>
              <a:t>🤝  Transfer</a:t>
            </a:r>
            <a:endParaRPr lang="en-US" sz="1600" dirty="0"/>
          </a:p>
        </p:txBody>
      </p:sp>
      <p:sp>
        <p:nvSpPr>
          <p:cNvPr id="18" name="Text 16"/>
          <p:cNvSpPr/>
          <p:nvPr/>
        </p:nvSpPr>
        <p:spPr>
          <a:xfrm>
            <a:off x="6181344" y="1764792"/>
            <a:ext cx="2560320" cy="365760"/>
          </a:xfrm>
          <a:prstGeom prst="rect">
            <a:avLst/>
          </a:prstGeom>
          <a:noFill/>
          <a:ln/>
        </p:spPr>
        <p:txBody>
          <a:bodyPr wrap="square" lIns="0" tIns="0" rIns="0" bIns="0" rtlCol="0" anchor="ctr"/>
          <a:lstStyle/>
          <a:p>
            <a:pPr marL="0" indent="0">
              <a:buNone/>
            </a:pPr>
            <a:r>
              <a:rPr lang="en-US" sz="1000" dirty="0">
                <a:solidFill>
                  <a:srgbClr val="E2E8F0"/>
                </a:solidFill>
              </a:rPr>
              <a:t>Shift risk to a third party</a:t>
            </a:r>
            <a:endParaRPr lang="en-US" sz="1000" dirty="0"/>
          </a:p>
        </p:txBody>
      </p:sp>
      <p:sp>
        <p:nvSpPr>
          <p:cNvPr id="19" name="Text 17"/>
          <p:cNvSpPr/>
          <p:nvPr/>
        </p:nvSpPr>
        <p:spPr>
          <a:xfrm>
            <a:off x="6181344" y="2157984"/>
            <a:ext cx="2560320" cy="502920"/>
          </a:xfrm>
          <a:prstGeom prst="rect">
            <a:avLst/>
          </a:prstGeom>
          <a:noFill/>
          <a:ln/>
        </p:spPr>
        <p:txBody>
          <a:bodyPr wrap="square" lIns="0" tIns="0" rIns="0" bIns="0" rtlCol="0" anchor="ctr"/>
          <a:lstStyle/>
          <a:p>
            <a:pPr marL="0" indent="0">
              <a:buNone/>
            </a:pPr>
            <a:r>
              <a:rPr lang="en-US" sz="900" i="1" dirty="0">
                <a:solidFill>
                  <a:srgbClr val="94A3B8"/>
                </a:solidFill>
              </a:rPr>
              <a:t>WHEN: Cost of transfer &lt; cost of impact</a:t>
            </a:r>
            <a:endParaRPr lang="en-US" sz="900" dirty="0"/>
          </a:p>
        </p:txBody>
      </p:sp>
      <p:sp>
        <p:nvSpPr>
          <p:cNvPr id="20" name="Shape 18"/>
          <p:cNvSpPr/>
          <p:nvPr/>
        </p:nvSpPr>
        <p:spPr>
          <a:xfrm>
            <a:off x="256032" y="3090672"/>
            <a:ext cx="2788920" cy="1737360"/>
          </a:xfrm>
          <a:prstGeom prst="rect">
            <a:avLst/>
          </a:prstGeom>
          <a:solidFill>
            <a:srgbClr val="132338"/>
          </a:solidFill>
          <a:ln w="19050">
            <a:solidFill>
              <a:srgbClr val="059669"/>
            </a:solidFill>
            <a:prstDash val="solid"/>
          </a:ln>
          <a:effectLst>
            <a:outerShdw blurRad="127000" dist="38100" dir="8100000" algn="bl" rotWithShape="0">
              <a:srgbClr val="000000">
                <a:alpha val="20000"/>
              </a:srgbClr>
            </a:outerShdw>
          </a:effectLst>
        </p:spPr>
        <p:txBody>
          <a:bodyPr/>
          <a:lstStyle/>
          <a:p>
            <a:endParaRPr lang="en-US"/>
          </a:p>
        </p:txBody>
      </p:sp>
      <p:sp>
        <p:nvSpPr>
          <p:cNvPr id="21" name="Shape 19"/>
          <p:cNvSpPr/>
          <p:nvPr/>
        </p:nvSpPr>
        <p:spPr>
          <a:xfrm>
            <a:off x="256032" y="3090672"/>
            <a:ext cx="2788920" cy="164592"/>
          </a:xfrm>
          <a:prstGeom prst="rect">
            <a:avLst/>
          </a:prstGeom>
          <a:solidFill>
            <a:srgbClr val="059669"/>
          </a:solidFill>
          <a:ln w="12700">
            <a:solidFill>
              <a:srgbClr val="059669"/>
            </a:solidFill>
            <a:prstDash val="solid"/>
          </a:ln>
        </p:spPr>
        <p:txBody>
          <a:bodyPr/>
          <a:lstStyle/>
          <a:p>
            <a:endParaRPr lang="en-US"/>
          </a:p>
        </p:txBody>
      </p:sp>
      <p:sp>
        <p:nvSpPr>
          <p:cNvPr id="22" name="Text 20"/>
          <p:cNvSpPr/>
          <p:nvPr/>
        </p:nvSpPr>
        <p:spPr>
          <a:xfrm>
            <a:off x="365760" y="3291840"/>
            <a:ext cx="2560320" cy="411480"/>
          </a:xfrm>
          <a:prstGeom prst="rect">
            <a:avLst/>
          </a:prstGeom>
          <a:noFill/>
          <a:ln/>
        </p:spPr>
        <p:txBody>
          <a:bodyPr wrap="square" lIns="0" tIns="0" rIns="0" bIns="0" rtlCol="0" anchor="ctr"/>
          <a:lstStyle/>
          <a:p>
            <a:pPr marL="0" indent="0">
              <a:buNone/>
            </a:pPr>
            <a:r>
              <a:rPr lang="en-US" sz="1600" b="1" dirty="0">
                <a:solidFill>
                  <a:srgbClr val="059669"/>
                </a:solidFill>
              </a:rPr>
              <a:t>✅  Accept</a:t>
            </a:r>
            <a:endParaRPr lang="en-US" sz="1600" dirty="0"/>
          </a:p>
        </p:txBody>
      </p:sp>
      <p:sp>
        <p:nvSpPr>
          <p:cNvPr id="23" name="Text 21"/>
          <p:cNvSpPr/>
          <p:nvPr/>
        </p:nvSpPr>
        <p:spPr>
          <a:xfrm>
            <a:off x="365760" y="3685032"/>
            <a:ext cx="2560320" cy="365760"/>
          </a:xfrm>
          <a:prstGeom prst="rect">
            <a:avLst/>
          </a:prstGeom>
          <a:noFill/>
          <a:ln/>
        </p:spPr>
        <p:txBody>
          <a:bodyPr wrap="square" lIns="0" tIns="0" rIns="0" bIns="0" rtlCol="0" anchor="ctr"/>
          <a:lstStyle/>
          <a:p>
            <a:pPr marL="0" indent="0">
              <a:buNone/>
            </a:pPr>
            <a:r>
              <a:rPr lang="en-US" sz="1000" dirty="0">
                <a:solidFill>
                  <a:srgbClr val="E2E8F0"/>
                </a:solidFill>
              </a:rPr>
              <a:t>Consciously live with the risk</a:t>
            </a:r>
            <a:endParaRPr lang="en-US" sz="1000" dirty="0"/>
          </a:p>
        </p:txBody>
      </p:sp>
      <p:sp>
        <p:nvSpPr>
          <p:cNvPr id="24" name="Text 22"/>
          <p:cNvSpPr/>
          <p:nvPr/>
        </p:nvSpPr>
        <p:spPr>
          <a:xfrm>
            <a:off x="365760" y="4078224"/>
            <a:ext cx="2560320" cy="502920"/>
          </a:xfrm>
          <a:prstGeom prst="rect">
            <a:avLst/>
          </a:prstGeom>
          <a:noFill/>
          <a:ln/>
        </p:spPr>
        <p:txBody>
          <a:bodyPr wrap="square" lIns="0" tIns="0" rIns="0" bIns="0" rtlCol="0" anchor="ctr"/>
          <a:lstStyle/>
          <a:p>
            <a:pPr marL="0" indent="0">
              <a:buNone/>
            </a:pPr>
            <a:r>
              <a:rPr lang="en-US" sz="900" i="1" dirty="0">
                <a:solidFill>
                  <a:srgbClr val="94A3B8"/>
                </a:solidFill>
              </a:rPr>
              <a:t>WHEN: Cost of action &gt; cost of risk</a:t>
            </a:r>
            <a:endParaRPr lang="en-US" sz="900" dirty="0"/>
          </a:p>
        </p:txBody>
      </p:sp>
      <p:sp>
        <p:nvSpPr>
          <p:cNvPr id="25" name="Shape 23"/>
          <p:cNvSpPr/>
          <p:nvPr/>
        </p:nvSpPr>
        <p:spPr>
          <a:xfrm>
            <a:off x="3163824" y="3090672"/>
            <a:ext cx="2788920" cy="1737360"/>
          </a:xfrm>
          <a:prstGeom prst="rect">
            <a:avLst/>
          </a:prstGeom>
          <a:solidFill>
            <a:srgbClr val="132338"/>
          </a:solidFill>
          <a:ln w="19050">
            <a:solidFill>
              <a:srgbClr val="D97706"/>
            </a:solidFill>
            <a:prstDash val="solid"/>
          </a:ln>
          <a:effectLst>
            <a:outerShdw blurRad="127000" dist="38100" dir="8100000" algn="bl" rotWithShape="0">
              <a:srgbClr val="000000">
                <a:alpha val="20000"/>
              </a:srgbClr>
            </a:outerShdw>
          </a:effectLst>
        </p:spPr>
        <p:txBody>
          <a:bodyPr/>
          <a:lstStyle/>
          <a:p>
            <a:endParaRPr lang="en-US"/>
          </a:p>
        </p:txBody>
      </p:sp>
      <p:sp>
        <p:nvSpPr>
          <p:cNvPr id="26" name="Shape 24"/>
          <p:cNvSpPr/>
          <p:nvPr/>
        </p:nvSpPr>
        <p:spPr>
          <a:xfrm>
            <a:off x="3163824" y="3090672"/>
            <a:ext cx="2788920" cy="164592"/>
          </a:xfrm>
          <a:prstGeom prst="rect">
            <a:avLst/>
          </a:prstGeom>
          <a:solidFill>
            <a:srgbClr val="D97706"/>
          </a:solidFill>
          <a:ln w="12700">
            <a:solidFill>
              <a:srgbClr val="D97706"/>
            </a:solidFill>
            <a:prstDash val="solid"/>
          </a:ln>
        </p:spPr>
        <p:txBody>
          <a:bodyPr/>
          <a:lstStyle/>
          <a:p>
            <a:endParaRPr lang="en-US"/>
          </a:p>
        </p:txBody>
      </p:sp>
      <p:sp>
        <p:nvSpPr>
          <p:cNvPr id="27" name="Text 25"/>
          <p:cNvSpPr/>
          <p:nvPr/>
        </p:nvSpPr>
        <p:spPr>
          <a:xfrm>
            <a:off x="3273552" y="3291840"/>
            <a:ext cx="2560320" cy="411480"/>
          </a:xfrm>
          <a:prstGeom prst="rect">
            <a:avLst/>
          </a:prstGeom>
          <a:noFill/>
          <a:ln/>
        </p:spPr>
        <p:txBody>
          <a:bodyPr wrap="square" lIns="0" tIns="0" rIns="0" bIns="0" rtlCol="0" anchor="ctr"/>
          <a:lstStyle/>
          <a:p>
            <a:pPr marL="0" indent="0">
              <a:buNone/>
            </a:pPr>
            <a:r>
              <a:rPr lang="en-US" sz="1600" b="1" dirty="0">
                <a:solidFill>
                  <a:srgbClr val="D97706"/>
                </a:solidFill>
              </a:rPr>
              <a:t>🚀  Exploit</a:t>
            </a:r>
            <a:endParaRPr lang="en-US" sz="1600" dirty="0"/>
          </a:p>
        </p:txBody>
      </p:sp>
      <p:sp>
        <p:nvSpPr>
          <p:cNvPr id="28" name="Text 26"/>
          <p:cNvSpPr/>
          <p:nvPr/>
        </p:nvSpPr>
        <p:spPr>
          <a:xfrm>
            <a:off x="3273552" y="3685032"/>
            <a:ext cx="2560320" cy="365760"/>
          </a:xfrm>
          <a:prstGeom prst="rect">
            <a:avLst/>
          </a:prstGeom>
          <a:noFill/>
          <a:ln/>
        </p:spPr>
        <p:txBody>
          <a:bodyPr wrap="square" lIns="0" tIns="0" rIns="0" bIns="0" rtlCol="0" anchor="ctr"/>
          <a:lstStyle/>
          <a:p>
            <a:pPr marL="0" indent="0">
              <a:buNone/>
            </a:pPr>
            <a:r>
              <a:rPr lang="en-US" sz="1000" dirty="0">
                <a:solidFill>
                  <a:srgbClr val="E2E8F0"/>
                </a:solidFill>
              </a:rPr>
              <a:t>Turn risk into opportunity</a:t>
            </a:r>
            <a:endParaRPr lang="en-US" sz="1000" dirty="0"/>
          </a:p>
        </p:txBody>
      </p:sp>
      <p:sp>
        <p:nvSpPr>
          <p:cNvPr id="29" name="Text 27"/>
          <p:cNvSpPr/>
          <p:nvPr/>
        </p:nvSpPr>
        <p:spPr>
          <a:xfrm>
            <a:off x="3273552" y="4078224"/>
            <a:ext cx="2560320" cy="502920"/>
          </a:xfrm>
          <a:prstGeom prst="rect">
            <a:avLst/>
          </a:prstGeom>
          <a:noFill/>
          <a:ln/>
        </p:spPr>
        <p:txBody>
          <a:bodyPr wrap="square" lIns="0" tIns="0" rIns="0" bIns="0" rtlCol="0" anchor="ctr"/>
          <a:lstStyle/>
          <a:p>
            <a:pPr marL="0" indent="0">
              <a:buNone/>
            </a:pPr>
            <a:r>
              <a:rPr lang="en-US" sz="900" i="1" dirty="0">
                <a:solidFill>
                  <a:srgbClr val="94A3B8"/>
                </a:solidFill>
              </a:rPr>
              <a:t>WHEN: Positive risk (opportunity) exists</a:t>
            </a:r>
            <a:endParaRPr lang="en-US" sz="900" dirty="0"/>
          </a:p>
        </p:txBody>
      </p:sp>
      <p:sp>
        <p:nvSpPr>
          <p:cNvPr id="30" name="Shape 28"/>
          <p:cNvSpPr/>
          <p:nvPr/>
        </p:nvSpPr>
        <p:spPr>
          <a:xfrm>
            <a:off x="6071616" y="3090672"/>
            <a:ext cx="2788920" cy="1737360"/>
          </a:xfrm>
          <a:prstGeom prst="rect">
            <a:avLst/>
          </a:prstGeom>
          <a:solidFill>
            <a:srgbClr val="132338"/>
          </a:solidFill>
          <a:ln w="19050">
            <a:solidFill>
              <a:srgbClr val="DB2777"/>
            </a:solidFill>
            <a:prstDash val="solid"/>
          </a:ln>
          <a:effectLst>
            <a:outerShdw blurRad="127000" dist="38100" dir="8100000" algn="bl" rotWithShape="0">
              <a:srgbClr val="000000">
                <a:alpha val="20000"/>
              </a:srgbClr>
            </a:outerShdw>
          </a:effectLst>
        </p:spPr>
        <p:txBody>
          <a:bodyPr/>
          <a:lstStyle/>
          <a:p>
            <a:endParaRPr lang="en-US"/>
          </a:p>
        </p:txBody>
      </p:sp>
      <p:sp>
        <p:nvSpPr>
          <p:cNvPr id="31" name="Shape 29"/>
          <p:cNvSpPr/>
          <p:nvPr/>
        </p:nvSpPr>
        <p:spPr>
          <a:xfrm>
            <a:off x="6071616" y="3090672"/>
            <a:ext cx="2788920" cy="164592"/>
          </a:xfrm>
          <a:prstGeom prst="rect">
            <a:avLst/>
          </a:prstGeom>
          <a:solidFill>
            <a:srgbClr val="DB2777"/>
          </a:solidFill>
          <a:ln w="12700">
            <a:solidFill>
              <a:srgbClr val="DB2777"/>
            </a:solidFill>
            <a:prstDash val="solid"/>
          </a:ln>
        </p:spPr>
        <p:txBody>
          <a:bodyPr/>
          <a:lstStyle/>
          <a:p>
            <a:endParaRPr lang="en-US"/>
          </a:p>
        </p:txBody>
      </p:sp>
      <p:sp>
        <p:nvSpPr>
          <p:cNvPr id="32" name="Text 30"/>
          <p:cNvSpPr/>
          <p:nvPr/>
        </p:nvSpPr>
        <p:spPr>
          <a:xfrm>
            <a:off x="6181344" y="3291840"/>
            <a:ext cx="2560320" cy="411480"/>
          </a:xfrm>
          <a:prstGeom prst="rect">
            <a:avLst/>
          </a:prstGeom>
          <a:noFill/>
          <a:ln/>
        </p:spPr>
        <p:txBody>
          <a:bodyPr wrap="square" lIns="0" tIns="0" rIns="0" bIns="0" rtlCol="0" anchor="ctr"/>
          <a:lstStyle/>
          <a:p>
            <a:pPr marL="0" indent="0">
              <a:buNone/>
            </a:pPr>
            <a:r>
              <a:rPr lang="en-US" sz="1600" b="1" dirty="0">
                <a:solidFill>
                  <a:srgbClr val="DB2777"/>
                </a:solidFill>
              </a:rPr>
              <a:t>📣  Escalate</a:t>
            </a:r>
            <a:endParaRPr lang="en-US" sz="1600" dirty="0"/>
          </a:p>
        </p:txBody>
      </p:sp>
      <p:sp>
        <p:nvSpPr>
          <p:cNvPr id="33" name="Text 31"/>
          <p:cNvSpPr/>
          <p:nvPr/>
        </p:nvSpPr>
        <p:spPr>
          <a:xfrm>
            <a:off x="6181344" y="3685032"/>
            <a:ext cx="2560320" cy="365760"/>
          </a:xfrm>
          <a:prstGeom prst="rect">
            <a:avLst/>
          </a:prstGeom>
          <a:noFill/>
          <a:ln/>
        </p:spPr>
        <p:txBody>
          <a:bodyPr wrap="square" lIns="0" tIns="0" rIns="0" bIns="0" rtlCol="0" anchor="ctr"/>
          <a:lstStyle/>
          <a:p>
            <a:pPr marL="0" indent="0">
              <a:buNone/>
            </a:pPr>
            <a:r>
              <a:rPr lang="en-US" sz="1000" dirty="0">
                <a:solidFill>
                  <a:srgbClr val="E2E8F0"/>
                </a:solidFill>
              </a:rPr>
              <a:t>Pass to someone with authority</a:t>
            </a:r>
            <a:endParaRPr lang="en-US" sz="1000" dirty="0"/>
          </a:p>
        </p:txBody>
      </p:sp>
      <p:sp>
        <p:nvSpPr>
          <p:cNvPr id="34" name="Text 32"/>
          <p:cNvSpPr/>
          <p:nvPr/>
        </p:nvSpPr>
        <p:spPr>
          <a:xfrm>
            <a:off x="6181344" y="4078224"/>
            <a:ext cx="2560320" cy="502920"/>
          </a:xfrm>
          <a:prstGeom prst="rect">
            <a:avLst/>
          </a:prstGeom>
          <a:noFill/>
          <a:ln/>
        </p:spPr>
        <p:txBody>
          <a:bodyPr wrap="square" lIns="0" tIns="0" rIns="0" bIns="0" rtlCol="0" anchor="ctr"/>
          <a:lstStyle/>
          <a:p>
            <a:pPr marL="0" indent="0">
              <a:buNone/>
            </a:pPr>
            <a:r>
              <a:rPr lang="en-US" sz="900" i="1" dirty="0">
                <a:solidFill>
                  <a:srgbClr val="94A3B8"/>
                </a:solidFill>
              </a:rPr>
              <a:t>WHEN: Risk is outside your scope/power</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DC2626"/>
          </a:solidFill>
          <a:ln w="12700">
            <a:solidFill>
              <a:srgbClr val="DC2626"/>
            </a:solidFill>
            <a:prstDash val="solid"/>
          </a:ln>
        </p:spPr>
        <p:txBody>
          <a:bodyPr/>
          <a:lstStyle/>
          <a:p>
            <a:endParaRPr lang="en-US"/>
          </a:p>
        </p:txBody>
      </p:sp>
      <p:sp>
        <p:nvSpPr>
          <p:cNvPr id="3" name="Text 1"/>
          <p:cNvSpPr/>
          <p:nvPr/>
        </p:nvSpPr>
        <p:spPr>
          <a:xfrm>
            <a:off x="365760" y="36576"/>
            <a:ext cx="2743200" cy="411480"/>
          </a:xfrm>
          <a:prstGeom prst="rect">
            <a:avLst/>
          </a:prstGeom>
          <a:noFill/>
          <a:ln/>
        </p:spPr>
        <p:txBody>
          <a:bodyPr wrap="square" lIns="0" tIns="0" rIns="0" bIns="0" rtlCol="0" anchor="ctr"/>
          <a:lstStyle/>
          <a:p>
            <a:pPr marL="0" indent="0">
              <a:buNone/>
            </a:pPr>
            <a:r>
              <a:rPr lang="en-US" sz="2200" b="1" kern="0" spc="400" dirty="0">
                <a:solidFill>
                  <a:srgbClr val="FFFFFF"/>
                </a:solidFill>
              </a:rPr>
              <a:t>🚫  AVOID</a:t>
            </a:r>
            <a:endParaRPr lang="en-US" sz="2200" dirty="0"/>
          </a:p>
        </p:txBody>
      </p:sp>
      <p:sp>
        <p:nvSpPr>
          <p:cNvPr id="4" name="Text 2"/>
          <p:cNvSpPr/>
          <p:nvPr/>
        </p:nvSpPr>
        <p:spPr>
          <a:xfrm>
            <a:off x="365760" y="457200"/>
            <a:ext cx="2743200" cy="347472"/>
          </a:xfrm>
          <a:prstGeom prst="rect">
            <a:avLst/>
          </a:prstGeom>
          <a:noFill/>
          <a:ln/>
        </p:spPr>
        <p:txBody>
          <a:bodyPr wrap="square" lIns="0" tIns="0" rIns="0" bIns="0" rtlCol="0" anchor="ctr"/>
          <a:lstStyle/>
          <a:p>
            <a:pPr marL="0" indent="0">
              <a:buNone/>
            </a:pPr>
            <a:r>
              <a:rPr lang="en-US" sz="1100" dirty="0">
                <a:solidFill>
                  <a:srgbClr val="FECACA"/>
                </a:solidFill>
              </a:rPr>
              <a:t>Strategy 1 of 6</a:t>
            </a:r>
            <a:endParaRPr lang="en-US" sz="1100" dirty="0"/>
          </a:p>
        </p:txBody>
      </p:sp>
      <p:sp>
        <p:nvSpPr>
          <p:cNvPr id="5" name="Text 3"/>
          <p:cNvSpPr/>
          <p:nvPr/>
        </p:nvSpPr>
        <p:spPr>
          <a:xfrm>
            <a:off x="3200400" y="164592"/>
            <a:ext cx="5577840" cy="502920"/>
          </a:xfrm>
          <a:prstGeom prst="rect">
            <a:avLst/>
          </a:prstGeom>
          <a:noFill/>
          <a:ln/>
        </p:spPr>
        <p:txBody>
          <a:bodyPr wrap="square" lIns="0" tIns="0" rIns="0" bIns="0" rtlCol="0" anchor="ctr"/>
          <a:lstStyle/>
          <a:p>
            <a:pPr marL="0" indent="0" algn="r">
              <a:buNone/>
            </a:pPr>
            <a:r>
              <a:rPr lang="en-US" sz="1500" i="1" dirty="0">
                <a:solidFill>
                  <a:srgbClr val="FFFFFF"/>
                </a:solidFill>
              </a:rPr>
              <a:t>Eliminate the source of the risk entirely</a:t>
            </a:r>
            <a:endParaRPr lang="en-US" sz="1500" dirty="0"/>
          </a:p>
        </p:txBody>
      </p:sp>
      <p:sp>
        <p:nvSpPr>
          <p:cNvPr id="6" name="Shape 4"/>
          <p:cNvSpPr/>
          <p:nvPr/>
        </p:nvSpPr>
        <p:spPr>
          <a:xfrm>
            <a:off x="274320" y="1005840"/>
            <a:ext cx="8595360" cy="822960"/>
          </a:xfrm>
          <a:prstGeom prst="rect">
            <a:avLst/>
          </a:prstGeom>
          <a:solidFill>
            <a:srgbClr val="132338"/>
          </a:solidFill>
          <a:ln w="12700">
            <a:solidFill>
              <a:srgbClr val="DC2626"/>
            </a:solidFill>
            <a:prstDash val="solid"/>
          </a:ln>
        </p:spPr>
        <p:txBody>
          <a:bodyPr/>
          <a:lstStyle/>
          <a:p>
            <a:endParaRPr lang="en-US"/>
          </a:p>
        </p:txBody>
      </p:sp>
      <p:sp>
        <p:nvSpPr>
          <p:cNvPr id="7" name="Text 5"/>
          <p:cNvSpPr/>
          <p:nvPr/>
        </p:nvSpPr>
        <p:spPr>
          <a:xfrm>
            <a:off x="457200" y="1051560"/>
            <a:ext cx="1828800" cy="274320"/>
          </a:xfrm>
          <a:prstGeom prst="rect">
            <a:avLst/>
          </a:prstGeom>
          <a:noFill/>
          <a:ln/>
        </p:spPr>
        <p:txBody>
          <a:bodyPr wrap="square" lIns="0" tIns="0" rIns="0" bIns="0" rtlCol="0" anchor="ctr"/>
          <a:lstStyle/>
          <a:p>
            <a:pPr marL="0" indent="0">
              <a:buNone/>
            </a:pPr>
            <a:r>
              <a:rPr lang="en-US" sz="1000" b="1" dirty="0">
                <a:solidFill>
                  <a:srgbClr val="DC2626"/>
                </a:solidFill>
              </a:rPr>
              <a:t>What it means:</a:t>
            </a:r>
            <a:endParaRPr lang="en-US" sz="1000" dirty="0"/>
          </a:p>
        </p:txBody>
      </p:sp>
      <p:sp>
        <p:nvSpPr>
          <p:cNvPr id="8" name="Text 6"/>
          <p:cNvSpPr/>
          <p:nvPr/>
        </p:nvSpPr>
        <p:spPr>
          <a:xfrm>
            <a:off x="457200" y="1298448"/>
            <a:ext cx="8229600" cy="411480"/>
          </a:xfrm>
          <a:prstGeom prst="rect">
            <a:avLst/>
          </a:prstGeom>
          <a:noFill/>
          <a:ln/>
        </p:spPr>
        <p:txBody>
          <a:bodyPr wrap="square" lIns="0" tIns="0" rIns="0" bIns="0" rtlCol="0" anchor="ctr"/>
          <a:lstStyle/>
          <a:p>
            <a:pPr marL="0" indent="0">
              <a:buNone/>
            </a:pPr>
            <a:r>
              <a:rPr lang="en-US" sz="1100" dirty="0">
                <a:solidFill>
                  <a:srgbClr val="E2E8F0"/>
                </a:solidFill>
              </a:rPr>
              <a:t>You stop doing the activity that creates the risk. No activity = no risk. This is the most decisive response — you don't manage the risk, you eliminate the conditions that create it.</a:t>
            </a:r>
            <a:endParaRPr lang="en-US" sz="1100" dirty="0"/>
          </a:p>
        </p:txBody>
      </p:sp>
      <p:sp>
        <p:nvSpPr>
          <p:cNvPr id="9" name="Text 7"/>
          <p:cNvSpPr/>
          <p:nvPr/>
        </p:nvSpPr>
        <p:spPr>
          <a:xfrm>
            <a:off x="274320" y="1965960"/>
            <a:ext cx="4114800" cy="274320"/>
          </a:xfrm>
          <a:prstGeom prst="rect">
            <a:avLst/>
          </a:prstGeom>
          <a:noFill/>
          <a:ln/>
        </p:spPr>
        <p:txBody>
          <a:bodyPr wrap="square" lIns="0" tIns="0" rIns="0" bIns="0" rtlCol="0" anchor="ctr"/>
          <a:lstStyle/>
          <a:p>
            <a:pPr marL="0" indent="0">
              <a:buNone/>
            </a:pPr>
            <a:r>
              <a:rPr lang="en-US" sz="900" b="1" kern="0" spc="300" dirty="0">
                <a:solidFill>
                  <a:srgbClr val="DC2626"/>
                </a:solidFill>
              </a:rPr>
              <a:t>REAL EXAMPLES</a:t>
            </a:r>
            <a:endParaRPr lang="en-US" sz="900" dirty="0"/>
          </a:p>
        </p:txBody>
      </p:sp>
      <p:sp>
        <p:nvSpPr>
          <p:cNvPr id="10" name="Shape 8"/>
          <p:cNvSpPr/>
          <p:nvPr/>
        </p:nvSpPr>
        <p:spPr>
          <a:xfrm>
            <a:off x="274320" y="2304288"/>
            <a:ext cx="64008" cy="320040"/>
          </a:xfrm>
          <a:prstGeom prst="rect">
            <a:avLst/>
          </a:prstGeom>
          <a:solidFill>
            <a:srgbClr val="DC2626"/>
          </a:solidFill>
          <a:ln w="12700">
            <a:solidFill>
              <a:srgbClr val="DC2626"/>
            </a:solidFill>
            <a:prstDash val="solid"/>
          </a:ln>
        </p:spPr>
        <p:txBody>
          <a:bodyPr/>
          <a:lstStyle/>
          <a:p>
            <a:endParaRPr lang="en-US"/>
          </a:p>
        </p:txBody>
      </p:sp>
      <p:sp>
        <p:nvSpPr>
          <p:cNvPr id="11" name="Text 9"/>
          <p:cNvSpPr/>
          <p:nvPr/>
        </p:nvSpPr>
        <p:spPr>
          <a:xfrm>
            <a:off x="438912" y="2304288"/>
            <a:ext cx="3931920" cy="347472"/>
          </a:xfrm>
          <a:prstGeom prst="rect">
            <a:avLst/>
          </a:prstGeom>
          <a:noFill/>
          <a:ln/>
        </p:spPr>
        <p:txBody>
          <a:bodyPr wrap="square" lIns="0" tIns="0" rIns="0" bIns="0" rtlCol="0" anchor="ctr"/>
          <a:lstStyle/>
          <a:p>
            <a:pPr marL="0" indent="0">
              <a:buNone/>
            </a:pPr>
            <a:r>
              <a:rPr lang="en-US" sz="1000" dirty="0">
                <a:solidFill>
                  <a:srgbClr val="CBD5E1"/>
                </a:solidFill>
              </a:rPr>
              <a:t>Shutting down an insecure legacy system instead of patching it</a:t>
            </a:r>
            <a:endParaRPr lang="en-US" sz="1000" dirty="0"/>
          </a:p>
        </p:txBody>
      </p:sp>
      <p:sp>
        <p:nvSpPr>
          <p:cNvPr id="12" name="Shape 10"/>
          <p:cNvSpPr/>
          <p:nvPr/>
        </p:nvSpPr>
        <p:spPr>
          <a:xfrm>
            <a:off x="274320" y="2807208"/>
            <a:ext cx="64008" cy="320040"/>
          </a:xfrm>
          <a:prstGeom prst="rect">
            <a:avLst/>
          </a:prstGeom>
          <a:solidFill>
            <a:srgbClr val="DC2626"/>
          </a:solidFill>
          <a:ln w="12700">
            <a:solidFill>
              <a:srgbClr val="DC2626"/>
            </a:solidFill>
            <a:prstDash val="solid"/>
          </a:ln>
        </p:spPr>
        <p:txBody>
          <a:bodyPr/>
          <a:lstStyle/>
          <a:p>
            <a:endParaRPr lang="en-US"/>
          </a:p>
        </p:txBody>
      </p:sp>
      <p:sp>
        <p:nvSpPr>
          <p:cNvPr id="13" name="Text 11"/>
          <p:cNvSpPr/>
          <p:nvPr/>
        </p:nvSpPr>
        <p:spPr>
          <a:xfrm>
            <a:off x="438912" y="2807208"/>
            <a:ext cx="3931920" cy="347472"/>
          </a:xfrm>
          <a:prstGeom prst="rect">
            <a:avLst/>
          </a:prstGeom>
          <a:noFill/>
          <a:ln/>
        </p:spPr>
        <p:txBody>
          <a:bodyPr wrap="square" lIns="0" tIns="0" rIns="0" bIns="0" rtlCol="0" anchor="ctr"/>
          <a:lstStyle/>
          <a:p>
            <a:pPr marL="0" indent="0">
              <a:buNone/>
            </a:pPr>
            <a:r>
              <a:rPr lang="en-US" sz="1000" dirty="0">
                <a:solidFill>
                  <a:srgbClr val="CBD5E1"/>
                </a:solidFill>
              </a:rPr>
              <a:t>Not collecting user data you don't strictly need (no data = no breach risk)</a:t>
            </a:r>
            <a:endParaRPr lang="en-US" sz="1000" dirty="0"/>
          </a:p>
        </p:txBody>
      </p:sp>
      <p:sp>
        <p:nvSpPr>
          <p:cNvPr id="14" name="Shape 12"/>
          <p:cNvSpPr/>
          <p:nvPr/>
        </p:nvSpPr>
        <p:spPr>
          <a:xfrm>
            <a:off x="274320" y="3310128"/>
            <a:ext cx="64008" cy="320040"/>
          </a:xfrm>
          <a:prstGeom prst="rect">
            <a:avLst/>
          </a:prstGeom>
          <a:solidFill>
            <a:srgbClr val="DC2626"/>
          </a:solidFill>
          <a:ln w="12700">
            <a:solidFill>
              <a:srgbClr val="DC2626"/>
            </a:solidFill>
            <a:prstDash val="solid"/>
          </a:ln>
        </p:spPr>
        <p:txBody>
          <a:bodyPr/>
          <a:lstStyle/>
          <a:p>
            <a:endParaRPr lang="en-US"/>
          </a:p>
        </p:txBody>
      </p:sp>
      <p:sp>
        <p:nvSpPr>
          <p:cNvPr id="15" name="Text 13"/>
          <p:cNvSpPr/>
          <p:nvPr/>
        </p:nvSpPr>
        <p:spPr>
          <a:xfrm>
            <a:off x="438912" y="3310128"/>
            <a:ext cx="3931920" cy="347472"/>
          </a:xfrm>
          <a:prstGeom prst="rect">
            <a:avLst/>
          </a:prstGeom>
          <a:noFill/>
          <a:ln/>
        </p:spPr>
        <p:txBody>
          <a:bodyPr wrap="square" lIns="0" tIns="0" rIns="0" bIns="0" rtlCol="0" anchor="ctr"/>
          <a:lstStyle/>
          <a:p>
            <a:pPr marL="0" indent="0">
              <a:buNone/>
            </a:pPr>
            <a:r>
              <a:rPr lang="en-US" sz="1000" dirty="0">
                <a:solidFill>
                  <a:srgbClr val="CBD5E1"/>
                </a:solidFill>
              </a:rPr>
              <a:t>Cancelling a vendor contract after discovering they can't meet security standards</a:t>
            </a:r>
            <a:endParaRPr lang="en-US" sz="1000" dirty="0"/>
          </a:p>
        </p:txBody>
      </p:sp>
      <p:sp>
        <p:nvSpPr>
          <p:cNvPr id="16" name="Shape 14"/>
          <p:cNvSpPr/>
          <p:nvPr/>
        </p:nvSpPr>
        <p:spPr>
          <a:xfrm>
            <a:off x="274320" y="3813048"/>
            <a:ext cx="64008" cy="320040"/>
          </a:xfrm>
          <a:prstGeom prst="rect">
            <a:avLst/>
          </a:prstGeom>
          <a:solidFill>
            <a:srgbClr val="DC2626"/>
          </a:solidFill>
          <a:ln w="12700">
            <a:solidFill>
              <a:srgbClr val="DC2626"/>
            </a:solidFill>
            <a:prstDash val="solid"/>
          </a:ln>
        </p:spPr>
        <p:txBody>
          <a:bodyPr/>
          <a:lstStyle/>
          <a:p>
            <a:endParaRPr lang="en-US"/>
          </a:p>
        </p:txBody>
      </p:sp>
      <p:sp>
        <p:nvSpPr>
          <p:cNvPr id="17" name="Text 15"/>
          <p:cNvSpPr/>
          <p:nvPr/>
        </p:nvSpPr>
        <p:spPr>
          <a:xfrm>
            <a:off x="438912" y="3813048"/>
            <a:ext cx="3931920" cy="347472"/>
          </a:xfrm>
          <a:prstGeom prst="rect">
            <a:avLst/>
          </a:prstGeom>
          <a:noFill/>
          <a:ln/>
        </p:spPr>
        <p:txBody>
          <a:bodyPr wrap="square" lIns="0" tIns="0" rIns="0" bIns="0" rtlCol="0" anchor="ctr"/>
          <a:lstStyle/>
          <a:p>
            <a:pPr marL="0" indent="0">
              <a:buNone/>
            </a:pPr>
            <a:r>
              <a:rPr lang="en-US" sz="1000" dirty="0">
                <a:solidFill>
                  <a:srgbClr val="CBD5E1"/>
                </a:solidFill>
              </a:rPr>
              <a:t>Stopping use of an unencrypted communication channel</a:t>
            </a:r>
            <a:endParaRPr lang="en-US" sz="1000" dirty="0"/>
          </a:p>
        </p:txBody>
      </p:sp>
      <p:sp>
        <p:nvSpPr>
          <p:cNvPr id="18" name="Text 16"/>
          <p:cNvSpPr/>
          <p:nvPr/>
        </p:nvSpPr>
        <p:spPr>
          <a:xfrm>
            <a:off x="4663440" y="1965960"/>
            <a:ext cx="4206240" cy="274320"/>
          </a:xfrm>
          <a:prstGeom prst="rect">
            <a:avLst/>
          </a:prstGeom>
          <a:noFill/>
          <a:ln/>
        </p:spPr>
        <p:txBody>
          <a:bodyPr wrap="square" lIns="0" tIns="0" rIns="0" bIns="0" rtlCol="0" anchor="ctr"/>
          <a:lstStyle/>
          <a:p>
            <a:pPr marL="0" indent="0">
              <a:buNone/>
            </a:pPr>
            <a:r>
              <a:rPr lang="en-US" sz="900" b="1" kern="0" spc="300" dirty="0">
                <a:solidFill>
                  <a:srgbClr val="DC2626"/>
                </a:solidFill>
              </a:rPr>
              <a:t>WHEN TO USE / WATCH OUT</a:t>
            </a:r>
            <a:endParaRPr lang="en-US" sz="900" dirty="0"/>
          </a:p>
        </p:txBody>
      </p:sp>
      <p:sp>
        <p:nvSpPr>
          <p:cNvPr id="19" name="Shape 17"/>
          <p:cNvSpPr/>
          <p:nvPr/>
        </p:nvSpPr>
        <p:spPr>
          <a:xfrm>
            <a:off x="4663440" y="2286000"/>
            <a:ext cx="4206240" cy="1051560"/>
          </a:xfrm>
          <a:prstGeom prst="rect">
            <a:avLst/>
          </a:prstGeom>
          <a:solidFill>
            <a:srgbClr val="1F0A0A"/>
          </a:solidFill>
          <a:ln w="12700">
            <a:solidFill>
              <a:srgbClr val="DC2626"/>
            </a:solidFill>
            <a:prstDash val="solid"/>
          </a:ln>
        </p:spPr>
        <p:txBody>
          <a:bodyPr/>
          <a:lstStyle/>
          <a:p>
            <a:endParaRPr lang="en-US"/>
          </a:p>
        </p:txBody>
      </p:sp>
      <p:sp>
        <p:nvSpPr>
          <p:cNvPr id="20" name="Text 18"/>
          <p:cNvSpPr/>
          <p:nvPr/>
        </p:nvSpPr>
        <p:spPr>
          <a:xfrm>
            <a:off x="4800600" y="2331720"/>
            <a:ext cx="3931920" cy="914400"/>
          </a:xfrm>
          <a:prstGeom prst="rect">
            <a:avLst/>
          </a:prstGeom>
          <a:noFill/>
          <a:ln/>
        </p:spPr>
        <p:txBody>
          <a:bodyPr wrap="square" lIns="0" tIns="0" rIns="0" bIns="0" rtlCol="0" anchor="ctr"/>
          <a:lstStyle/>
          <a:p>
            <a:pPr marL="0" indent="0">
              <a:buNone/>
            </a:pPr>
            <a:r>
              <a:rPr lang="en-US" sz="1000" dirty="0">
                <a:solidFill>
                  <a:srgbClr val="E2E8F0"/>
                </a:solidFill>
              </a:rPr>
              <a:t>✓  Risk is critical or catastrophic</a:t>
            </a:r>
            <a:endParaRPr lang="en-US" sz="1000" dirty="0"/>
          </a:p>
          <a:p>
            <a:pPr marL="0" indent="0">
              <a:buNone/>
            </a:pPr>
            <a:r>
              <a:rPr lang="en-US" sz="1000" dirty="0">
                <a:solidFill>
                  <a:srgbClr val="E2E8F0"/>
                </a:solidFill>
              </a:rPr>
              <a:t>✓  Controls are too expensive or unreliable</a:t>
            </a:r>
            <a:endParaRPr lang="en-US" sz="1000" dirty="0"/>
          </a:p>
          <a:p>
            <a:pPr marL="0" indent="0">
              <a:buNone/>
            </a:pPr>
            <a:r>
              <a:rPr lang="en-US" sz="1000" dirty="0">
                <a:solidFill>
                  <a:srgbClr val="E2E8F0"/>
                </a:solidFill>
              </a:rPr>
              <a:t>✓  Activity is non-essential to the business</a:t>
            </a:r>
            <a:endParaRPr lang="en-US" sz="1000" dirty="0"/>
          </a:p>
        </p:txBody>
      </p:sp>
      <p:sp>
        <p:nvSpPr>
          <p:cNvPr id="21" name="Shape 19"/>
          <p:cNvSpPr/>
          <p:nvPr/>
        </p:nvSpPr>
        <p:spPr>
          <a:xfrm>
            <a:off x="4663440" y="3456432"/>
            <a:ext cx="4206240" cy="868680"/>
          </a:xfrm>
          <a:prstGeom prst="rect">
            <a:avLst/>
          </a:prstGeom>
          <a:solidFill>
            <a:srgbClr val="1F0A0A"/>
          </a:solidFill>
          <a:ln w="12700">
            <a:solidFill>
              <a:srgbClr val="F97316"/>
            </a:solidFill>
            <a:prstDash val="solid"/>
          </a:ln>
        </p:spPr>
        <p:txBody>
          <a:bodyPr/>
          <a:lstStyle/>
          <a:p>
            <a:endParaRPr lang="en-US"/>
          </a:p>
        </p:txBody>
      </p:sp>
      <p:sp>
        <p:nvSpPr>
          <p:cNvPr id="22" name="Text 20"/>
          <p:cNvSpPr/>
          <p:nvPr/>
        </p:nvSpPr>
        <p:spPr>
          <a:xfrm>
            <a:off x="4800600" y="3493008"/>
            <a:ext cx="3931920" cy="256032"/>
          </a:xfrm>
          <a:prstGeom prst="rect">
            <a:avLst/>
          </a:prstGeom>
          <a:noFill/>
          <a:ln/>
        </p:spPr>
        <p:txBody>
          <a:bodyPr wrap="square" lIns="0" tIns="0" rIns="0" bIns="0" rtlCol="0" anchor="ctr"/>
          <a:lstStyle/>
          <a:p>
            <a:pPr marL="0" indent="0">
              <a:buNone/>
            </a:pPr>
            <a:r>
              <a:rPr lang="en-US" sz="1000" b="1" dirty="0">
                <a:solidFill>
                  <a:srgbClr val="F97316"/>
                </a:solidFill>
              </a:rPr>
              <a:t>⚠  Caution:</a:t>
            </a:r>
            <a:endParaRPr lang="en-US" sz="1000" dirty="0"/>
          </a:p>
        </p:txBody>
      </p:sp>
      <p:sp>
        <p:nvSpPr>
          <p:cNvPr id="23" name="Text 21"/>
          <p:cNvSpPr/>
          <p:nvPr/>
        </p:nvSpPr>
        <p:spPr>
          <a:xfrm>
            <a:off x="4800600" y="3730752"/>
            <a:ext cx="3931920" cy="502920"/>
          </a:xfrm>
          <a:prstGeom prst="rect">
            <a:avLst/>
          </a:prstGeom>
          <a:noFill/>
          <a:ln/>
        </p:spPr>
        <p:txBody>
          <a:bodyPr wrap="square" lIns="0" tIns="0" rIns="0" bIns="0" rtlCol="0" anchor="ctr"/>
          <a:lstStyle/>
          <a:p>
            <a:pPr marL="0" indent="0">
              <a:buNone/>
            </a:pPr>
            <a:r>
              <a:rPr lang="en-US" sz="1000" dirty="0">
                <a:solidFill>
                  <a:srgbClr val="94A3B8"/>
                </a:solidFill>
              </a:rPr>
              <a:t>Avoidance may mean losing business value. Always weigh the cost of stopping the activity vs. the risk.</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891B2"/>
          </a:solidFill>
          <a:ln w="12700">
            <a:solidFill>
              <a:srgbClr val="0891B2"/>
            </a:solidFill>
            <a:prstDash val="solid"/>
          </a:ln>
        </p:spPr>
        <p:txBody>
          <a:bodyPr/>
          <a:lstStyle/>
          <a:p>
            <a:endParaRPr lang="en-US"/>
          </a:p>
        </p:txBody>
      </p:sp>
      <p:sp>
        <p:nvSpPr>
          <p:cNvPr id="3" name="Text 1"/>
          <p:cNvSpPr/>
          <p:nvPr/>
        </p:nvSpPr>
        <p:spPr>
          <a:xfrm>
            <a:off x="365760" y="36576"/>
            <a:ext cx="3657600" cy="411480"/>
          </a:xfrm>
          <a:prstGeom prst="rect">
            <a:avLst/>
          </a:prstGeom>
          <a:noFill/>
          <a:ln/>
        </p:spPr>
        <p:txBody>
          <a:bodyPr wrap="square" lIns="0" tIns="0" rIns="0" bIns="0" rtlCol="0" anchor="ctr"/>
          <a:lstStyle/>
          <a:p>
            <a:pPr marL="0" indent="0">
              <a:buNone/>
            </a:pPr>
            <a:r>
              <a:rPr lang="en-US" sz="2200" b="1" kern="0" spc="400" dirty="0">
                <a:solidFill>
                  <a:srgbClr val="FFFFFF"/>
                </a:solidFill>
              </a:rPr>
              <a:t>🛡️  MITIGATE</a:t>
            </a:r>
            <a:endParaRPr lang="en-US" sz="2200" dirty="0"/>
          </a:p>
        </p:txBody>
      </p:sp>
      <p:sp>
        <p:nvSpPr>
          <p:cNvPr id="4" name="Text 2"/>
          <p:cNvSpPr/>
          <p:nvPr/>
        </p:nvSpPr>
        <p:spPr>
          <a:xfrm>
            <a:off x="365760" y="457200"/>
            <a:ext cx="2743200" cy="347472"/>
          </a:xfrm>
          <a:prstGeom prst="rect">
            <a:avLst/>
          </a:prstGeom>
          <a:noFill/>
          <a:ln/>
        </p:spPr>
        <p:txBody>
          <a:bodyPr wrap="square" lIns="0" tIns="0" rIns="0" bIns="0" rtlCol="0" anchor="ctr"/>
          <a:lstStyle/>
          <a:p>
            <a:pPr marL="0" indent="0">
              <a:buNone/>
            </a:pPr>
            <a:r>
              <a:rPr lang="en-US" sz="1100" dirty="0">
                <a:solidFill>
                  <a:srgbClr val="BAE6FD"/>
                </a:solidFill>
              </a:rPr>
              <a:t>Strategy 2 of 6</a:t>
            </a:r>
            <a:endParaRPr lang="en-US" sz="1100" dirty="0"/>
          </a:p>
        </p:txBody>
      </p:sp>
      <p:sp>
        <p:nvSpPr>
          <p:cNvPr id="5" name="Text 3"/>
          <p:cNvSpPr/>
          <p:nvPr/>
        </p:nvSpPr>
        <p:spPr>
          <a:xfrm>
            <a:off x="3200400" y="164592"/>
            <a:ext cx="5577840" cy="502920"/>
          </a:xfrm>
          <a:prstGeom prst="rect">
            <a:avLst/>
          </a:prstGeom>
          <a:noFill/>
          <a:ln/>
        </p:spPr>
        <p:txBody>
          <a:bodyPr wrap="square" lIns="0" tIns="0" rIns="0" bIns="0" rtlCol="0" anchor="ctr"/>
          <a:lstStyle/>
          <a:p>
            <a:pPr marL="0" indent="0" algn="r">
              <a:buNone/>
            </a:pPr>
            <a:r>
              <a:rPr lang="en-US" sz="1500" i="1" dirty="0">
                <a:solidFill>
                  <a:srgbClr val="FFFFFF"/>
                </a:solidFill>
              </a:rPr>
              <a:t>Reduce the likelihood or impact of the risk</a:t>
            </a:r>
            <a:endParaRPr lang="en-US" sz="1500" dirty="0"/>
          </a:p>
        </p:txBody>
      </p:sp>
      <p:sp>
        <p:nvSpPr>
          <p:cNvPr id="6" name="Shape 4"/>
          <p:cNvSpPr/>
          <p:nvPr/>
        </p:nvSpPr>
        <p:spPr>
          <a:xfrm>
            <a:off x="274320" y="1005840"/>
            <a:ext cx="8595360" cy="749808"/>
          </a:xfrm>
          <a:prstGeom prst="rect">
            <a:avLst/>
          </a:prstGeom>
          <a:solidFill>
            <a:srgbClr val="132338"/>
          </a:solidFill>
          <a:ln w="12700">
            <a:solidFill>
              <a:srgbClr val="0891B2"/>
            </a:solidFill>
            <a:prstDash val="solid"/>
          </a:ln>
        </p:spPr>
        <p:txBody>
          <a:bodyPr/>
          <a:lstStyle/>
          <a:p>
            <a:endParaRPr lang="en-US"/>
          </a:p>
        </p:txBody>
      </p:sp>
      <p:sp>
        <p:nvSpPr>
          <p:cNvPr id="7" name="Text 5"/>
          <p:cNvSpPr/>
          <p:nvPr/>
        </p:nvSpPr>
        <p:spPr>
          <a:xfrm>
            <a:off x="457200" y="1051560"/>
            <a:ext cx="2011680" cy="274320"/>
          </a:xfrm>
          <a:prstGeom prst="rect">
            <a:avLst/>
          </a:prstGeom>
          <a:noFill/>
          <a:ln/>
        </p:spPr>
        <p:txBody>
          <a:bodyPr wrap="square" lIns="0" tIns="0" rIns="0" bIns="0" rtlCol="0" anchor="ctr"/>
          <a:lstStyle/>
          <a:p>
            <a:pPr marL="0" indent="0">
              <a:buNone/>
            </a:pPr>
            <a:r>
              <a:rPr lang="en-US" sz="1000" b="1" dirty="0">
                <a:solidFill>
                  <a:srgbClr val="0891B2"/>
                </a:solidFill>
              </a:rPr>
              <a:t>What it means:</a:t>
            </a:r>
            <a:endParaRPr lang="en-US" sz="1000" dirty="0"/>
          </a:p>
        </p:txBody>
      </p:sp>
      <p:sp>
        <p:nvSpPr>
          <p:cNvPr id="8" name="Text 6"/>
          <p:cNvSpPr/>
          <p:nvPr/>
        </p:nvSpPr>
        <p:spPr>
          <a:xfrm>
            <a:off x="457200" y="1298448"/>
            <a:ext cx="8229600" cy="384048"/>
          </a:xfrm>
          <a:prstGeom prst="rect">
            <a:avLst/>
          </a:prstGeom>
          <a:noFill/>
          <a:ln/>
        </p:spPr>
        <p:txBody>
          <a:bodyPr wrap="square" lIns="0" tIns="0" rIns="0" bIns="0" rtlCol="0" anchor="ctr"/>
          <a:lstStyle/>
          <a:p>
            <a:pPr marL="0" indent="0">
              <a:buNone/>
            </a:pPr>
            <a:r>
              <a:rPr lang="en-US" sz="1100" dirty="0">
                <a:solidFill>
                  <a:srgbClr val="E2E8F0"/>
                </a:solidFill>
              </a:rPr>
              <a:t>You put controls in place to reduce either how likely the risk is to happen (likelihood) or how bad it will be if it does (impact). This is the most common strategy in cybersecurity.</a:t>
            </a:r>
            <a:endParaRPr lang="en-US" sz="1100" dirty="0"/>
          </a:p>
        </p:txBody>
      </p:sp>
      <p:sp>
        <p:nvSpPr>
          <p:cNvPr id="9" name="Text 7"/>
          <p:cNvSpPr/>
          <p:nvPr/>
        </p:nvSpPr>
        <p:spPr>
          <a:xfrm>
            <a:off x="274320" y="1874520"/>
            <a:ext cx="8229600" cy="256032"/>
          </a:xfrm>
          <a:prstGeom prst="rect">
            <a:avLst/>
          </a:prstGeom>
          <a:noFill/>
          <a:ln/>
        </p:spPr>
        <p:txBody>
          <a:bodyPr wrap="square" lIns="0" tIns="0" rIns="0" bIns="0" rtlCol="0" anchor="ctr"/>
          <a:lstStyle/>
          <a:p>
            <a:pPr marL="0" indent="0">
              <a:buNone/>
            </a:pPr>
            <a:r>
              <a:rPr lang="en-US" sz="900" b="1" kern="0" spc="300" dirty="0">
                <a:solidFill>
                  <a:srgbClr val="0891B2"/>
                </a:solidFill>
              </a:rPr>
              <a:t>TWO LEVERS OF MITIGATION</a:t>
            </a:r>
            <a:endParaRPr lang="en-US" sz="900" dirty="0"/>
          </a:p>
        </p:txBody>
      </p:sp>
      <p:sp>
        <p:nvSpPr>
          <p:cNvPr id="10" name="Shape 8"/>
          <p:cNvSpPr/>
          <p:nvPr/>
        </p:nvSpPr>
        <p:spPr>
          <a:xfrm>
            <a:off x="274320" y="2176272"/>
            <a:ext cx="4160520" cy="1188720"/>
          </a:xfrm>
          <a:prstGeom prst="rect">
            <a:avLst/>
          </a:prstGeom>
          <a:solidFill>
            <a:srgbClr val="1A2D45"/>
          </a:solidFill>
          <a:ln w="19050">
            <a:solidFill>
              <a:srgbClr val="0891B2"/>
            </a:solidFill>
            <a:prstDash val="solid"/>
          </a:ln>
        </p:spPr>
        <p:txBody>
          <a:bodyPr/>
          <a:lstStyle/>
          <a:p>
            <a:endParaRPr lang="en-US"/>
          </a:p>
        </p:txBody>
      </p:sp>
      <p:sp>
        <p:nvSpPr>
          <p:cNvPr id="11" name="Text 9"/>
          <p:cNvSpPr/>
          <p:nvPr/>
        </p:nvSpPr>
        <p:spPr>
          <a:xfrm>
            <a:off x="438912" y="2221992"/>
            <a:ext cx="3840480" cy="347472"/>
          </a:xfrm>
          <a:prstGeom prst="rect">
            <a:avLst/>
          </a:prstGeom>
          <a:noFill/>
          <a:ln/>
        </p:spPr>
        <p:txBody>
          <a:bodyPr wrap="square" lIns="0" tIns="0" rIns="0" bIns="0" rtlCol="0" anchor="ctr"/>
          <a:lstStyle/>
          <a:p>
            <a:pPr marL="0" indent="0">
              <a:buNone/>
            </a:pPr>
            <a:r>
              <a:rPr lang="en-US" sz="1300" b="1" dirty="0">
                <a:solidFill>
                  <a:srgbClr val="22D3EE"/>
                </a:solidFill>
              </a:rPr>
              <a:t>Reduce Likelihood</a:t>
            </a:r>
            <a:endParaRPr lang="en-US" sz="1300" dirty="0"/>
          </a:p>
        </p:txBody>
      </p:sp>
      <p:sp>
        <p:nvSpPr>
          <p:cNvPr id="12" name="Text 10"/>
          <p:cNvSpPr/>
          <p:nvPr/>
        </p:nvSpPr>
        <p:spPr>
          <a:xfrm>
            <a:off x="438912" y="2542032"/>
            <a:ext cx="3840480" cy="731520"/>
          </a:xfrm>
          <a:prstGeom prst="rect">
            <a:avLst/>
          </a:prstGeom>
          <a:noFill/>
          <a:ln/>
        </p:spPr>
        <p:txBody>
          <a:bodyPr wrap="square" lIns="0" tIns="0" rIns="0" bIns="0" rtlCol="0" anchor="ctr"/>
          <a:lstStyle/>
          <a:p>
            <a:pPr marL="0" indent="0">
              <a:buNone/>
            </a:pPr>
            <a:r>
              <a:rPr lang="en-US" sz="1000" dirty="0">
                <a:solidFill>
                  <a:srgbClr val="CBD5E1"/>
                </a:solidFill>
              </a:rPr>
              <a:t>Make it harder for the risk to occur</a:t>
            </a:r>
            <a:endParaRPr lang="en-US" sz="1000" dirty="0"/>
          </a:p>
          <a:p>
            <a:pPr marL="0" indent="0">
              <a:buNone/>
            </a:pPr>
            <a:r>
              <a:rPr lang="en-US" sz="1000" dirty="0">
                <a:solidFill>
                  <a:srgbClr val="CBD5E1"/>
                </a:solidFill>
              </a:rPr>
              <a:t>→ MFA, patch management, firewalls</a:t>
            </a:r>
            <a:endParaRPr lang="en-US" sz="1000" dirty="0"/>
          </a:p>
          <a:p>
            <a:pPr marL="0" indent="0">
              <a:buNone/>
            </a:pPr>
            <a:r>
              <a:rPr lang="en-US" sz="1000" dirty="0">
                <a:solidFill>
                  <a:srgbClr val="CBD5E1"/>
                </a:solidFill>
              </a:rPr>
              <a:t>→ Security awareness training</a:t>
            </a:r>
            <a:endParaRPr lang="en-US" sz="1000" dirty="0"/>
          </a:p>
          <a:p>
            <a:pPr marL="0" indent="0">
              <a:buNone/>
            </a:pPr>
            <a:r>
              <a:rPr lang="en-US" sz="1000" dirty="0">
                <a:solidFill>
                  <a:srgbClr val="CBD5E1"/>
                </a:solidFill>
              </a:rPr>
              <a:t>→ Penetration testing</a:t>
            </a:r>
            <a:endParaRPr lang="en-US" sz="1000" dirty="0"/>
          </a:p>
        </p:txBody>
      </p:sp>
      <p:sp>
        <p:nvSpPr>
          <p:cNvPr id="13" name="Shape 11"/>
          <p:cNvSpPr/>
          <p:nvPr/>
        </p:nvSpPr>
        <p:spPr>
          <a:xfrm>
            <a:off x="4709160" y="2176272"/>
            <a:ext cx="4160520" cy="1188720"/>
          </a:xfrm>
          <a:prstGeom prst="rect">
            <a:avLst/>
          </a:prstGeom>
          <a:solidFill>
            <a:srgbClr val="1A2D45"/>
          </a:solidFill>
          <a:ln w="19050">
            <a:solidFill>
              <a:srgbClr val="7DD3FC"/>
            </a:solidFill>
            <a:prstDash val="solid"/>
          </a:ln>
        </p:spPr>
        <p:txBody>
          <a:bodyPr/>
          <a:lstStyle/>
          <a:p>
            <a:endParaRPr lang="en-US"/>
          </a:p>
        </p:txBody>
      </p:sp>
      <p:sp>
        <p:nvSpPr>
          <p:cNvPr id="14" name="Text 12"/>
          <p:cNvSpPr/>
          <p:nvPr/>
        </p:nvSpPr>
        <p:spPr>
          <a:xfrm>
            <a:off x="4873752" y="2221992"/>
            <a:ext cx="3840480" cy="347472"/>
          </a:xfrm>
          <a:prstGeom prst="rect">
            <a:avLst/>
          </a:prstGeom>
          <a:noFill/>
          <a:ln/>
        </p:spPr>
        <p:txBody>
          <a:bodyPr wrap="square" lIns="0" tIns="0" rIns="0" bIns="0" rtlCol="0" anchor="ctr"/>
          <a:lstStyle/>
          <a:p>
            <a:pPr marL="0" indent="0">
              <a:buNone/>
            </a:pPr>
            <a:r>
              <a:rPr lang="en-US" sz="1300" b="1" dirty="0">
                <a:solidFill>
                  <a:srgbClr val="7DD3FC"/>
                </a:solidFill>
              </a:rPr>
              <a:t>Reduce Impact</a:t>
            </a:r>
            <a:endParaRPr lang="en-US" sz="1300" dirty="0"/>
          </a:p>
        </p:txBody>
      </p:sp>
      <p:sp>
        <p:nvSpPr>
          <p:cNvPr id="15" name="Text 13"/>
          <p:cNvSpPr/>
          <p:nvPr/>
        </p:nvSpPr>
        <p:spPr>
          <a:xfrm>
            <a:off x="4873752" y="2542032"/>
            <a:ext cx="3840480" cy="731520"/>
          </a:xfrm>
          <a:prstGeom prst="rect">
            <a:avLst/>
          </a:prstGeom>
          <a:noFill/>
          <a:ln/>
        </p:spPr>
        <p:txBody>
          <a:bodyPr wrap="square" lIns="0" tIns="0" rIns="0" bIns="0" rtlCol="0" anchor="ctr"/>
          <a:lstStyle/>
          <a:p>
            <a:pPr marL="0" indent="0">
              <a:buNone/>
            </a:pPr>
            <a:r>
              <a:rPr lang="en-US" sz="1000" dirty="0">
                <a:solidFill>
                  <a:srgbClr val="CBD5E1"/>
                </a:solidFill>
              </a:rPr>
              <a:t>Limit damage if the risk materializes</a:t>
            </a:r>
            <a:endParaRPr lang="en-US" sz="1000" dirty="0"/>
          </a:p>
          <a:p>
            <a:pPr marL="0" indent="0">
              <a:buNone/>
            </a:pPr>
            <a:r>
              <a:rPr lang="en-US" sz="1000" dirty="0">
                <a:solidFill>
                  <a:srgbClr val="CBD5E1"/>
                </a:solidFill>
              </a:rPr>
              <a:t>→ Backups &amp; disaster recovery plans</a:t>
            </a:r>
            <a:endParaRPr lang="en-US" sz="1000" dirty="0"/>
          </a:p>
          <a:p>
            <a:pPr marL="0" indent="0">
              <a:buNone/>
            </a:pPr>
            <a:r>
              <a:rPr lang="en-US" sz="1000" dirty="0">
                <a:solidFill>
                  <a:srgbClr val="CBD5E1"/>
                </a:solidFill>
              </a:rPr>
              <a:t>→ Incident response procedures</a:t>
            </a:r>
            <a:endParaRPr lang="en-US" sz="1000" dirty="0"/>
          </a:p>
          <a:p>
            <a:pPr marL="0" indent="0">
              <a:buNone/>
            </a:pPr>
            <a:r>
              <a:rPr lang="en-US" sz="1000" dirty="0">
                <a:solidFill>
                  <a:srgbClr val="CBD5E1"/>
                </a:solidFill>
              </a:rPr>
              <a:t>→ Network segmentation</a:t>
            </a:r>
            <a:endParaRPr lang="en-US" sz="1000" dirty="0"/>
          </a:p>
        </p:txBody>
      </p:sp>
      <p:sp>
        <p:nvSpPr>
          <p:cNvPr id="16" name="Text 14"/>
          <p:cNvSpPr/>
          <p:nvPr/>
        </p:nvSpPr>
        <p:spPr>
          <a:xfrm>
            <a:off x="274320" y="3520440"/>
            <a:ext cx="8229600" cy="256032"/>
          </a:xfrm>
          <a:prstGeom prst="rect">
            <a:avLst/>
          </a:prstGeom>
          <a:noFill/>
          <a:ln/>
        </p:spPr>
        <p:txBody>
          <a:bodyPr wrap="square" lIns="0" tIns="0" rIns="0" bIns="0" rtlCol="0" anchor="ctr"/>
          <a:lstStyle/>
          <a:p>
            <a:pPr marL="0" indent="0">
              <a:buNone/>
            </a:pPr>
            <a:r>
              <a:rPr lang="en-US" sz="900" b="1" kern="0" spc="300" dirty="0">
                <a:solidFill>
                  <a:srgbClr val="0891B2"/>
                </a:solidFill>
              </a:rPr>
              <a:t>EXAMPLES IN A BANKING APP</a:t>
            </a:r>
            <a:endParaRPr lang="en-US" sz="900" dirty="0"/>
          </a:p>
        </p:txBody>
      </p:sp>
      <p:sp>
        <p:nvSpPr>
          <p:cNvPr id="17" name="Shape 15"/>
          <p:cNvSpPr/>
          <p:nvPr/>
        </p:nvSpPr>
        <p:spPr>
          <a:xfrm>
            <a:off x="274320" y="3840480"/>
            <a:ext cx="256032" cy="256032"/>
          </a:xfrm>
          <a:prstGeom prst="ellipse">
            <a:avLst/>
          </a:prstGeom>
          <a:solidFill>
            <a:srgbClr val="0891B2"/>
          </a:solidFill>
          <a:ln w="12700">
            <a:solidFill>
              <a:srgbClr val="0891B2"/>
            </a:solidFill>
            <a:prstDash val="solid"/>
          </a:ln>
        </p:spPr>
        <p:txBody>
          <a:bodyPr/>
          <a:lstStyle/>
          <a:p>
            <a:endParaRPr lang="en-US"/>
          </a:p>
        </p:txBody>
      </p:sp>
      <p:sp>
        <p:nvSpPr>
          <p:cNvPr id="18" name="Text 16"/>
          <p:cNvSpPr/>
          <p:nvPr/>
        </p:nvSpPr>
        <p:spPr>
          <a:xfrm>
            <a:off x="621792" y="3840480"/>
            <a:ext cx="1783080" cy="530352"/>
          </a:xfrm>
          <a:prstGeom prst="rect">
            <a:avLst/>
          </a:prstGeom>
          <a:noFill/>
          <a:ln/>
        </p:spPr>
        <p:txBody>
          <a:bodyPr wrap="square" lIns="0" tIns="0" rIns="0" bIns="0" rtlCol="0" anchor="ctr"/>
          <a:lstStyle/>
          <a:p>
            <a:pPr marL="0" indent="0">
              <a:buNone/>
            </a:pPr>
            <a:r>
              <a:rPr lang="en-US" sz="950" dirty="0">
                <a:solidFill>
                  <a:srgbClr val="CBD5E1"/>
                </a:solidFill>
              </a:rPr>
              <a:t>Enforce MFA on all logins</a:t>
            </a:r>
            <a:endParaRPr lang="en-US" sz="950" dirty="0"/>
          </a:p>
        </p:txBody>
      </p:sp>
      <p:sp>
        <p:nvSpPr>
          <p:cNvPr id="19" name="Shape 17"/>
          <p:cNvSpPr/>
          <p:nvPr/>
        </p:nvSpPr>
        <p:spPr>
          <a:xfrm>
            <a:off x="2450592" y="3840480"/>
            <a:ext cx="256032" cy="256032"/>
          </a:xfrm>
          <a:prstGeom prst="ellipse">
            <a:avLst/>
          </a:prstGeom>
          <a:solidFill>
            <a:srgbClr val="0891B2"/>
          </a:solidFill>
          <a:ln w="12700">
            <a:solidFill>
              <a:srgbClr val="0891B2"/>
            </a:solidFill>
            <a:prstDash val="solid"/>
          </a:ln>
        </p:spPr>
        <p:txBody>
          <a:bodyPr/>
          <a:lstStyle/>
          <a:p>
            <a:endParaRPr lang="en-US"/>
          </a:p>
        </p:txBody>
      </p:sp>
      <p:sp>
        <p:nvSpPr>
          <p:cNvPr id="20" name="Text 18"/>
          <p:cNvSpPr/>
          <p:nvPr/>
        </p:nvSpPr>
        <p:spPr>
          <a:xfrm>
            <a:off x="2798064" y="3840480"/>
            <a:ext cx="1783080" cy="530352"/>
          </a:xfrm>
          <a:prstGeom prst="rect">
            <a:avLst/>
          </a:prstGeom>
          <a:noFill/>
          <a:ln/>
        </p:spPr>
        <p:txBody>
          <a:bodyPr wrap="square" lIns="0" tIns="0" rIns="0" bIns="0" rtlCol="0" anchor="ctr"/>
          <a:lstStyle/>
          <a:p>
            <a:pPr marL="0" indent="0">
              <a:buNone/>
            </a:pPr>
            <a:r>
              <a:rPr lang="en-US" sz="950" dirty="0">
                <a:solidFill>
                  <a:srgbClr val="CBD5E1"/>
                </a:solidFill>
              </a:rPr>
              <a:t>Encrypt the database at rest</a:t>
            </a:r>
            <a:endParaRPr lang="en-US" sz="950" dirty="0"/>
          </a:p>
        </p:txBody>
      </p:sp>
      <p:sp>
        <p:nvSpPr>
          <p:cNvPr id="21" name="Shape 19"/>
          <p:cNvSpPr/>
          <p:nvPr/>
        </p:nvSpPr>
        <p:spPr>
          <a:xfrm>
            <a:off x="4626864" y="3840480"/>
            <a:ext cx="256032" cy="256032"/>
          </a:xfrm>
          <a:prstGeom prst="ellipse">
            <a:avLst/>
          </a:prstGeom>
          <a:solidFill>
            <a:srgbClr val="0891B2"/>
          </a:solidFill>
          <a:ln w="12700">
            <a:solidFill>
              <a:srgbClr val="0891B2"/>
            </a:solidFill>
            <a:prstDash val="solid"/>
          </a:ln>
        </p:spPr>
        <p:txBody>
          <a:bodyPr/>
          <a:lstStyle/>
          <a:p>
            <a:endParaRPr lang="en-US"/>
          </a:p>
        </p:txBody>
      </p:sp>
      <p:sp>
        <p:nvSpPr>
          <p:cNvPr id="22" name="Text 20"/>
          <p:cNvSpPr/>
          <p:nvPr/>
        </p:nvSpPr>
        <p:spPr>
          <a:xfrm>
            <a:off x="4974336" y="3840480"/>
            <a:ext cx="1783080" cy="530352"/>
          </a:xfrm>
          <a:prstGeom prst="rect">
            <a:avLst/>
          </a:prstGeom>
          <a:noFill/>
          <a:ln/>
        </p:spPr>
        <p:txBody>
          <a:bodyPr wrap="square" lIns="0" tIns="0" rIns="0" bIns="0" rtlCol="0" anchor="ctr"/>
          <a:lstStyle/>
          <a:p>
            <a:pPr marL="0" indent="0">
              <a:buNone/>
            </a:pPr>
            <a:r>
              <a:rPr lang="en-US" sz="950" dirty="0">
                <a:solidFill>
                  <a:srgbClr val="CBD5E1"/>
                </a:solidFill>
              </a:rPr>
              <a:t>Run quarterly pen tests</a:t>
            </a:r>
            <a:endParaRPr lang="en-US" sz="950" dirty="0"/>
          </a:p>
        </p:txBody>
      </p:sp>
      <p:sp>
        <p:nvSpPr>
          <p:cNvPr id="23" name="Shape 21"/>
          <p:cNvSpPr/>
          <p:nvPr/>
        </p:nvSpPr>
        <p:spPr>
          <a:xfrm>
            <a:off x="6803136" y="3840480"/>
            <a:ext cx="256032" cy="256032"/>
          </a:xfrm>
          <a:prstGeom prst="ellipse">
            <a:avLst/>
          </a:prstGeom>
          <a:solidFill>
            <a:srgbClr val="0891B2"/>
          </a:solidFill>
          <a:ln w="12700">
            <a:solidFill>
              <a:srgbClr val="0891B2"/>
            </a:solidFill>
            <a:prstDash val="solid"/>
          </a:ln>
        </p:spPr>
        <p:txBody>
          <a:bodyPr/>
          <a:lstStyle/>
          <a:p>
            <a:endParaRPr lang="en-US"/>
          </a:p>
        </p:txBody>
      </p:sp>
      <p:sp>
        <p:nvSpPr>
          <p:cNvPr id="24" name="Text 22"/>
          <p:cNvSpPr/>
          <p:nvPr/>
        </p:nvSpPr>
        <p:spPr>
          <a:xfrm>
            <a:off x="7150608" y="3840480"/>
            <a:ext cx="1783080" cy="530352"/>
          </a:xfrm>
          <a:prstGeom prst="rect">
            <a:avLst/>
          </a:prstGeom>
          <a:noFill/>
          <a:ln/>
        </p:spPr>
        <p:txBody>
          <a:bodyPr wrap="square" lIns="0" tIns="0" rIns="0" bIns="0" rtlCol="0" anchor="ctr"/>
          <a:lstStyle/>
          <a:p>
            <a:pPr marL="0" indent="0">
              <a:buNone/>
            </a:pPr>
            <a:r>
              <a:rPr lang="en-US" sz="950" dirty="0">
                <a:solidFill>
                  <a:srgbClr val="CBD5E1"/>
                </a:solidFill>
              </a:rPr>
              <a:t>Set up auto-logout after 5 min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7C3AED"/>
          </a:solidFill>
          <a:ln w="12700">
            <a:solidFill>
              <a:srgbClr val="7C3AED"/>
            </a:solidFill>
            <a:prstDash val="solid"/>
          </a:ln>
        </p:spPr>
        <p:txBody>
          <a:bodyPr/>
          <a:lstStyle/>
          <a:p>
            <a:endParaRPr lang="en-US"/>
          </a:p>
        </p:txBody>
      </p:sp>
      <p:sp>
        <p:nvSpPr>
          <p:cNvPr id="3" name="Text 1"/>
          <p:cNvSpPr/>
          <p:nvPr/>
        </p:nvSpPr>
        <p:spPr>
          <a:xfrm>
            <a:off x="365760" y="36576"/>
            <a:ext cx="3657600" cy="411480"/>
          </a:xfrm>
          <a:prstGeom prst="rect">
            <a:avLst/>
          </a:prstGeom>
          <a:noFill/>
          <a:ln/>
        </p:spPr>
        <p:txBody>
          <a:bodyPr wrap="square" lIns="0" tIns="0" rIns="0" bIns="0" rtlCol="0" anchor="ctr"/>
          <a:lstStyle/>
          <a:p>
            <a:pPr marL="0" indent="0">
              <a:buNone/>
            </a:pPr>
            <a:r>
              <a:rPr lang="en-US" sz="2200" b="1" kern="0" spc="400" dirty="0">
                <a:solidFill>
                  <a:srgbClr val="FFFFFF"/>
                </a:solidFill>
              </a:rPr>
              <a:t>🤝  TRANSFER</a:t>
            </a:r>
            <a:endParaRPr lang="en-US" sz="2200" dirty="0"/>
          </a:p>
        </p:txBody>
      </p:sp>
      <p:sp>
        <p:nvSpPr>
          <p:cNvPr id="4" name="Text 2"/>
          <p:cNvSpPr/>
          <p:nvPr/>
        </p:nvSpPr>
        <p:spPr>
          <a:xfrm>
            <a:off x="365760" y="457200"/>
            <a:ext cx="2743200" cy="347472"/>
          </a:xfrm>
          <a:prstGeom prst="rect">
            <a:avLst/>
          </a:prstGeom>
          <a:noFill/>
          <a:ln/>
        </p:spPr>
        <p:txBody>
          <a:bodyPr wrap="square" lIns="0" tIns="0" rIns="0" bIns="0" rtlCol="0" anchor="ctr"/>
          <a:lstStyle/>
          <a:p>
            <a:pPr marL="0" indent="0">
              <a:buNone/>
            </a:pPr>
            <a:r>
              <a:rPr lang="en-US" sz="1100" dirty="0">
                <a:solidFill>
                  <a:srgbClr val="DDD6FE"/>
                </a:solidFill>
              </a:rPr>
              <a:t>Strategy 3 of 6</a:t>
            </a:r>
            <a:endParaRPr lang="en-US" sz="1100" dirty="0"/>
          </a:p>
        </p:txBody>
      </p:sp>
      <p:sp>
        <p:nvSpPr>
          <p:cNvPr id="5" name="Text 3"/>
          <p:cNvSpPr/>
          <p:nvPr/>
        </p:nvSpPr>
        <p:spPr>
          <a:xfrm>
            <a:off x="2743200" y="164592"/>
            <a:ext cx="6035040" cy="502920"/>
          </a:xfrm>
          <a:prstGeom prst="rect">
            <a:avLst/>
          </a:prstGeom>
          <a:noFill/>
          <a:ln/>
        </p:spPr>
        <p:txBody>
          <a:bodyPr wrap="square" lIns="0" tIns="0" rIns="0" bIns="0" rtlCol="0" anchor="ctr"/>
          <a:lstStyle/>
          <a:p>
            <a:pPr marL="0" indent="0" algn="r">
              <a:buNone/>
            </a:pPr>
            <a:r>
              <a:rPr lang="en-US" sz="1400" i="1" dirty="0">
                <a:solidFill>
                  <a:srgbClr val="FFFFFF"/>
                </a:solidFill>
              </a:rPr>
              <a:t>Shift the financial or operational impact to a third party</a:t>
            </a:r>
            <a:endParaRPr lang="en-US" sz="1400" dirty="0"/>
          </a:p>
        </p:txBody>
      </p:sp>
      <p:sp>
        <p:nvSpPr>
          <p:cNvPr id="6" name="Shape 4"/>
          <p:cNvSpPr/>
          <p:nvPr/>
        </p:nvSpPr>
        <p:spPr>
          <a:xfrm>
            <a:off x="274320" y="1005840"/>
            <a:ext cx="8595360" cy="749808"/>
          </a:xfrm>
          <a:prstGeom prst="rect">
            <a:avLst/>
          </a:prstGeom>
          <a:solidFill>
            <a:srgbClr val="132338"/>
          </a:solidFill>
          <a:ln w="12700">
            <a:solidFill>
              <a:srgbClr val="7C3AED"/>
            </a:solidFill>
            <a:prstDash val="solid"/>
          </a:ln>
        </p:spPr>
        <p:txBody>
          <a:bodyPr/>
          <a:lstStyle/>
          <a:p>
            <a:endParaRPr lang="en-US"/>
          </a:p>
        </p:txBody>
      </p:sp>
      <p:sp>
        <p:nvSpPr>
          <p:cNvPr id="7" name="Text 5"/>
          <p:cNvSpPr/>
          <p:nvPr/>
        </p:nvSpPr>
        <p:spPr>
          <a:xfrm>
            <a:off x="457200" y="1051560"/>
            <a:ext cx="2011680" cy="274320"/>
          </a:xfrm>
          <a:prstGeom prst="rect">
            <a:avLst/>
          </a:prstGeom>
          <a:noFill/>
          <a:ln/>
        </p:spPr>
        <p:txBody>
          <a:bodyPr wrap="square" lIns="0" tIns="0" rIns="0" bIns="0" rtlCol="0" anchor="ctr"/>
          <a:lstStyle/>
          <a:p>
            <a:pPr marL="0" indent="0">
              <a:buNone/>
            </a:pPr>
            <a:r>
              <a:rPr lang="en-US" sz="1000" b="1" dirty="0">
                <a:solidFill>
                  <a:srgbClr val="7C3AED"/>
                </a:solidFill>
              </a:rPr>
              <a:t>What it means:</a:t>
            </a:r>
            <a:endParaRPr lang="en-US" sz="1000" dirty="0"/>
          </a:p>
        </p:txBody>
      </p:sp>
      <p:sp>
        <p:nvSpPr>
          <p:cNvPr id="8" name="Text 6"/>
          <p:cNvSpPr/>
          <p:nvPr/>
        </p:nvSpPr>
        <p:spPr>
          <a:xfrm>
            <a:off x="457200" y="1298448"/>
            <a:ext cx="8229600" cy="384048"/>
          </a:xfrm>
          <a:prstGeom prst="rect">
            <a:avLst/>
          </a:prstGeom>
          <a:noFill/>
          <a:ln/>
        </p:spPr>
        <p:txBody>
          <a:bodyPr wrap="square" lIns="0" tIns="0" rIns="0" bIns="0" rtlCol="0" anchor="ctr"/>
          <a:lstStyle/>
          <a:p>
            <a:pPr marL="0" indent="0">
              <a:buNone/>
            </a:pPr>
            <a:r>
              <a:rPr lang="en-US" sz="1100" dirty="0">
                <a:solidFill>
                  <a:srgbClr val="E2E8F0"/>
                </a:solidFill>
              </a:rPr>
              <a:t>You don't eliminate the risk or reduce it — you pay someone else to bear the consequences. The risk still exists, but the financial hit lands on another party (insurer, vendor, contractor).</a:t>
            </a:r>
            <a:endParaRPr lang="en-US" sz="1100" dirty="0"/>
          </a:p>
        </p:txBody>
      </p:sp>
      <p:sp>
        <p:nvSpPr>
          <p:cNvPr id="9" name="Text 7"/>
          <p:cNvSpPr/>
          <p:nvPr/>
        </p:nvSpPr>
        <p:spPr>
          <a:xfrm>
            <a:off x="274320" y="1874520"/>
            <a:ext cx="8229600" cy="256032"/>
          </a:xfrm>
          <a:prstGeom prst="rect">
            <a:avLst/>
          </a:prstGeom>
          <a:noFill/>
          <a:ln/>
        </p:spPr>
        <p:txBody>
          <a:bodyPr wrap="square" lIns="0" tIns="0" rIns="0" bIns="0" rtlCol="0" anchor="ctr"/>
          <a:lstStyle/>
          <a:p>
            <a:pPr marL="0" indent="0">
              <a:buNone/>
            </a:pPr>
            <a:r>
              <a:rPr lang="en-US" sz="900" b="1" kern="0" spc="300" dirty="0">
                <a:solidFill>
                  <a:srgbClr val="7C3AED"/>
                </a:solidFill>
              </a:rPr>
              <a:t>FORMS OF RISK TRANSFER</a:t>
            </a:r>
            <a:endParaRPr lang="en-US" sz="900" dirty="0"/>
          </a:p>
        </p:txBody>
      </p:sp>
      <p:sp>
        <p:nvSpPr>
          <p:cNvPr id="10" name="Shape 8"/>
          <p:cNvSpPr/>
          <p:nvPr/>
        </p:nvSpPr>
        <p:spPr>
          <a:xfrm>
            <a:off x="274320" y="2212848"/>
            <a:ext cx="4206240" cy="1143000"/>
          </a:xfrm>
          <a:prstGeom prst="rect">
            <a:avLst/>
          </a:prstGeom>
          <a:solidFill>
            <a:srgbClr val="1A2D45"/>
          </a:solidFill>
          <a:ln w="12700">
            <a:solidFill>
              <a:srgbClr val="7C3AED"/>
            </a:solidFill>
            <a:prstDash val="solid"/>
          </a:ln>
          <a:effectLst>
            <a:outerShdw blurRad="127000" dist="38100" dir="8100000" algn="bl" rotWithShape="0">
              <a:srgbClr val="000000">
                <a:alpha val="20000"/>
              </a:srgbClr>
            </a:outerShdw>
          </a:effectLst>
        </p:spPr>
        <p:txBody>
          <a:bodyPr/>
          <a:lstStyle/>
          <a:p>
            <a:endParaRPr lang="en-US"/>
          </a:p>
        </p:txBody>
      </p:sp>
      <p:sp>
        <p:nvSpPr>
          <p:cNvPr id="11" name="Text 9"/>
          <p:cNvSpPr/>
          <p:nvPr/>
        </p:nvSpPr>
        <p:spPr>
          <a:xfrm>
            <a:off x="411480" y="2304288"/>
            <a:ext cx="3840480" cy="347472"/>
          </a:xfrm>
          <a:prstGeom prst="rect">
            <a:avLst/>
          </a:prstGeom>
          <a:noFill/>
          <a:ln/>
        </p:spPr>
        <p:txBody>
          <a:bodyPr wrap="square" lIns="0" tIns="0" rIns="0" bIns="0" rtlCol="0" anchor="ctr"/>
          <a:lstStyle/>
          <a:p>
            <a:pPr marL="0" indent="0">
              <a:buNone/>
            </a:pPr>
            <a:r>
              <a:rPr lang="en-US" sz="1300" b="1" dirty="0">
                <a:solidFill>
                  <a:srgbClr val="7C3AED"/>
                </a:solidFill>
              </a:rPr>
              <a:t>📋  Cyber Insurance</a:t>
            </a:r>
            <a:endParaRPr lang="en-US" sz="1300" dirty="0"/>
          </a:p>
        </p:txBody>
      </p:sp>
      <p:sp>
        <p:nvSpPr>
          <p:cNvPr id="12" name="Text 10"/>
          <p:cNvSpPr/>
          <p:nvPr/>
        </p:nvSpPr>
        <p:spPr>
          <a:xfrm>
            <a:off x="411480" y="2670048"/>
            <a:ext cx="3840480" cy="566928"/>
          </a:xfrm>
          <a:prstGeom prst="rect">
            <a:avLst/>
          </a:prstGeom>
          <a:noFill/>
          <a:ln/>
        </p:spPr>
        <p:txBody>
          <a:bodyPr wrap="square" lIns="0" tIns="0" rIns="0" bIns="0" rtlCol="0" anchor="ctr"/>
          <a:lstStyle/>
          <a:p>
            <a:pPr marL="0" indent="0">
              <a:buNone/>
            </a:pPr>
            <a:r>
              <a:rPr lang="en-US" sz="1000" dirty="0">
                <a:solidFill>
                  <a:srgbClr val="CBD5E1"/>
                </a:solidFill>
              </a:rPr>
              <a:t>Policy covers breach costs, ransomware payouts, legal fees, notification costs</a:t>
            </a:r>
            <a:endParaRPr lang="en-US" sz="1000" dirty="0"/>
          </a:p>
        </p:txBody>
      </p:sp>
      <p:sp>
        <p:nvSpPr>
          <p:cNvPr id="13" name="Shape 11"/>
          <p:cNvSpPr/>
          <p:nvPr/>
        </p:nvSpPr>
        <p:spPr>
          <a:xfrm>
            <a:off x="4709160" y="2212848"/>
            <a:ext cx="4206240" cy="1143000"/>
          </a:xfrm>
          <a:prstGeom prst="rect">
            <a:avLst/>
          </a:prstGeom>
          <a:solidFill>
            <a:srgbClr val="1A2D45"/>
          </a:solidFill>
          <a:ln w="12700">
            <a:solidFill>
              <a:srgbClr val="7C3AED"/>
            </a:solidFill>
            <a:prstDash val="solid"/>
          </a:ln>
          <a:effectLst>
            <a:outerShdw blurRad="127000" dist="38100" dir="8100000" algn="bl" rotWithShape="0">
              <a:srgbClr val="000000">
                <a:alpha val="20000"/>
              </a:srgbClr>
            </a:outerShdw>
          </a:effectLst>
        </p:spPr>
        <p:txBody>
          <a:bodyPr/>
          <a:lstStyle/>
          <a:p>
            <a:endParaRPr lang="en-US"/>
          </a:p>
        </p:txBody>
      </p:sp>
      <p:sp>
        <p:nvSpPr>
          <p:cNvPr id="14" name="Text 12"/>
          <p:cNvSpPr/>
          <p:nvPr/>
        </p:nvSpPr>
        <p:spPr>
          <a:xfrm>
            <a:off x="4846320" y="2304288"/>
            <a:ext cx="3840480" cy="347472"/>
          </a:xfrm>
          <a:prstGeom prst="rect">
            <a:avLst/>
          </a:prstGeom>
          <a:noFill/>
          <a:ln/>
        </p:spPr>
        <p:txBody>
          <a:bodyPr wrap="square" lIns="0" tIns="0" rIns="0" bIns="0" rtlCol="0" anchor="ctr"/>
          <a:lstStyle/>
          <a:p>
            <a:pPr marL="0" indent="0">
              <a:buNone/>
            </a:pPr>
            <a:r>
              <a:rPr lang="en-US" sz="1300" b="1" dirty="0">
                <a:solidFill>
                  <a:srgbClr val="7C3AED"/>
                </a:solidFill>
              </a:rPr>
              <a:t>🏢  Outsourcing / MSSPs</a:t>
            </a:r>
            <a:endParaRPr lang="en-US" sz="1300" dirty="0"/>
          </a:p>
        </p:txBody>
      </p:sp>
      <p:sp>
        <p:nvSpPr>
          <p:cNvPr id="15" name="Text 13"/>
          <p:cNvSpPr/>
          <p:nvPr/>
        </p:nvSpPr>
        <p:spPr>
          <a:xfrm>
            <a:off x="4846320" y="2670048"/>
            <a:ext cx="3840480" cy="566928"/>
          </a:xfrm>
          <a:prstGeom prst="rect">
            <a:avLst/>
          </a:prstGeom>
          <a:noFill/>
          <a:ln/>
        </p:spPr>
        <p:txBody>
          <a:bodyPr wrap="square" lIns="0" tIns="0" rIns="0" bIns="0" rtlCol="0" anchor="ctr"/>
          <a:lstStyle/>
          <a:p>
            <a:pPr marL="0" indent="0">
              <a:buNone/>
            </a:pPr>
            <a:r>
              <a:rPr lang="en-US" sz="1000" dirty="0">
                <a:solidFill>
                  <a:srgbClr val="CBD5E1"/>
                </a:solidFill>
              </a:rPr>
              <a:t>Managed Security Service Provider takes on monitoring, response SLAs</a:t>
            </a:r>
            <a:endParaRPr lang="en-US" sz="1000" dirty="0"/>
          </a:p>
        </p:txBody>
      </p:sp>
      <p:sp>
        <p:nvSpPr>
          <p:cNvPr id="16" name="Shape 14"/>
          <p:cNvSpPr/>
          <p:nvPr/>
        </p:nvSpPr>
        <p:spPr>
          <a:xfrm>
            <a:off x="274320" y="3511296"/>
            <a:ext cx="4206240" cy="1143000"/>
          </a:xfrm>
          <a:prstGeom prst="rect">
            <a:avLst/>
          </a:prstGeom>
          <a:solidFill>
            <a:srgbClr val="1A2D45"/>
          </a:solidFill>
          <a:ln w="12700">
            <a:solidFill>
              <a:srgbClr val="7C3AED"/>
            </a:solidFill>
            <a:prstDash val="solid"/>
          </a:ln>
          <a:effectLst>
            <a:outerShdw blurRad="127000" dist="38100" dir="8100000" algn="bl" rotWithShape="0">
              <a:srgbClr val="000000">
                <a:alpha val="20000"/>
              </a:srgbClr>
            </a:outerShdw>
          </a:effectLst>
        </p:spPr>
        <p:txBody>
          <a:bodyPr/>
          <a:lstStyle/>
          <a:p>
            <a:endParaRPr lang="en-US"/>
          </a:p>
        </p:txBody>
      </p:sp>
      <p:sp>
        <p:nvSpPr>
          <p:cNvPr id="17" name="Text 15"/>
          <p:cNvSpPr/>
          <p:nvPr/>
        </p:nvSpPr>
        <p:spPr>
          <a:xfrm>
            <a:off x="411480" y="3602736"/>
            <a:ext cx="3840480" cy="347472"/>
          </a:xfrm>
          <a:prstGeom prst="rect">
            <a:avLst/>
          </a:prstGeom>
          <a:noFill/>
          <a:ln/>
        </p:spPr>
        <p:txBody>
          <a:bodyPr wrap="square" lIns="0" tIns="0" rIns="0" bIns="0" rtlCol="0" anchor="ctr"/>
          <a:lstStyle/>
          <a:p>
            <a:pPr marL="0" indent="0">
              <a:buNone/>
            </a:pPr>
            <a:r>
              <a:rPr lang="en-US" sz="1300" b="1" dirty="0">
                <a:solidFill>
                  <a:srgbClr val="7C3AED"/>
                </a:solidFill>
              </a:rPr>
              <a:t>📄  SLAs &amp; Contracts</a:t>
            </a:r>
            <a:endParaRPr lang="en-US" sz="1300" dirty="0"/>
          </a:p>
        </p:txBody>
      </p:sp>
      <p:sp>
        <p:nvSpPr>
          <p:cNvPr id="18" name="Text 16"/>
          <p:cNvSpPr/>
          <p:nvPr/>
        </p:nvSpPr>
        <p:spPr>
          <a:xfrm>
            <a:off x="411480" y="3968496"/>
            <a:ext cx="3840480" cy="566928"/>
          </a:xfrm>
          <a:prstGeom prst="rect">
            <a:avLst/>
          </a:prstGeom>
          <a:noFill/>
          <a:ln/>
        </p:spPr>
        <p:txBody>
          <a:bodyPr wrap="square" lIns="0" tIns="0" rIns="0" bIns="0" rtlCol="0" anchor="ctr"/>
          <a:lstStyle/>
          <a:p>
            <a:pPr marL="0" indent="0">
              <a:buNone/>
            </a:pPr>
            <a:r>
              <a:rPr lang="en-US" sz="1000" dirty="0">
                <a:solidFill>
                  <a:srgbClr val="CBD5E1"/>
                </a:solidFill>
              </a:rPr>
              <a:t>Vendor contracts with liability clauses — breach = vendor pays penalties</a:t>
            </a:r>
            <a:endParaRPr lang="en-US" sz="1000" dirty="0"/>
          </a:p>
        </p:txBody>
      </p:sp>
      <p:sp>
        <p:nvSpPr>
          <p:cNvPr id="19" name="Shape 17"/>
          <p:cNvSpPr/>
          <p:nvPr/>
        </p:nvSpPr>
        <p:spPr>
          <a:xfrm>
            <a:off x="4709160" y="3511296"/>
            <a:ext cx="4206240" cy="1143000"/>
          </a:xfrm>
          <a:prstGeom prst="rect">
            <a:avLst/>
          </a:prstGeom>
          <a:solidFill>
            <a:srgbClr val="1A2D45"/>
          </a:solidFill>
          <a:ln w="12700">
            <a:solidFill>
              <a:srgbClr val="7C3AED"/>
            </a:solidFill>
            <a:prstDash val="solid"/>
          </a:ln>
          <a:effectLst>
            <a:outerShdw blurRad="127000" dist="38100" dir="8100000" algn="bl" rotWithShape="0">
              <a:srgbClr val="000000">
                <a:alpha val="20000"/>
              </a:srgbClr>
            </a:outerShdw>
          </a:effectLst>
        </p:spPr>
        <p:txBody>
          <a:bodyPr/>
          <a:lstStyle/>
          <a:p>
            <a:endParaRPr lang="en-US"/>
          </a:p>
        </p:txBody>
      </p:sp>
      <p:sp>
        <p:nvSpPr>
          <p:cNvPr id="20" name="Text 18"/>
          <p:cNvSpPr/>
          <p:nvPr/>
        </p:nvSpPr>
        <p:spPr>
          <a:xfrm>
            <a:off x="4846320" y="3602736"/>
            <a:ext cx="3840480" cy="347472"/>
          </a:xfrm>
          <a:prstGeom prst="rect">
            <a:avLst/>
          </a:prstGeom>
          <a:noFill/>
          <a:ln/>
        </p:spPr>
        <p:txBody>
          <a:bodyPr wrap="square" lIns="0" tIns="0" rIns="0" bIns="0" rtlCol="0" anchor="ctr"/>
          <a:lstStyle/>
          <a:p>
            <a:pPr marL="0" indent="0">
              <a:buNone/>
            </a:pPr>
            <a:r>
              <a:rPr lang="en-US" sz="1300" b="1" dirty="0">
                <a:solidFill>
                  <a:srgbClr val="7C3AED"/>
                </a:solidFill>
              </a:rPr>
              <a:t>☁️  Cloud Shared Responsibility</a:t>
            </a:r>
            <a:endParaRPr lang="en-US" sz="1300" dirty="0"/>
          </a:p>
        </p:txBody>
      </p:sp>
      <p:sp>
        <p:nvSpPr>
          <p:cNvPr id="21" name="Text 19"/>
          <p:cNvSpPr/>
          <p:nvPr/>
        </p:nvSpPr>
        <p:spPr>
          <a:xfrm>
            <a:off x="4846320" y="3968496"/>
            <a:ext cx="3840480" cy="566928"/>
          </a:xfrm>
          <a:prstGeom prst="rect">
            <a:avLst/>
          </a:prstGeom>
          <a:noFill/>
          <a:ln/>
        </p:spPr>
        <p:txBody>
          <a:bodyPr wrap="square" lIns="0" tIns="0" rIns="0" bIns="0" rtlCol="0" anchor="ctr"/>
          <a:lstStyle/>
          <a:p>
            <a:pPr marL="0" indent="0">
              <a:buNone/>
            </a:pPr>
            <a:r>
              <a:rPr lang="en-US" sz="1000" dirty="0">
                <a:solidFill>
                  <a:srgbClr val="CBD5E1"/>
                </a:solidFill>
              </a:rPr>
              <a:t>AWS/Azure handles physical &amp; infra security; you handle data &amp; app layer</a:t>
            </a:r>
            <a:endParaRPr lang="en-US" sz="1000" dirty="0"/>
          </a:p>
        </p:txBody>
      </p:sp>
      <p:sp>
        <p:nvSpPr>
          <p:cNvPr id="22" name="Shape 20"/>
          <p:cNvSpPr/>
          <p:nvPr/>
        </p:nvSpPr>
        <p:spPr>
          <a:xfrm>
            <a:off x="274320" y="4681728"/>
            <a:ext cx="8595360" cy="347472"/>
          </a:xfrm>
          <a:prstGeom prst="rect">
            <a:avLst/>
          </a:prstGeom>
          <a:solidFill>
            <a:srgbClr val="2D1B69"/>
          </a:solidFill>
          <a:ln w="12700">
            <a:solidFill>
              <a:srgbClr val="7C3AED"/>
            </a:solidFill>
            <a:prstDash val="solid"/>
          </a:ln>
        </p:spPr>
        <p:txBody>
          <a:bodyPr/>
          <a:lstStyle/>
          <a:p>
            <a:endParaRPr lang="en-US"/>
          </a:p>
        </p:txBody>
      </p:sp>
      <p:sp>
        <p:nvSpPr>
          <p:cNvPr id="23" name="Text 21"/>
          <p:cNvSpPr/>
          <p:nvPr/>
        </p:nvSpPr>
        <p:spPr>
          <a:xfrm>
            <a:off x="457200" y="4700016"/>
            <a:ext cx="8229600" cy="320040"/>
          </a:xfrm>
          <a:prstGeom prst="rect">
            <a:avLst/>
          </a:prstGeom>
          <a:noFill/>
          <a:ln/>
        </p:spPr>
        <p:txBody>
          <a:bodyPr wrap="square" lIns="0" tIns="0" rIns="0" bIns="0" rtlCol="0" anchor="ctr"/>
          <a:lstStyle/>
          <a:p>
            <a:pPr marL="0" indent="0">
              <a:buNone/>
            </a:pPr>
            <a:r>
              <a:rPr lang="en-US" sz="1000" dirty="0">
                <a:solidFill>
                  <a:srgbClr val="DDD6FE"/>
                </a:solidFill>
              </a:rPr>
              <a:t>⚡  Key reminder: Transfer shifts financial impact, not legal liability. You're still responsible for compliance (GDPR, HIPAA).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59669"/>
          </a:solidFill>
          <a:ln w="12700">
            <a:solidFill>
              <a:srgbClr val="059669"/>
            </a:solidFill>
            <a:prstDash val="solid"/>
          </a:ln>
        </p:spPr>
        <p:txBody>
          <a:bodyPr/>
          <a:lstStyle/>
          <a:p>
            <a:endParaRPr lang="en-US"/>
          </a:p>
        </p:txBody>
      </p:sp>
      <p:sp>
        <p:nvSpPr>
          <p:cNvPr id="3" name="Text 1"/>
          <p:cNvSpPr/>
          <p:nvPr/>
        </p:nvSpPr>
        <p:spPr>
          <a:xfrm>
            <a:off x="365760" y="36576"/>
            <a:ext cx="3657600" cy="411480"/>
          </a:xfrm>
          <a:prstGeom prst="rect">
            <a:avLst/>
          </a:prstGeom>
          <a:noFill/>
          <a:ln/>
        </p:spPr>
        <p:txBody>
          <a:bodyPr wrap="square" lIns="0" tIns="0" rIns="0" bIns="0" rtlCol="0" anchor="ctr"/>
          <a:lstStyle/>
          <a:p>
            <a:pPr marL="0" indent="0">
              <a:buNone/>
            </a:pPr>
            <a:r>
              <a:rPr lang="en-US" sz="2200" b="1" kern="0" spc="400" dirty="0">
                <a:solidFill>
                  <a:srgbClr val="FFFFFF"/>
                </a:solidFill>
              </a:rPr>
              <a:t>✅  ACCEPT</a:t>
            </a:r>
            <a:endParaRPr lang="en-US" sz="2200" dirty="0"/>
          </a:p>
        </p:txBody>
      </p:sp>
      <p:sp>
        <p:nvSpPr>
          <p:cNvPr id="4" name="Text 2"/>
          <p:cNvSpPr/>
          <p:nvPr/>
        </p:nvSpPr>
        <p:spPr>
          <a:xfrm>
            <a:off x="365760" y="457200"/>
            <a:ext cx="2743200" cy="347472"/>
          </a:xfrm>
          <a:prstGeom prst="rect">
            <a:avLst/>
          </a:prstGeom>
          <a:noFill/>
          <a:ln/>
        </p:spPr>
        <p:txBody>
          <a:bodyPr wrap="square" lIns="0" tIns="0" rIns="0" bIns="0" rtlCol="0" anchor="ctr"/>
          <a:lstStyle/>
          <a:p>
            <a:pPr marL="0" indent="0">
              <a:buNone/>
            </a:pPr>
            <a:r>
              <a:rPr lang="en-US" sz="1100" dirty="0">
                <a:solidFill>
                  <a:srgbClr val="A7F3D0"/>
                </a:solidFill>
              </a:rPr>
              <a:t>Strategy 4 of 6</a:t>
            </a:r>
            <a:endParaRPr lang="en-US" sz="1100" dirty="0"/>
          </a:p>
        </p:txBody>
      </p:sp>
      <p:sp>
        <p:nvSpPr>
          <p:cNvPr id="5" name="Text 3"/>
          <p:cNvSpPr/>
          <p:nvPr/>
        </p:nvSpPr>
        <p:spPr>
          <a:xfrm>
            <a:off x="3200400" y="164592"/>
            <a:ext cx="5577840" cy="502920"/>
          </a:xfrm>
          <a:prstGeom prst="rect">
            <a:avLst/>
          </a:prstGeom>
          <a:noFill/>
          <a:ln/>
        </p:spPr>
        <p:txBody>
          <a:bodyPr wrap="square" lIns="0" tIns="0" rIns="0" bIns="0" rtlCol="0" anchor="ctr"/>
          <a:lstStyle/>
          <a:p>
            <a:pPr marL="0" indent="0" algn="r">
              <a:buNone/>
            </a:pPr>
            <a:r>
              <a:rPr lang="en-US" sz="1500" i="1" dirty="0">
                <a:solidFill>
                  <a:srgbClr val="FFFFFF"/>
                </a:solidFill>
              </a:rPr>
              <a:t>Consciously decide to live with the risk</a:t>
            </a:r>
            <a:endParaRPr lang="en-US" sz="1500" dirty="0"/>
          </a:p>
        </p:txBody>
      </p:sp>
      <p:sp>
        <p:nvSpPr>
          <p:cNvPr id="6" name="Shape 4"/>
          <p:cNvSpPr/>
          <p:nvPr/>
        </p:nvSpPr>
        <p:spPr>
          <a:xfrm>
            <a:off x="274320" y="1005840"/>
            <a:ext cx="8595360" cy="749808"/>
          </a:xfrm>
          <a:prstGeom prst="rect">
            <a:avLst/>
          </a:prstGeom>
          <a:solidFill>
            <a:srgbClr val="132338"/>
          </a:solidFill>
          <a:ln w="12700">
            <a:solidFill>
              <a:srgbClr val="059669"/>
            </a:solidFill>
            <a:prstDash val="solid"/>
          </a:ln>
        </p:spPr>
        <p:txBody>
          <a:bodyPr/>
          <a:lstStyle/>
          <a:p>
            <a:endParaRPr lang="en-US"/>
          </a:p>
        </p:txBody>
      </p:sp>
      <p:sp>
        <p:nvSpPr>
          <p:cNvPr id="7" name="Text 5"/>
          <p:cNvSpPr/>
          <p:nvPr/>
        </p:nvSpPr>
        <p:spPr>
          <a:xfrm>
            <a:off x="457200" y="1051560"/>
            <a:ext cx="2011680" cy="274320"/>
          </a:xfrm>
          <a:prstGeom prst="rect">
            <a:avLst/>
          </a:prstGeom>
          <a:noFill/>
          <a:ln/>
        </p:spPr>
        <p:txBody>
          <a:bodyPr wrap="square" lIns="0" tIns="0" rIns="0" bIns="0" rtlCol="0" anchor="ctr"/>
          <a:lstStyle/>
          <a:p>
            <a:pPr marL="0" indent="0">
              <a:buNone/>
            </a:pPr>
            <a:r>
              <a:rPr lang="en-US" sz="1000" b="1" dirty="0">
                <a:solidFill>
                  <a:srgbClr val="059669"/>
                </a:solidFill>
              </a:rPr>
              <a:t>What it means:</a:t>
            </a:r>
            <a:endParaRPr lang="en-US" sz="1000" dirty="0"/>
          </a:p>
        </p:txBody>
      </p:sp>
      <p:sp>
        <p:nvSpPr>
          <p:cNvPr id="8" name="Text 6"/>
          <p:cNvSpPr/>
          <p:nvPr/>
        </p:nvSpPr>
        <p:spPr>
          <a:xfrm>
            <a:off x="457200" y="1298448"/>
            <a:ext cx="8229600" cy="384048"/>
          </a:xfrm>
          <a:prstGeom prst="rect">
            <a:avLst/>
          </a:prstGeom>
          <a:noFill/>
          <a:ln/>
        </p:spPr>
        <p:txBody>
          <a:bodyPr wrap="square" lIns="0" tIns="0" rIns="0" bIns="0" rtlCol="0" anchor="ctr"/>
          <a:lstStyle/>
          <a:p>
            <a:pPr marL="0" indent="0">
              <a:buNone/>
            </a:pPr>
            <a:r>
              <a:rPr lang="en-US" sz="1100" dirty="0">
                <a:solidFill>
                  <a:srgbClr val="E2E8F0"/>
                </a:solidFill>
              </a:rPr>
              <a:t>You review the risk, understand it fully, and decide that no action is needed — because the cost or effort of responding outweighs the likely impact. This is NOT ignoring risk. It's a documented, intentional business decision.</a:t>
            </a:r>
            <a:endParaRPr lang="en-US" sz="1100" dirty="0"/>
          </a:p>
        </p:txBody>
      </p:sp>
      <p:sp>
        <p:nvSpPr>
          <p:cNvPr id="9" name="Text 7"/>
          <p:cNvSpPr/>
          <p:nvPr/>
        </p:nvSpPr>
        <p:spPr>
          <a:xfrm>
            <a:off x="274320" y="1874520"/>
            <a:ext cx="8229600" cy="256032"/>
          </a:xfrm>
          <a:prstGeom prst="rect">
            <a:avLst/>
          </a:prstGeom>
          <a:noFill/>
          <a:ln/>
        </p:spPr>
        <p:txBody>
          <a:bodyPr wrap="square" lIns="0" tIns="0" rIns="0" bIns="0" rtlCol="0" anchor="ctr"/>
          <a:lstStyle/>
          <a:p>
            <a:pPr marL="0" indent="0">
              <a:buNone/>
            </a:pPr>
            <a:r>
              <a:rPr lang="en-US" sz="900" b="1" kern="0" spc="300" dirty="0">
                <a:solidFill>
                  <a:srgbClr val="059669"/>
                </a:solidFill>
              </a:rPr>
              <a:t>TWO TYPES OF ACCEPTANCE</a:t>
            </a:r>
            <a:endParaRPr lang="en-US" sz="900" dirty="0"/>
          </a:p>
        </p:txBody>
      </p:sp>
      <p:sp>
        <p:nvSpPr>
          <p:cNvPr id="10" name="Shape 8"/>
          <p:cNvSpPr/>
          <p:nvPr/>
        </p:nvSpPr>
        <p:spPr>
          <a:xfrm>
            <a:off x="274320" y="2176272"/>
            <a:ext cx="4160520" cy="1353312"/>
          </a:xfrm>
          <a:prstGeom prst="rect">
            <a:avLst/>
          </a:prstGeom>
          <a:solidFill>
            <a:srgbClr val="1A2D45"/>
          </a:solidFill>
          <a:ln w="19050">
            <a:solidFill>
              <a:srgbClr val="059669"/>
            </a:solidFill>
            <a:prstDash val="solid"/>
          </a:ln>
        </p:spPr>
        <p:txBody>
          <a:bodyPr/>
          <a:lstStyle/>
          <a:p>
            <a:endParaRPr lang="en-US"/>
          </a:p>
        </p:txBody>
      </p:sp>
      <p:sp>
        <p:nvSpPr>
          <p:cNvPr id="11" name="Text 9"/>
          <p:cNvSpPr/>
          <p:nvPr/>
        </p:nvSpPr>
        <p:spPr>
          <a:xfrm>
            <a:off x="438912" y="2221992"/>
            <a:ext cx="3840480" cy="347472"/>
          </a:xfrm>
          <a:prstGeom prst="rect">
            <a:avLst/>
          </a:prstGeom>
          <a:noFill/>
          <a:ln/>
        </p:spPr>
        <p:txBody>
          <a:bodyPr wrap="square" lIns="0" tIns="0" rIns="0" bIns="0" rtlCol="0" anchor="ctr"/>
          <a:lstStyle/>
          <a:p>
            <a:pPr marL="0" indent="0">
              <a:buNone/>
            </a:pPr>
            <a:r>
              <a:rPr lang="en-US" sz="1300" b="1" dirty="0">
                <a:solidFill>
                  <a:srgbClr val="059669"/>
                </a:solidFill>
              </a:rPr>
              <a:t>Active Acceptance</a:t>
            </a:r>
            <a:endParaRPr lang="en-US" sz="1300" dirty="0"/>
          </a:p>
        </p:txBody>
      </p:sp>
      <p:sp>
        <p:nvSpPr>
          <p:cNvPr id="12" name="Text 10"/>
          <p:cNvSpPr/>
          <p:nvPr/>
        </p:nvSpPr>
        <p:spPr>
          <a:xfrm>
            <a:off x="438912" y="2578608"/>
            <a:ext cx="3840480" cy="914400"/>
          </a:xfrm>
          <a:prstGeom prst="rect">
            <a:avLst/>
          </a:prstGeom>
          <a:noFill/>
          <a:ln/>
        </p:spPr>
        <p:txBody>
          <a:bodyPr wrap="square" lIns="0" tIns="0" rIns="0" bIns="0" rtlCol="0" anchor="ctr"/>
          <a:lstStyle/>
          <a:p>
            <a:pPr marL="0" indent="0">
              <a:buNone/>
            </a:pPr>
            <a:r>
              <a:rPr lang="en-US" sz="1000" dirty="0">
                <a:solidFill>
                  <a:srgbClr val="CBD5E1"/>
                </a:solidFill>
              </a:rPr>
              <a:t>You create a contingency reserve — budget set aside to deal with the risk IF it occurs. You're prepared but not acting preemptively.</a:t>
            </a:r>
            <a:endParaRPr lang="en-US" sz="1000" dirty="0"/>
          </a:p>
          <a:p>
            <a:pPr marL="0" indent="0">
              <a:buNone/>
            </a:pPr>
            <a:endParaRPr lang="en-US" sz="1000" dirty="0"/>
          </a:p>
          <a:p>
            <a:pPr marL="0" indent="0">
              <a:buNone/>
            </a:pPr>
            <a:r>
              <a:rPr lang="en-US" sz="1000" dirty="0">
                <a:solidFill>
                  <a:srgbClr val="CBD5E1"/>
                </a:solidFill>
              </a:rPr>
              <a:t>Example: Setting aside $50K budget for a potential minor data breach.</a:t>
            </a:r>
            <a:endParaRPr lang="en-US" sz="1000" dirty="0"/>
          </a:p>
        </p:txBody>
      </p:sp>
      <p:sp>
        <p:nvSpPr>
          <p:cNvPr id="13" name="Shape 11"/>
          <p:cNvSpPr/>
          <p:nvPr/>
        </p:nvSpPr>
        <p:spPr>
          <a:xfrm>
            <a:off x="4709160" y="2176272"/>
            <a:ext cx="4160520" cy="1353312"/>
          </a:xfrm>
          <a:prstGeom prst="rect">
            <a:avLst/>
          </a:prstGeom>
          <a:solidFill>
            <a:srgbClr val="1A2D45"/>
          </a:solidFill>
          <a:ln w="19050">
            <a:solidFill>
              <a:srgbClr val="6EE7B7"/>
            </a:solidFill>
            <a:prstDash val="solid"/>
          </a:ln>
        </p:spPr>
        <p:txBody>
          <a:bodyPr/>
          <a:lstStyle/>
          <a:p>
            <a:endParaRPr lang="en-US"/>
          </a:p>
        </p:txBody>
      </p:sp>
      <p:sp>
        <p:nvSpPr>
          <p:cNvPr id="14" name="Text 12"/>
          <p:cNvSpPr/>
          <p:nvPr/>
        </p:nvSpPr>
        <p:spPr>
          <a:xfrm>
            <a:off x="4873752" y="2221992"/>
            <a:ext cx="3840480" cy="347472"/>
          </a:xfrm>
          <a:prstGeom prst="rect">
            <a:avLst/>
          </a:prstGeom>
          <a:noFill/>
          <a:ln/>
        </p:spPr>
        <p:txBody>
          <a:bodyPr wrap="square" lIns="0" tIns="0" rIns="0" bIns="0" rtlCol="0" anchor="ctr"/>
          <a:lstStyle/>
          <a:p>
            <a:pPr marL="0" indent="0">
              <a:buNone/>
            </a:pPr>
            <a:r>
              <a:rPr lang="en-US" sz="1300" b="1" dirty="0">
                <a:solidFill>
                  <a:srgbClr val="6EE7B7"/>
                </a:solidFill>
              </a:rPr>
              <a:t>Passive Acceptance</a:t>
            </a:r>
            <a:endParaRPr lang="en-US" sz="1300" dirty="0"/>
          </a:p>
        </p:txBody>
      </p:sp>
      <p:sp>
        <p:nvSpPr>
          <p:cNvPr id="15" name="Text 13"/>
          <p:cNvSpPr/>
          <p:nvPr/>
        </p:nvSpPr>
        <p:spPr>
          <a:xfrm>
            <a:off x="4873752" y="2578608"/>
            <a:ext cx="3840480" cy="914400"/>
          </a:xfrm>
          <a:prstGeom prst="rect">
            <a:avLst/>
          </a:prstGeom>
          <a:noFill/>
          <a:ln/>
        </p:spPr>
        <p:txBody>
          <a:bodyPr wrap="square" lIns="0" tIns="0" rIns="0" bIns="0" rtlCol="0" anchor="ctr"/>
          <a:lstStyle/>
          <a:p>
            <a:pPr marL="0" indent="0">
              <a:buNone/>
            </a:pPr>
            <a:r>
              <a:rPr lang="en-US" sz="1000" dirty="0">
                <a:solidFill>
                  <a:srgbClr val="CBD5E1"/>
                </a:solidFill>
              </a:rPr>
              <a:t>No action now — deal with it if and when it happens. Suitable for very low-probability, low-impact risks.</a:t>
            </a:r>
            <a:endParaRPr lang="en-US" sz="1000" dirty="0"/>
          </a:p>
          <a:p>
            <a:pPr marL="0" indent="0">
              <a:buNone/>
            </a:pPr>
            <a:endParaRPr lang="en-US" sz="1000" dirty="0"/>
          </a:p>
          <a:p>
            <a:pPr marL="0" indent="0">
              <a:buNone/>
            </a:pPr>
            <a:r>
              <a:rPr lang="en-US" sz="1000" dirty="0">
                <a:solidFill>
                  <a:srgbClr val="CBD5E1"/>
                </a:solidFill>
              </a:rPr>
              <a:t>Example: Accepting risk that a rarely-used internal tool might go offline briefly.</a:t>
            </a:r>
            <a:endParaRPr lang="en-US" sz="1000" dirty="0"/>
          </a:p>
        </p:txBody>
      </p:sp>
      <p:sp>
        <p:nvSpPr>
          <p:cNvPr id="16" name="Shape 14"/>
          <p:cNvSpPr/>
          <p:nvPr/>
        </p:nvSpPr>
        <p:spPr>
          <a:xfrm>
            <a:off x="274320" y="3657600"/>
            <a:ext cx="8595360" cy="1234440"/>
          </a:xfrm>
          <a:prstGeom prst="rect">
            <a:avLst/>
          </a:prstGeom>
          <a:solidFill>
            <a:srgbClr val="052E16"/>
          </a:solidFill>
          <a:ln w="25400">
            <a:solidFill>
              <a:srgbClr val="059669"/>
            </a:solidFill>
            <a:prstDash val="solid"/>
          </a:ln>
        </p:spPr>
        <p:txBody>
          <a:bodyPr/>
          <a:lstStyle/>
          <a:p>
            <a:endParaRPr lang="en-US"/>
          </a:p>
        </p:txBody>
      </p:sp>
      <p:sp>
        <p:nvSpPr>
          <p:cNvPr id="17" name="Text 15"/>
          <p:cNvSpPr/>
          <p:nvPr/>
        </p:nvSpPr>
        <p:spPr>
          <a:xfrm>
            <a:off x="457200" y="3712464"/>
            <a:ext cx="8229600" cy="347472"/>
          </a:xfrm>
          <a:prstGeom prst="rect">
            <a:avLst/>
          </a:prstGeom>
          <a:noFill/>
          <a:ln/>
        </p:spPr>
        <p:txBody>
          <a:bodyPr wrap="square" lIns="0" tIns="0" rIns="0" bIns="0" rtlCol="0" anchor="ctr"/>
          <a:lstStyle/>
          <a:p>
            <a:pPr marL="0" indent="0">
              <a:buNone/>
            </a:pPr>
            <a:r>
              <a:rPr lang="en-US" sz="1300" b="1" dirty="0">
                <a:solidFill>
                  <a:srgbClr val="059669"/>
                </a:solidFill>
              </a:rPr>
              <a:t>🔑  The Golden Rule of Acceptance</a:t>
            </a:r>
            <a:endParaRPr lang="en-US" sz="1300" dirty="0"/>
          </a:p>
        </p:txBody>
      </p:sp>
      <p:sp>
        <p:nvSpPr>
          <p:cNvPr id="18" name="Text 16"/>
          <p:cNvSpPr/>
          <p:nvPr/>
        </p:nvSpPr>
        <p:spPr>
          <a:xfrm>
            <a:off x="457200" y="4059936"/>
            <a:ext cx="8229600" cy="713232"/>
          </a:xfrm>
          <a:prstGeom prst="rect">
            <a:avLst/>
          </a:prstGeom>
          <a:noFill/>
          <a:ln/>
        </p:spPr>
        <p:txBody>
          <a:bodyPr wrap="square" lIns="0" tIns="0" rIns="0" bIns="0" rtlCol="0" anchor="ctr"/>
          <a:lstStyle/>
          <a:p>
            <a:pPr marL="0" indent="0">
              <a:buNone/>
            </a:pPr>
            <a:r>
              <a:rPr lang="en-US" sz="1050" dirty="0">
                <a:solidFill>
                  <a:srgbClr val="E2E8F0"/>
                </a:solidFill>
              </a:rPr>
              <a:t>Acceptance must ALWAYS be documented with a risk owner who signs off. "We know about this, we've evaluated it, and we accept the risk" — that's defensible. Silently ignoring a risk is never acceptance; it's negligence.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D97706"/>
          </a:solidFill>
          <a:ln w="12700">
            <a:solidFill>
              <a:srgbClr val="D97706"/>
            </a:solidFill>
            <a:prstDash val="solid"/>
          </a:ln>
        </p:spPr>
        <p:txBody>
          <a:bodyPr/>
          <a:lstStyle/>
          <a:p>
            <a:endParaRPr lang="en-US"/>
          </a:p>
        </p:txBody>
      </p:sp>
      <p:sp>
        <p:nvSpPr>
          <p:cNvPr id="3" name="Text 1"/>
          <p:cNvSpPr/>
          <p:nvPr/>
        </p:nvSpPr>
        <p:spPr>
          <a:xfrm>
            <a:off x="365760" y="36576"/>
            <a:ext cx="3657600" cy="411480"/>
          </a:xfrm>
          <a:prstGeom prst="rect">
            <a:avLst/>
          </a:prstGeom>
          <a:noFill/>
          <a:ln/>
        </p:spPr>
        <p:txBody>
          <a:bodyPr wrap="square" lIns="0" tIns="0" rIns="0" bIns="0" rtlCol="0" anchor="ctr"/>
          <a:lstStyle/>
          <a:p>
            <a:pPr marL="0" indent="0">
              <a:buNone/>
            </a:pPr>
            <a:r>
              <a:rPr lang="en-US" sz="2200" b="1" kern="0" spc="400" dirty="0">
                <a:solidFill>
                  <a:srgbClr val="FFFFFF"/>
                </a:solidFill>
              </a:rPr>
              <a:t>🚀  EXPLOIT</a:t>
            </a:r>
            <a:endParaRPr lang="en-US" sz="2200" dirty="0"/>
          </a:p>
        </p:txBody>
      </p:sp>
      <p:sp>
        <p:nvSpPr>
          <p:cNvPr id="4" name="Text 2"/>
          <p:cNvSpPr/>
          <p:nvPr/>
        </p:nvSpPr>
        <p:spPr>
          <a:xfrm>
            <a:off x="365760" y="457200"/>
            <a:ext cx="8412480" cy="347472"/>
          </a:xfrm>
          <a:prstGeom prst="rect">
            <a:avLst/>
          </a:prstGeom>
          <a:noFill/>
          <a:ln/>
        </p:spPr>
        <p:txBody>
          <a:bodyPr wrap="square" lIns="0" tIns="0" rIns="0" bIns="0" rtlCol="0" anchor="ctr"/>
          <a:lstStyle/>
          <a:p>
            <a:pPr marL="0" indent="0">
              <a:buNone/>
            </a:pPr>
            <a:r>
              <a:rPr lang="en-US" sz="1100" dirty="0">
                <a:solidFill>
                  <a:srgbClr val="FDE68A"/>
                </a:solidFill>
              </a:rPr>
              <a:t>Strategy 5 of 6  ·  For POSITIVE risks (Opportunities)</a:t>
            </a:r>
            <a:endParaRPr lang="en-US" sz="1100" dirty="0"/>
          </a:p>
        </p:txBody>
      </p:sp>
      <p:sp>
        <p:nvSpPr>
          <p:cNvPr id="5" name="Shape 3"/>
          <p:cNvSpPr/>
          <p:nvPr/>
        </p:nvSpPr>
        <p:spPr>
          <a:xfrm>
            <a:off x="274320" y="1005840"/>
            <a:ext cx="8595360" cy="914400"/>
          </a:xfrm>
          <a:prstGeom prst="rect">
            <a:avLst/>
          </a:prstGeom>
          <a:solidFill>
            <a:srgbClr val="132338"/>
          </a:solidFill>
          <a:ln w="12700">
            <a:solidFill>
              <a:srgbClr val="D97706"/>
            </a:solidFill>
            <a:prstDash val="solid"/>
          </a:ln>
        </p:spPr>
        <p:txBody>
          <a:bodyPr/>
          <a:lstStyle/>
          <a:p>
            <a:endParaRPr lang="en-US"/>
          </a:p>
        </p:txBody>
      </p:sp>
      <p:sp>
        <p:nvSpPr>
          <p:cNvPr id="6" name="Text 4"/>
          <p:cNvSpPr/>
          <p:nvPr/>
        </p:nvSpPr>
        <p:spPr>
          <a:xfrm>
            <a:off x="457200" y="1042416"/>
            <a:ext cx="8229600" cy="274320"/>
          </a:xfrm>
          <a:prstGeom prst="rect">
            <a:avLst/>
          </a:prstGeom>
          <a:noFill/>
          <a:ln/>
        </p:spPr>
        <p:txBody>
          <a:bodyPr wrap="square" lIns="0" tIns="0" rIns="0" bIns="0" rtlCol="0" anchor="ctr"/>
          <a:lstStyle/>
          <a:p>
            <a:pPr marL="0" indent="0">
              <a:buNone/>
            </a:pPr>
            <a:r>
              <a:rPr lang="en-US" sz="1000" b="1" dirty="0">
                <a:solidFill>
                  <a:srgbClr val="D97706"/>
                </a:solidFill>
              </a:rPr>
              <a:t>Wait — isn't risk always bad?</a:t>
            </a:r>
            <a:endParaRPr lang="en-US" sz="1000" dirty="0"/>
          </a:p>
        </p:txBody>
      </p:sp>
      <p:sp>
        <p:nvSpPr>
          <p:cNvPr id="7" name="Text 5"/>
          <p:cNvSpPr/>
          <p:nvPr/>
        </p:nvSpPr>
        <p:spPr>
          <a:xfrm>
            <a:off x="457200" y="1298448"/>
            <a:ext cx="8229600" cy="530352"/>
          </a:xfrm>
          <a:prstGeom prst="rect">
            <a:avLst/>
          </a:prstGeom>
          <a:noFill/>
          <a:ln/>
        </p:spPr>
        <p:txBody>
          <a:bodyPr wrap="square" lIns="0" tIns="0" rIns="0" bIns="0" rtlCol="0" anchor="ctr"/>
          <a:lstStyle/>
          <a:p>
            <a:pPr marL="0" indent="0">
              <a:buNone/>
            </a:pPr>
            <a:r>
              <a:rPr lang="en-US" sz="1100" dirty="0">
                <a:solidFill>
                  <a:srgbClr val="E2E8F0"/>
                </a:solidFill>
              </a:rPr>
              <a:t>Not in formal risk management! Risks can be positive (opportunities) — events that, if they happen, benefit the project or organization. Exploit means taking deliberate action to make sure an opportunity actually occurs.</a:t>
            </a:r>
            <a:endParaRPr lang="en-US" sz="1100" dirty="0"/>
          </a:p>
        </p:txBody>
      </p:sp>
      <p:sp>
        <p:nvSpPr>
          <p:cNvPr id="8" name="Text 6"/>
          <p:cNvSpPr/>
          <p:nvPr/>
        </p:nvSpPr>
        <p:spPr>
          <a:xfrm>
            <a:off x="274320" y="2057400"/>
            <a:ext cx="8229600" cy="256032"/>
          </a:xfrm>
          <a:prstGeom prst="rect">
            <a:avLst/>
          </a:prstGeom>
          <a:noFill/>
          <a:ln/>
        </p:spPr>
        <p:txBody>
          <a:bodyPr wrap="square" lIns="0" tIns="0" rIns="0" bIns="0" rtlCol="0" anchor="ctr"/>
          <a:lstStyle/>
          <a:p>
            <a:pPr marL="0" indent="0">
              <a:buNone/>
            </a:pPr>
            <a:r>
              <a:rPr lang="en-US" sz="900" b="1" kern="0" spc="300" dirty="0">
                <a:solidFill>
                  <a:srgbClr val="D97706"/>
                </a:solidFill>
              </a:rPr>
              <a:t>POSITIVE RISK RESPONSES</a:t>
            </a:r>
            <a:endParaRPr lang="en-US" sz="900" dirty="0"/>
          </a:p>
        </p:txBody>
      </p:sp>
      <p:sp>
        <p:nvSpPr>
          <p:cNvPr id="9" name="Shape 7"/>
          <p:cNvSpPr/>
          <p:nvPr/>
        </p:nvSpPr>
        <p:spPr>
          <a:xfrm>
            <a:off x="274320" y="2395728"/>
            <a:ext cx="4206240" cy="1207008"/>
          </a:xfrm>
          <a:prstGeom prst="rect">
            <a:avLst/>
          </a:prstGeom>
          <a:solidFill>
            <a:srgbClr val="1A2D45"/>
          </a:solidFill>
          <a:ln w="12700">
            <a:solidFill>
              <a:srgbClr val="D97706"/>
            </a:solidFill>
            <a:prstDash val="solid"/>
          </a:ln>
        </p:spPr>
        <p:txBody>
          <a:bodyPr/>
          <a:lstStyle/>
          <a:p>
            <a:endParaRPr lang="en-US"/>
          </a:p>
        </p:txBody>
      </p:sp>
      <p:sp>
        <p:nvSpPr>
          <p:cNvPr id="10" name="Text 8"/>
          <p:cNvSpPr/>
          <p:nvPr/>
        </p:nvSpPr>
        <p:spPr>
          <a:xfrm>
            <a:off x="411480" y="2487168"/>
            <a:ext cx="3840480" cy="292608"/>
          </a:xfrm>
          <a:prstGeom prst="rect">
            <a:avLst/>
          </a:prstGeom>
          <a:noFill/>
          <a:ln/>
        </p:spPr>
        <p:txBody>
          <a:bodyPr wrap="square" lIns="0" tIns="0" rIns="0" bIns="0" rtlCol="0" anchor="ctr"/>
          <a:lstStyle/>
          <a:p>
            <a:pPr marL="0" indent="0">
              <a:buNone/>
            </a:pPr>
            <a:r>
              <a:rPr lang="en-US" sz="1100" b="1" kern="0" spc="200" dirty="0">
                <a:solidFill>
                  <a:srgbClr val="D97706"/>
                </a:solidFill>
              </a:rPr>
              <a:t>EXPLOIT</a:t>
            </a:r>
            <a:endParaRPr lang="en-US" sz="1100" dirty="0"/>
          </a:p>
        </p:txBody>
      </p:sp>
      <p:sp>
        <p:nvSpPr>
          <p:cNvPr id="11" name="Text 9"/>
          <p:cNvSpPr/>
          <p:nvPr/>
        </p:nvSpPr>
        <p:spPr>
          <a:xfrm>
            <a:off x="411480" y="2779776"/>
            <a:ext cx="3840480" cy="384048"/>
          </a:xfrm>
          <a:prstGeom prst="rect">
            <a:avLst/>
          </a:prstGeom>
          <a:noFill/>
          <a:ln/>
        </p:spPr>
        <p:txBody>
          <a:bodyPr wrap="square" lIns="0" tIns="0" rIns="0" bIns="0" rtlCol="0" anchor="ctr"/>
          <a:lstStyle/>
          <a:p>
            <a:pPr marL="0" indent="0">
              <a:buNone/>
            </a:pPr>
            <a:r>
              <a:rPr lang="en-US" sz="950" dirty="0">
                <a:solidFill>
                  <a:srgbClr val="E2E8F0"/>
                </a:solidFill>
              </a:rPr>
              <a:t>Ensure the opportunity definitely happens. Assign best resources, remove blockers, guarantee the outcome.</a:t>
            </a:r>
            <a:endParaRPr lang="en-US" sz="950" dirty="0"/>
          </a:p>
        </p:txBody>
      </p:sp>
      <p:sp>
        <p:nvSpPr>
          <p:cNvPr id="12" name="Text 10"/>
          <p:cNvSpPr/>
          <p:nvPr/>
        </p:nvSpPr>
        <p:spPr>
          <a:xfrm>
            <a:off x="411480" y="3172968"/>
            <a:ext cx="3840480" cy="365760"/>
          </a:xfrm>
          <a:prstGeom prst="rect">
            <a:avLst/>
          </a:prstGeom>
          <a:noFill/>
          <a:ln/>
        </p:spPr>
        <p:txBody>
          <a:bodyPr wrap="square" lIns="0" tIns="0" rIns="0" bIns="0" rtlCol="0" anchor="ctr"/>
          <a:lstStyle/>
          <a:p>
            <a:pPr marL="0" indent="0">
              <a:buNone/>
            </a:pPr>
            <a:r>
              <a:rPr lang="en-US" sz="900" i="1" dirty="0">
                <a:solidFill>
                  <a:srgbClr val="94A3B8"/>
                </a:solidFill>
              </a:rPr>
              <a:t>e.g. Assign senior devs to ensure a faster-than-expected launch captures market share.</a:t>
            </a:r>
            <a:endParaRPr lang="en-US" sz="900" dirty="0"/>
          </a:p>
        </p:txBody>
      </p:sp>
      <p:sp>
        <p:nvSpPr>
          <p:cNvPr id="13" name="Shape 11"/>
          <p:cNvSpPr/>
          <p:nvPr/>
        </p:nvSpPr>
        <p:spPr>
          <a:xfrm>
            <a:off x="4709160" y="2395728"/>
            <a:ext cx="4206240" cy="1207008"/>
          </a:xfrm>
          <a:prstGeom prst="rect">
            <a:avLst/>
          </a:prstGeom>
          <a:solidFill>
            <a:srgbClr val="1A2D45"/>
          </a:solidFill>
          <a:ln w="12700">
            <a:solidFill>
              <a:srgbClr val="34D399"/>
            </a:solidFill>
            <a:prstDash val="solid"/>
          </a:ln>
        </p:spPr>
        <p:txBody>
          <a:bodyPr/>
          <a:lstStyle/>
          <a:p>
            <a:endParaRPr lang="en-US"/>
          </a:p>
        </p:txBody>
      </p:sp>
      <p:sp>
        <p:nvSpPr>
          <p:cNvPr id="14" name="Text 12"/>
          <p:cNvSpPr/>
          <p:nvPr/>
        </p:nvSpPr>
        <p:spPr>
          <a:xfrm>
            <a:off x="4846320" y="2487168"/>
            <a:ext cx="3840480" cy="292608"/>
          </a:xfrm>
          <a:prstGeom prst="rect">
            <a:avLst/>
          </a:prstGeom>
          <a:noFill/>
          <a:ln/>
        </p:spPr>
        <p:txBody>
          <a:bodyPr wrap="square" lIns="0" tIns="0" rIns="0" bIns="0" rtlCol="0" anchor="ctr"/>
          <a:lstStyle/>
          <a:p>
            <a:pPr marL="0" indent="0">
              <a:buNone/>
            </a:pPr>
            <a:r>
              <a:rPr lang="en-US" sz="1100" b="1" kern="0" spc="200" dirty="0">
                <a:solidFill>
                  <a:srgbClr val="34D399"/>
                </a:solidFill>
              </a:rPr>
              <a:t>ENHANCE</a:t>
            </a:r>
            <a:endParaRPr lang="en-US" sz="1100" dirty="0"/>
          </a:p>
        </p:txBody>
      </p:sp>
      <p:sp>
        <p:nvSpPr>
          <p:cNvPr id="15" name="Text 13"/>
          <p:cNvSpPr/>
          <p:nvPr/>
        </p:nvSpPr>
        <p:spPr>
          <a:xfrm>
            <a:off x="4846320" y="2779776"/>
            <a:ext cx="3840480" cy="384048"/>
          </a:xfrm>
          <a:prstGeom prst="rect">
            <a:avLst/>
          </a:prstGeom>
          <a:noFill/>
          <a:ln/>
        </p:spPr>
        <p:txBody>
          <a:bodyPr wrap="square" lIns="0" tIns="0" rIns="0" bIns="0" rtlCol="0" anchor="ctr"/>
          <a:lstStyle/>
          <a:p>
            <a:pPr marL="0" indent="0">
              <a:buNone/>
            </a:pPr>
            <a:r>
              <a:rPr lang="en-US" sz="950" dirty="0">
                <a:solidFill>
                  <a:srgbClr val="E2E8F0"/>
                </a:solidFill>
              </a:rPr>
              <a:t>Increase the probability or impact of the opportunity occurring.</a:t>
            </a:r>
            <a:endParaRPr lang="en-US" sz="950" dirty="0"/>
          </a:p>
        </p:txBody>
      </p:sp>
      <p:sp>
        <p:nvSpPr>
          <p:cNvPr id="16" name="Text 14"/>
          <p:cNvSpPr/>
          <p:nvPr/>
        </p:nvSpPr>
        <p:spPr>
          <a:xfrm>
            <a:off x="4846320" y="3172968"/>
            <a:ext cx="3840480" cy="365760"/>
          </a:xfrm>
          <a:prstGeom prst="rect">
            <a:avLst/>
          </a:prstGeom>
          <a:noFill/>
          <a:ln/>
        </p:spPr>
        <p:txBody>
          <a:bodyPr wrap="square" lIns="0" tIns="0" rIns="0" bIns="0" rtlCol="0" anchor="ctr"/>
          <a:lstStyle/>
          <a:p>
            <a:pPr marL="0" indent="0">
              <a:buNone/>
            </a:pPr>
            <a:r>
              <a:rPr lang="en-US" sz="900" i="1" dirty="0">
                <a:solidFill>
                  <a:srgbClr val="94A3B8"/>
                </a:solidFill>
              </a:rPr>
              <a:t>e.g. Add extra testing cycles to make a feature release more likely to succeed.</a:t>
            </a:r>
            <a:endParaRPr lang="en-US" sz="900" dirty="0"/>
          </a:p>
        </p:txBody>
      </p:sp>
      <p:sp>
        <p:nvSpPr>
          <p:cNvPr id="17" name="Shape 15"/>
          <p:cNvSpPr/>
          <p:nvPr/>
        </p:nvSpPr>
        <p:spPr>
          <a:xfrm>
            <a:off x="274320" y="3749040"/>
            <a:ext cx="4206240" cy="1207008"/>
          </a:xfrm>
          <a:prstGeom prst="rect">
            <a:avLst/>
          </a:prstGeom>
          <a:solidFill>
            <a:srgbClr val="1A2D45"/>
          </a:solidFill>
          <a:ln w="12700">
            <a:solidFill>
              <a:srgbClr val="60A5FA"/>
            </a:solidFill>
            <a:prstDash val="solid"/>
          </a:ln>
        </p:spPr>
        <p:txBody>
          <a:bodyPr/>
          <a:lstStyle/>
          <a:p>
            <a:endParaRPr lang="en-US"/>
          </a:p>
        </p:txBody>
      </p:sp>
      <p:sp>
        <p:nvSpPr>
          <p:cNvPr id="18" name="Text 16"/>
          <p:cNvSpPr/>
          <p:nvPr/>
        </p:nvSpPr>
        <p:spPr>
          <a:xfrm>
            <a:off x="411480" y="3840480"/>
            <a:ext cx="3840480" cy="292608"/>
          </a:xfrm>
          <a:prstGeom prst="rect">
            <a:avLst/>
          </a:prstGeom>
          <a:noFill/>
          <a:ln/>
        </p:spPr>
        <p:txBody>
          <a:bodyPr wrap="square" lIns="0" tIns="0" rIns="0" bIns="0" rtlCol="0" anchor="ctr"/>
          <a:lstStyle/>
          <a:p>
            <a:pPr marL="0" indent="0">
              <a:buNone/>
            </a:pPr>
            <a:r>
              <a:rPr lang="en-US" sz="1100" b="1" kern="0" spc="200" dirty="0">
                <a:solidFill>
                  <a:srgbClr val="60A5FA"/>
                </a:solidFill>
              </a:rPr>
              <a:t>SHARE</a:t>
            </a:r>
            <a:endParaRPr lang="en-US" sz="1100" dirty="0"/>
          </a:p>
        </p:txBody>
      </p:sp>
      <p:sp>
        <p:nvSpPr>
          <p:cNvPr id="19" name="Text 17"/>
          <p:cNvSpPr/>
          <p:nvPr/>
        </p:nvSpPr>
        <p:spPr>
          <a:xfrm>
            <a:off x="411480" y="4133088"/>
            <a:ext cx="3840480" cy="384048"/>
          </a:xfrm>
          <a:prstGeom prst="rect">
            <a:avLst/>
          </a:prstGeom>
          <a:noFill/>
          <a:ln/>
        </p:spPr>
        <p:txBody>
          <a:bodyPr wrap="square" lIns="0" tIns="0" rIns="0" bIns="0" rtlCol="0" anchor="ctr"/>
          <a:lstStyle/>
          <a:p>
            <a:pPr marL="0" indent="0">
              <a:buNone/>
            </a:pPr>
            <a:r>
              <a:rPr lang="en-US" sz="950" dirty="0">
                <a:solidFill>
                  <a:srgbClr val="E2E8F0"/>
                </a:solidFill>
              </a:rPr>
              <a:t>Partner with another party who is better positioned to capture the opportunity.</a:t>
            </a:r>
            <a:endParaRPr lang="en-US" sz="950" dirty="0"/>
          </a:p>
        </p:txBody>
      </p:sp>
      <p:sp>
        <p:nvSpPr>
          <p:cNvPr id="20" name="Text 18"/>
          <p:cNvSpPr/>
          <p:nvPr/>
        </p:nvSpPr>
        <p:spPr>
          <a:xfrm>
            <a:off x="411480" y="4526280"/>
            <a:ext cx="3840480" cy="365760"/>
          </a:xfrm>
          <a:prstGeom prst="rect">
            <a:avLst/>
          </a:prstGeom>
          <a:noFill/>
          <a:ln/>
        </p:spPr>
        <p:txBody>
          <a:bodyPr wrap="square" lIns="0" tIns="0" rIns="0" bIns="0" rtlCol="0" anchor="ctr"/>
          <a:lstStyle/>
          <a:p>
            <a:pPr marL="0" indent="0">
              <a:buNone/>
            </a:pPr>
            <a:r>
              <a:rPr lang="en-US" sz="900" i="1" dirty="0">
                <a:solidFill>
                  <a:srgbClr val="94A3B8"/>
                </a:solidFill>
              </a:rPr>
              <a:t>e.g. Joint venture with a cloud provider to co-develop a security product.</a:t>
            </a:r>
            <a:endParaRPr lang="en-US" sz="900" dirty="0"/>
          </a:p>
        </p:txBody>
      </p:sp>
      <p:sp>
        <p:nvSpPr>
          <p:cNvPr id="21" name="Shape 19"/>
          <p:cNvSpPr/>
          <p:nvPr/>
        </p:nvSpPr>
        <p:spPr>
          <a:xfrm>
            <a:off x="4709160" y="3749040"/>
            <a:ext cx="4206240" cy="1207008"/>
          </a:xfrm>
          <a:prstGeom prst="rect">
            <a:avLst/>
          </a:prstGeom>
          <a:solidFill>
            <a:srgbClr val="1A2D45"/>
          </a:solidFill>
          <a:ln w="12700">
            <a:solidFill>
              <a:srgbClr val="059669"/>
            </a:solidFill>
            <a:prstDash val="solid"/>
          </a:ln>
        </p:spPr>
        <p:txBody>
          <a:bodyPr/>
          <a:lstStyle/>
          <a:p>
            <a:endParaRPr lang="en-US"/>
          </a:p>
        </p:txBody>
      </p:sp>
      <p:sp>
        <p:nvSpPr>
          <p:cNvPr id="22" name="Text 20"/>
          <p:cNvSpPr/>
          <p:nvPr/>
        </p:nvSpPr>
        <p:spPr>
          <a:xfrm>
            <a:off x="4846320" y="3840480"/>
            <a:ext cx="3840480" cy="292608"/>
          </a:xfrm>
          <a:prstGeom prst="rect">
            <a:avLst/>
          </a:prstGeom>
          <a:noFill/>
          <a:ln/>
        </p:spPr>
        <p:txBody>
          <a:bodyPr wrap="square" lIns="0" tIns="0" rIns="0" bIns="0" rtlCol="0" anchor="ctr"/>
          <a:lstStyle/>
          <a:p>
            <a:pPr marL="0" indent="0">
              <a:buNone/>
            </a:pPr>
            <a:r>
              <a:rPr lang="en-US" sz="1100" b="1" kern="0" spc="200" dirty="0">
                <a:solidFill>
                  <a:srgbClr val="059669"/>
                </a:solidFill>
              </a:rPr>
              <a:t>ACCEPT</a:t>
            </a:r>
            <a:endParaRPr lang="en-US" sz="1100" dirty="0"/>
          </a:p>
        </p:txBody>
      </p:sp>
      <p:sp>
        <p:nvSpPr>
          <p:cNvPr id="23" name="Text 21"/>
          <p:cNvSpPr/>
          <p:nvPr/>
        </p:nvSpPr>
        <p:spPr>
          <a:xfrm>
            <a:off x="4846320" y="4133088"/>
            <a:ext cx="3840480" cy="384048"/>
          </a:xfrm>
          <a:prstGeom prst="rect">
            <a:avLst/>
          </a:prstGeom>
          <a:noFill/>
          <a:ln/>
        </p:spPr>
        <p:txBody>
          <a:bodyPr wrap="square" lIns="0" tIns="0" rIns="0" bIns="0" rtlCol="0" anchor="ctr"/>
          <a:lstStyle/>
          <a:p>
            <a:pPr marL="0" indent="0">
              <a:buNone/>
            </a:pPr>
            <a:r>
              <a:rPr lang="en-US" sz="950" dirty="0">
                <a:solidFill>
                  <a:srgbClr val="E2E8F0"/>
                </a:solidFill>
              </a:rPr>
              <a:t>Acknowledge the upside but take no proactive action — let it happen if it does.</a:t>
            </a:r>
            <a:endParaRPr lang="en-US" sz="950" dirty="0"/>
          </a:p>
        </p:txBody>
      </p:sp>
      <p:sp>
        <p:nvSpPr>
          <p:cNvPr id="24" name="Text 22"/>
          <p:cNvSpPr/>
          <p:nvPr/>
        </p:nvSpPr>
        <p:spPr>
          <a:xfrm>
            <a:off x="4846320" y="4526280"/>
            <a:ext cx="3840480" cy="365760"/>
          </a:xfrm>
          <a:prstGeom prst="rect">
            <a:avLst/>
          </a:prstGeom>
          <a:noFill/>
          <a:ln/>
        </p:spPr>
        <p:txBody>
          <a:bodyPr wrap="square" lIns="0" tIns="0" rIns="0" bIns="0" rtlCol="0" anchor="ctr"/>
          <a:lstStyle/>
          <a:p>
            <a:pPr marL="0" indent="0">
              <a:buNone/>
            </a:pPr>
            <a:r>
              <a:rPr lang="en-US" sz="900" i="1" dirty="0">
                <a:solidFill>
                  <a:srgbClr val="94A3B8"/>
                </a:solidFill>
              </a:rPr>
              <a:t>e.g. Note that an early completion is possible but don't restructure the team for it.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DB2777"/>
          </a:solidFill>
          <a:ln w="12700">
            <a:solidFill>
              <a:srgbClr val="DB2777"/>
            </a:solidFill>
            <a:prstDash val="solid"/>
          </a:ln>
        </p:spPr>
        <p:txBody>
          <a:bodyPr/>
          <a:lstStyle/>
          <a:p>
            <a:endParaRPr lang="en-US"/>
          </a:p>
        </p:txBody>
      </p:sp>
      <p:sp>
        <p:nvSpPr>
          <p:cNvPr id="3" name="Text 1"/>
          <p:cNvSpPr/>
          <p:nvPr/>
        </p:nvSpPr>
        <p:spPr>
          <a:xfrm>
            <a:off x="365760" y="36576"/>
            <a:ext cx="3657600" cy="411480"/>
          </a:xfrm>
          <a:prstGeom prst="rect">
            <a:avLst/>
          </a:prstGeom>
          <a:noFill/>
          <a:ln/>
        </p:spPr>
        <p:txBody>
          <a:bodyPr wrap="square" lIns="0" tIns="0" rIns="0" bIns="0" rtlCol="0" anchor="ctr"/>
          <a:lstStyle/>
          <a:p>
            <a:pPr marL="0" indent="0">
              <a:buNone/>
            </a:pPr>
            <a:r>
              <a:rPr lang="en-US" sz="2200" b="1" kern="0" spc="400" dirty="0">
                <a:solidFill>
                  <a:srgbClr val="FFFFFF"/>
                </a:solidFill>
              </a:rPr>
              <a:t>📣  ESCALATE</a:t>
            </a:r>
            <a:endParaRPr lang="en-US" sz="2200" dirty="0"/>
          </a:p>
        </p:txBody>
      </p:sp>
      <p:sp>
        <p:nvSpPr>
          <p:cNvPr id="4" name="Text 2"/>
          <p:cNvSpPr/>
          <p:nvPr/>
        </p:nvSpPr>
        <p:spPr>
          <a:xfrm>
            <a:off x="365760" y="457200"/>
            <a:ext cx="2743200" cy="347472"/>
          </a:xfrm>
          <a:prstGeom prst="rect">
            <a:avLst/>
          </a:prstGeom>
          <a:noFill/>
          <a:ln/>
        </p:spPr>
        <p:txBody>
          <a:bodyPr wrap="square" lIns="0" tIns="0" rIns="0" bIns="0" rtlCol="0" anchor="ctr"/>
          <a:lstStyle/>
          <a:p>
            <a:pPr marL="0" indent="0">
              <a:buNone/>
            </a:pPr>
            <a:r>
              <a:rPr lang="en-US" sz="1100" dirty="0">
                <a:solidFill>
                  <a:srgbClr val="FBCFE8"/>
                </a:solidFill>
              </a:rPr>
              <a:t>Strategy 6 of 6</a:t>
            </a:r>
            <a:endParaRPr lang="en-US" sz="1100" dirty="0"/>
          </a:p>
        </p:txBody>
      </p:sp>
      <p:sp>
        <p:nvSpPr>
          <p:cNvPr id="5" name="Text 3"/>
          <p:cNvSpPr/>
          <p:nvPr/>
        </p:nvSpPr>
        <p:spPr>
          <a:xfrm>
            <a:off x="2560320" y="164592"/>
            <a:ext cx="6217920" cy="502920"/>
          </a:xfrm>
          <a:prstGeom prst="rect">
            <a:avLst/>
          </a:prstGeom>
          <a:noFill/>
          <a:ln/>
        </p:spPr>
        <p:txBody>
          <a:bodyPr wrap="square" lIns="0" tIns="0" rIns="0" bIns="0" rtlCol="0" anchor="ctr"/>
          <a:lstStyle/>
          <a:p>
            <a:pPr marL="0" indent="0" algn="r">
              <a:buNone/>
            </a:pPr>
            <a:r>
              <a:rPr lang="en-US" sz="1300" i="1" dirty="0">
                <a:solidFill>
                  <a:srgbClr val="FFFFFF"/>
                </a:solidFill>
              </a:rPr>
              <a:t>Pass the risk to someone with the authority to handle it</a:t>
            </a:r>
            <a:endParaRPr lang="en-US" sz="1300" dirty="0"/>
          </a:p>
        </p:txBody>
      </p:sp>
      <p:sp>
        <p:nvSpPr>
          <p:cNvPr id="6" name="Shape 4"/>
          <p:cNvSpPr/>
          <p:nvPr/>
        </p:nvSpPr>
        <p:spPr>
          <a:xfrm>
            <a:off x="274320" y="1005840"/>
            <a:ext cx="8595360" cy="749808"/>
          </a:xfrm>
          <a:prstGeom prst="rect">
            <a:avLst/>
          </a:prstGeom>
          <a:solidFill>
            <a:srgbClr val="132338"/>
          </a:solidFill>
          <a:ln w="12700">
            <a:solidFill>
              <a:srgbClr val="DB2777"/>
            </a:solidFill>
            <a:prstDash val="solid"/>
          </a:ln>
        </p:spPr>
        <p:txBody>
          <a:bodyPr/>
          <a:lstStyle/>
          <a:p>
            <a:endParaRPr lang="en-US"/>
          </a:p>
        </p:txBody>
      </p:sp>
      <p:sp>
        <p:nvSpPr>
          <p:cNvPr id="7" name="Text 5"/>
          <p:cNvSpPr/>
          <p:nvPr/>
        </p:nvSpPr>
        <p:spPr>
          <a:xfrm>
            <a:off x="457200" y="1051560"/>
            <a:ext cx="2011680" cy="274320"/>
          </a:xfrm>
          <a:prstGeom prst="rect">
            <a:avLst/>
          </a:prstGeom>
          <a:noFill/>
          <a:ln/>
        </p:spPr>
        <p:txBody>
          <a:bodyPr wrap="square" lIns="0" tIns="0" rIns="0" bIns="0" rtlCol="0" anchor="ctr"/>
          <a:lstStyle/>
          <a:p>
            <a:pPr marL="0" indent="0">
              <a:buNone/>
            </a:pPr>
            <a:r>
              <a:rPr lang="en-US" sz="1000" b="1" dirty="0">
                <a:solidFill>
                  <a:srgbClr val="DB2777"/>
                </a:solidFill>
              </a:rPr>
              <a:t>What it means:</a:t>
            </a:r>
            <a:endParaRPr lang="en-US" sz="1000" dirty="0"/>
          </a:p>
        </p:txBody>
      </p:sp>
      <p:sp>
        <p:nvSpPr>
          <p:cNvPr id="8" name="Text 6"/>
          <p:cNvSpPr/>
          <p:nvPr/>
        </p:nvSpPr>
        <p:spPr>
          <a:xfrm>
            <a:off x="457200" y="1298448"/>
            <a:ext cx="8229600" cy="384048"/>
          </a:xfrm>
          <a:prstGeom prst="rect">
            <a:avLst/>
          </a:prstGeom>
          <a:noFill/>
          <a:ln/>
        </p:spPr>
        <p:txBody>
          <a:bodyPr wrap="square" lIns="0" tIns="0" rIns="0" bIns="0" rtlCol="0" anchor="ctr"/>
          <a:lstStyle/>
          <a:p>
            <a:pPr marL="0" indent="0">
              <a:buNone/>
            </a:pPr>
            <a:r>
              <a:rPr lang="en-US" sz="1100" dirty="0">
                <a:solidFill>
                  <a:srgbClr val="E2E8F0"/>
                </a:solidFill>
              </a:rPr>
              <a:t>The risk is outside your authority, budget, or scope to handle. You formally hand it off to a higher level — senior management, the PMO, the board — who can make the call. This is not passing the buck; it's responsible governance.</a:t>
            </a:r>
            <a:endParaRPr lang="en-US" sz="1100" dirty="0"/>
          </a:p>
        </p:txBody>
      </p:sp>
      <p:sp>
        <p:nvSpPr>
          <p:cNvPr id="9" name="Text 7"/>
          <p:cNvSpPr/>
          <p:nvPr/>
        </p:nvSpPr>
        <p:spPr>
          <a:xfrm>
            <a:off x="274320" y="1901952"/>
            <a:ext cx="4572000" cy="256032"/>
          </a:xfrm>
          <a:prstGeom prst="rect">
            <a:avLst/>
          </a:prstGeom>
          <a:noFill/>
          <a:ln/>
        </p:spPr>
        <p:txBody>
          <a:bodyPr wrap="square" lIns="0" tIns="0" rIns="0" bIns="0" rtlCol="0" anchor="ctr"/>
          <a:lstStyle/>
          <a:p>
            <a:pPr marL="0" indent="0">
              <a:buNone/>
            </a:pPr>
            <a:r>
              <a:rPr lang="en-US" sz="900" b="1" kern="0" spc="300" dirty="0">
                <a:solidFill>
                  <a:srgbClr val="DB2777"/>
                </a:solidFill>
              </a:rPr>
              <a:t>THE ESCALATION LADDER</a:t>
            </a:r>
            <a:endParaRPr lang="en-US" sz="900" dirty="0"/>
          </a:p>
        </p:txBody>
      </p:sp>
      <p:sp>
        <p:nvSpPr>
          <p:cNvPr id="10" name="Shape 8"/>
          <p:cNvSpPr/>
          <p:nvPr/>
        </p:nvSpPr>
        <p:spPr>
          <a:xfrm>
            <a:off x="274320" y="2240280"/>
            <a:ext cx="5029200" cy="548640"/>
          </a:xfrm>
          <a:prstGeom prst="rect">
            <a:avLst/>
          </a:prstGeom>
          <a:solidFill>
            <a:srgbClr val="1A2D45"/>
          </a:solidFill>
          <a:ln w="12700">
            <a:solidFill>
              <a:srgbClr val="FBCFE8"/>
            </a:solidFill>
            <a:prstDash val="solid"/>
          </a:ln>
        </p:spPr>
        <p:txBody>
          <a:bodyPr/>
          <a:lstStyle/>
          <a:p>
            <a:endParaRPr lang="en-US"/>
          </a:p>
        </p:txBody>
      </p:sp>
      <p:sp>
        <p:nvSpPr>
          <p:cNvPr id="11" name="Shape 9"/>
          <p:cNvSpPr/>
          <p:nvPr/>
        </p:nvSpPr>
        <p:spPr>
          <a:xfrm>
            <a:off x="274320" y="2240280"/>
            <a:ext cx="201168" cy="548640"/>
          </a:xfrm>
          <a:prstGeom prst="rect">
            <a:avLst/>
          </a:prstGeom>
          <a:solidFill>
            <a:srgbClr val="FBCFE8"/>
          </a:solidFill>
          <a:ln w="12700">
            <a:solidFill>
              <a:srgbClr val="FBCFE8"/>
            </a:solidFill>
            <a:prstDash val="solid"/>
          </a:ln>
        </p:spPr>
        <p:txBody>
          <a:bodyPr/>
          <a:lstStyle/>
          <a:p>
            <a:endParaRPr lang="en-US"/>
          </a:p>
        </p:txBody>
      </p:sp>
      <p:sp>
        <p:nvSpPr>
          <p:cNvPr id="12" name="Text 10"/>
          <p:cNvSpPr/>
          <p:nvPr/>
        </p:nvSpPr>
        <p:spPr>
          <a:xfrm>
            <a:off x="566928" y="2276856"/>
            <a:ext cx="4663440" cy="256032"/>
          </a:xfrm>
          <a:prstGeom prst="rect">
            <a:avLst/>
          </a:prstGeom>
          <a:noFill/>
          <a:ln/>
        </p:spPr>
        <p:txBody>
          <a:bodyPr wrap="square" lIns="0" tIns="0" rIns="0" bIns="0" rtlCol="0" anchor="ctr"/>
          <a:lstStyle/>
          <a:p>
            <a:pPr marL="0" indent="0">
              <a:buNone/>
            </a:pPr>
            <a:r>
              <a:rPr lang="en-US" sz="1100" b="1" dirty="0">
                <a:solidFill>
                  <a:srgbClr val="FBCFE8"/>
                </a:solidFill>
              </a:rPr>
              <a:t>L1  Team Lead / Analyst</a:t>
            </a:r>
            <a:endParaRPr lang="en-US" sz="1100" dirty="0"/>
          </a:p>
        </p:txBody>
      </p:sp>
      <p:sp>
        <p:nvSpPr>
          <p:cNvPr id="13" name="Text 11"/>
          <p:cNvSpPr/>
          <p:nvPr/>
        </p:nvSpPr>
        <p:spPr>
          <a:xfrm>
            <a:off x="566928" y="2514600"/>
            <a:ext cx="4663440" cy="228600"/>
          </a:xfrm>
          <a:prstGeom prst="rect">
            <a:avLst/>
          </a:prstGeom>
          <a:noFill/>
          <a:ln/>
        </p:spPr>
        <p:txBody>
          <a:bodyPr wrap="square" lIns="0" tIns="0" rIns="0" bIns="0" rtlCol="0" anchor="ctr"/>
          <a:lstStyle/>
          <a:p>
            <a:pPr marL="0" indent="0">
              <a:buNone/>
            </a:pPr>
            <a:r>
              <a:rPr lang="en-US" sz="900" dirty="0">
                <a:solidFill>
                  <a:srgbClr val="94A3B8"/>
                </a:solidFill>
              </a:rPr>
              <a:t>Identifies the risk, documents it, determines it's outside scope</a:t>
            </a:r>
            <a:endParaRPr lang="en-US" sz="900" dirty="0"/>
          </a:p>
        </p:txBody>
      </p:sp>
      <p:sp>
        <p:nvSpPr>
          <p:cNvPr id="14" name="Shape 12"/>
          <p:cNvSpPr/>
          <p:nvPr/>
        </p:nvSpPr>
        <p:spPr>
          <a:xfrm>
            <a:off x="274320" y="2898648"/>
            <a:ext cx="5029200" cy="548640"/>
          </a:xfrm>
          <a:prstGeom prst="rect">
            <a:avLst/>
          </a:prstGeom>
          <a:solidFill>
            <a:srgbClr val="1A2D45"/>
          </a:solidFill>
          <a:ln w="12700">
            <a:solidFill>
              <a:srgbClr val="DB2777"/>
            </a:solidFill>
            <a:prstDash val="solid"/>
          </a:ln>
        </p:spPr>
        <p:txBody>
          <a:bodyPr/>
          <a:lstStyle/>
          <a:p>
            <a:endParaRPr lang="en-US"/>
          </a:p>
        </p:txBody>
      </p:sp>
      <p:sp>
        <p:nvSpPr>
          <p:cNvPr id="15" name="Shape 13"/>
          <p:cNvSpPr/>
          <p:nvPr/>
        </p:nvSpPr>
        <p:spPr>
          <a:xfrm>
            <a:off x="274320" y="2898648"/>
            <a:ext cx="201168" cy="548640"/>
          </a:xfrm>
          <a:prstGeom prst="rect">
            <a:avLst/>
          </a:prstGeom>
          <a:solidFill>
            <a:srgbClr val="DB2777"/>
          </a:solidFill>
          <a:ln w="12700">
            <a:solidFill>
              <a:srgbClr val="DB2777"/>
            </a:solidFill>
            <a:prstDash val="solid"/>
          </a:ln>
        </p:spPr>
        <p:txBody>
          <a:bodyPr/>
          <a:lstStyle/>
          <a:p>
            <a:endParaRPr lang="en-US"/>
          </a:p>
        </p:txBody>
      </p:sp>
      <p:sp>
        <p:nvSpPr>
          <p:cNvPr id="16" name="Text 14"/>
          <p:cNvSpPr/>
          <p:nvPr/>
        </p:nvSpPr>
        <p:spPr>
          <a:xfrm>
            <a:off x="566928" y="2935224"/>
            <a:ext cx="4663440" cy="256032"/>
          </a:xfrm>
          <a:prstGeom prst="rect">
            <a:avLst/>
          </a:prstGeom>
          <a:noFill/>
          <a:ln/>
        </p:spPr>
        <p:txBody>
          <a:bodyPr wrap="square" lIns="0" tIns="0" rIns="0" bIns="0" rtlCol="0" anchor="ctr"/>
          <a:lstStyle/>
          <a:p>
            <a:pPr marL="0" indent="0">
              <a:buNone/>
            </a:pPr>
            <a:r>
              <a:rPr lang="en-US" sz="1100" b="1" dirty="0">
                <a:solidFill>
                  <a:srgbClr val="DB2777"/>
                </a:solidFill>
              </a:rPr>
              <a:t>L2  Project Manager</a:t>
            </a:r>
            <a:endParaRPr lang="en-US" sz="1100" dirty="0"/>
          </a:p>
        </p:txBody>
      </p:sp>
      <p:sp>
        <p:nvSpPr>
          <p:cNvPr id="17" name="Text 15"/>
          <p:cNvSpPr/>
          <p:nvPr/>
        </p:nvSpPr>
        <p:spPr>
          <a:xfrm>
            <a:off x="566928" y="3172968"/>
            <a:ext cx="4663440" cy="228600"/>
          </a:xfrm>
          <a:prstGeom prst="rect">
            <a:avLst/>
          </a:prstGeom>
          <a:noFill/>
          <a:ln/>
        </p:spPr>
        <p:txBody>
          <a:bodyPr wrap="square" lIns="0" tIns="0" rIns="0" bIns="0" rtlCol="0" anchor="ctr"/>
          <a:lstStyle/>
          <a:p>
            <a:pPr marL="0" indent="0">
              <a:buNone/>
            </a:pPr>
            <a:r>
              <a:rPr lang="en-US" sz="900" dirty="0">
                <a:solidFill>
                  <a:srgbClr val="94A3B8"/>
                </a:solidFill>
              </a:rPr>
              <a:t>Reviews, confirms escalation needed, routes to appropriate owner</a:t>
            </a:r>
            <a:endParaRPr lang="en-US" sz="900" dirty="0"/>
          </a:p>
        </p:txBody>
      </p:sp>
      <p:sp>
        <p:nvSpPr>
          <p:cNvPr id="18" name="Shape 16"/>
          <p:cNvSpPr/>
          <p:nvPr/>
        </p:nvSpPr>
        <p:spPr>
          <a:xfrm>
            <a:off x="274320" y="3557016"/>
            <a:ext cx="5029200" cy="548640"/>
          </a:xfrm>
          <a:prstGeom prst="rect">
            <a:avLst/>
          </a:prstGeom>
          <a:solidFill>
            <a:srgbClr val="1A2D45"/>
          </a:solidFill>
          <a:ln w="12700">
            <a:solidFill>
              <a:srgbClr val="BE185D"/>
            </a:solidFill>
            <a:prstDash val="solid"/>
          </a:ln>
        </p:spPr>
        <p:txBody>
          <a:bodyPr/>
          <a:lstStyle/>
          <a:p>
            <a:endParaRPr lang="en-US"/>
          </a:p>
        </p:txBody>
      </p:sp>
      <p:sp>
        <p:nvSpPr>
          <p:cNvPr id="19" name="Shape 17"/>
          <p:cNvSpPr/>
          <p:nvPr/>
        </p:nvSpPr>
        <p:spPr>
          <a:xfrm>
            <a:off x="274320" y="3557016"/>
            <a:ext cx="201168" cy="548640"/>
          </a:xfrm>
          <a:prstGeom prst="rect">
            <a:avLst/>
          </a:prstGeom>
          <a:solidFill>
            <a:srgbClr val="BE185D"/>
          </a:solidFill>
          <a:ln w="12700">
            <a:solidFill>
              <a:srgbClr val="BE185D"/>
            </a:solidFill>
            <a:prstDash val="solid"/>
          </a:ln>
        </p:spPr>
        <p:txBody>
          <a:bodyPr/>
          <a:lstStyle/>
          <a:p>
            <a:endParaRPr lang="en-US"/>
          </a:p>
        </p:txBody>
      </p:sp>
      <p:sp>
        <p:nvSpPr>
          <p:cNvPr id="20" name="Text 18"/>
          <p:cNvSpPr/>
          <p:nvPr/>
        </p:nvSpPr>
        <p:spPr>
          <a:xfrm>
            <a:off x="566928" y="3593592"/>
            <a:ext cx="4663440" cy="256032"/>
          </a:xfrm>
          <a:prstGeom prst="rect">
            <a:avLst/>
          </a:prstGeom>
          <a:noFill/>
          <a:ln/>
        </p:spPr>
        <p:txBody>
          <a:bodyPr wrap="square" lIns="0" tIns="0" rIns="0" bIns="0" rtlCol="0" anchor="ctr"/>
          <a:lstStyle/>
          <a:p>
            <a:pPr marL="0" indent="0">
              <a:buNone/>
            </a:pPr>
            <a:r>
              <a:rPr lang="en-US" sz="1100" b="1" dirty="0">
                <a:solidFill>
                  <a:srgbClr val="BE185D"/>
                </a:solidFill>
              </a:rPr>
              <a:t>L3  CISO / Department Head</a:t>
            </a:r>
            <a:endParaRPr lang="en-US" sz="1100" dirty="0"/>
          </a:p>
        </p:txBody>
      </p:sp>
      <p:sp>
        <p:nvSpPr>
          <p:cNvPr id="21" name="Text 19"/>
          <p:cNvSpPr/>
          <p:nvPr/>
        </p:nvSpPr>
        <p:spPr>
          <a:xfrm>
            <a:off x="566928" y="3831336"/>
            <a:ext cx="4663440" cy="228600"/>
          </a:xfrm>
          <a:prstGeom prst="rect">
            <a:avLst/>
          </a:prstGeom>
          <a:noFill/>
          <a:ln/>
        </p:spPr>
        <p:txBody>
          <a:bodyPr wrap="square" lIns="0" tIns="0" rIns="0" bIns="0" rtlCol="0" anchor="ctr"/>
          <a:lstStyle/>
          <a:p>
            <a:pPr marL="0" indent="0">
              <a:buNone/>
            </a:pPr>
            <a:r>
              <a:rPr lang="en-US" sz="900" dirty="0">
                <a:solidFill>
                  <a:srgbClr val="94A3B8"/>
                </a:solidFill>
              </a:rPr>
              <a:t>Evaluates strategic impact, assigns a response owner</a:t>
            </a:r>
            <a:endParaRPr lang="en-US" sz="900" dirty="0"/>
          </a:p>
        </p:txBody>
      </p:sp>
      <p:sp>
        <p:nvSpPr>
          <p:cNvPr id="22" name="Shape 20"/>
          <p:cNvSpPr/>
          <p:nvPr/>
        </p:nvSpPr>
        <p:spPr>
          <a:xfrm>
            <a:off x="274320" y="4215384"/>
            <a:ext cx="5029200" cy="548640"/>
          </a:xfrm>
          <a:prstGeom prst="rect">
            <a:avLst/>
          </a:prstGeom>
          <a:solidFill>
            <a:srgbClr val="1A2D45"/>
          </a:solidFill>
          <a:ln w="12700">
            <a:solidFill>
              <a:srgbClr val="831843"/>
            </a:solidFill>
            <a:prstDash val="solid"/>
          </a:ln>
        </p:spPr>
        <p:txBody>
          <a:bodyPr/>
          <a:lstStyle/>
          <a:p>
            <a:endParaRPr lang="en-US"/>
          </a:p>
        </p:txBody>
      </p:sp>
      <p:sp>
        <p:nvSpPr>
          <p:cNvPr id="23" name="Shape 21"/>
          <p:cNvSpPr/>
          <p:nvPr/>
        </p:nvSpPr>
        <p:spPr>
          <a:xfrm>
            <a:off x="274320" y="4215384"/>
            <a:ext cx="201168" cy="548640"/>
          </a:xfrm>
          <a:prstGeom prst="rect">
            <a:avLst/>
          </a:prstGeom>
          <a:solidFill>
            <a:srgbClr val="831843"/>
          </a:solidFill>
          <a:ln w="12700">
            <a:solidFill>
              <a:srgbClr val="831843"/>
            </a:solidFill>
            <a:prstDash val="solid"/>
          </a:ln>
        </p:spPr>
        <p:txBody>
          <a:bodyPr/>
          <a:lstStyle/>
          <a:p>
            <a:endParaRPr lang="en-US"/>
          </a:p>
        </p:txBody>
      </p:sp>
      <p:sp>
        <p:nvSpPr>
          <p:cNvPr id="24" name="Text 22"/>
          <p:cNvSpPr/>
          <p:nvPr/>
        </p:nvSpPr>
        <p:spPr>
          <a:xfrm>
            <a:off x="566928" y="4251960"/>
            <a:ext cx="4663440" cy="256032"/>
          </a:xfrm>
          <a:prstGeom prst="rect">
            <a:avLst/>
          </a:prstGeom>
          <a:noFill/>
          <a:ln/>
        </p:spPr>
        <p:txBody>
          <a:bodyPr wrap="square" lIns="0" tIns="0" rIns="0" bIns="0" rtlCol="0" anchor="ctr"/>
          <a:lstStyle/>
          <a:p>
            <a:pPr marL="0" indent="0">
              <a:buNone/>
            </a:pPr>
            <a:r>
              <a:rPr lang="en-US" sz="1100" b="1" dirty="0">
                <a:solidFill>
                  <a:srgbClr val="831843"/>
                </a:solidFill>
              </a:rPr>
              <a:t>L4  Board / Executive Team</a:t>
            </a:r>
            <a:endParaRPr lang="en-US" sz="1100" dirty="0"/>
          </a:p>
        </p:txBody>
      </p:sp>
      <p:sp>
        <p:nvSpPr>
          <p:cNvPr id="25" name="Text 23"/>
          <p:cNvSpPr/>
          <p:nvPr/>
        </p:nvSpPr>
        <p:spPr>
          <a:xfrm>
            <a:off x="566928" y="4489704"/>
            <a:ext cx="4663440" cy="228600"/>
          </a:xfrm>
          <a:prstGeom prst="rect">
            <a:avLst/>
          </a:prstGeom>
          <a:noFill/>
          <a:ln/>
        </p:spPr>
        <p:txBody>
          <a:bodyPr wrap="square" lIns="0" tIns="0" rIns="0" bIns="0" rtlCol="0" anchor="ctr"/>
          <a:lstStyle/>
          <a:p>
            <a:pPr marL="0" indent="0">
              <a:buNone/>
            </a:pPr>
            <a:r>
              <a:rPr lang="en-US" sz="900" dirty="0">
                <a:solidFill>
                  <a:srgbClr val="94A3B8"/>
                </a:solidFill>
              </a:rPr>
              <a:t>Makes final call on risks affecting compliance, reputation, or major cost</a:t>
            </a:r>
            <a:endParaRPr lang="en-US" sz="900" dirty="0"/>
          </a:p>
        </p:txBody>
      </p:sp>
      <p:sp>
        <p:nvSpPr>
          <p:cNvPr id="26" name="Shape 24"/>
          <p:cNvSpPr/>
          <p:nvPr/>
        </p:nvSpPr>
        <p:spPr>
          <a:xfrm>
            <a:off x="5440680" y="2331720"/>
            <a:ext cx="0" cy="2468880"/>
          </a:xfrm>
          <a:prstGeom prst="line">
            <a:avLst/>
          </a:prstGeom>
          <a:noFill/>
          <a:ln w="19050">
            <a:solidFill>
              <a:srgbClr val="DB2777"/>
            </a:solidFill>
            <a:prstDash val="dash"/>
          </a:ln>
        </p:spPr>
        <p:txBody>
          <a:bodyPr/>
          <a:lstStyle/>
          <a:p>
            <a:endParaRPr lang="en-US"/>
          </a:p>
        </p:txBody>
      </p:sp>
      <p:sp>
        <p:nvSpPr>
          <p:cNvPr id="27" name="Text 25"/>
          <p:cNvSpPr/>
          <p:nvPr/>
        </p:nvSpPr>
        <p:spPr>
          <a:xfrm>
            <a:off x="5532120" y="3383280"/>
            <a:ext cx="1097280" cy="274320"/>
          </a:xfrm>
          <a:prstGeom prst="rect">
            <a:avLst/>
          </a:prstGeom>
          <a:noFill/>
          <a:ln/>
        </p:spPr>
        <p:txBody>
          <a:bodyPr wrap="square" lIns="0" tIns="0" rIns="0" bIns="0" rtlCol="0" anchor="ctr"/>
          <a:lstStyle/>
          <a:p>
            <a:pPr marL="0" indent="0">
              <a:buNone/>
            </a:pPr>
            <a:r>
              <a:rPr lang="en-US" sz="900" i="1" dirty="0">
                <a:solidFill>
                  <a:srgbClr val="DB2777"/>
                </a:solidFill>
              </a:rPr>
              <a:t>↑ Escalate</a:t>
            </a:r>
            <a:endParaRPr lang="en-US" sz="900" dirty="0"/>
          </a:p>
        </p:txBody>
      </p:sp>
      <p:sp>
        <p:nvSpPr>
          <p:cNvPr id="28" name="Shape 26"/>
          <p:cNvSpPr/>
          <p:nvPr/>
        </p:nvSpPr>
        <p:spPr>
          <a:xfrm>
            <a:off x="5669280" y="2212848"/>
            <a:ext cx="3200400" cy="2606040"/>
          </a:xfrm>
          <a:prstGeom prst="rect">
            <a:avLst/>
          </a:prstGeom>
          <a:solidFill>
            <a:srgbClr val="3D0A2E"/>
          </a:solidFill>
          <a:ln w="12700">
            <a:solidFill>
              <a:srgbClr val="DB2777"/>
            </a:solidFill>
            <a:prstDash val="solid"/>
          </a:ln>
        </p:spPr>
        <p:txBody>
          <a:bodyPr/>
          <a:lstStyle/>
          <a:p>
            <a:endParaRPr lang="en-US"/>
          </a:p>
        </p:txBody>
      </p:sp>
      <p:sp>
        <p:nvSpPr>
          <p:cNvPr id="29" name="Text 27"/>
          <p:cNvSpPr/>
          <p:nvPr/>
        </p:nvSpPr>
        <p:spPr>
          <a:xfrm>
            <a:off x="5806440" y="2267712"/>
            <a:ext cx="2926080" cy="256032"/>
          </a:xfrm>
          <a:prstGeom prst="rect">
            <a:avLst/>
          </a:prstGeom>
          <a:noFill/>
          <a:ln/>
        </p:spPr>
        <p:txBody>
          <a:bodyPr wrap="square" lIns="0" tIns="0" rIns="0" bIns="0" rtlCol="0" anchor="ctr"/>
          <a:lstStyle/>
          <a:p>
            <a:pPr marL="0" indent="0">
              <a:buNone/>
            </a:pPr>
            <a:r>
              <a:rPr lang="en-US" sz="900" b="1" kern="0" spc="200" dirty="0">
                <a:solidFill>
                  <a:srgbClr val="DB2777"/>
                </a:solidFill>
              </a:rPr>
              <a:t>WHEN TO ESCALATE</a:t>
            </a:r>
            <a:endParaRPr lang="en-US" sz="900" dirty="0"/>
          </a:p>
        </p:txBody>
      </p:sp>
      <p:sp>
        <p:nvSpPr>
          <p:cNvPr id="30" name="Text 28"/>
          <p:cNvSpPr/>
          <p:nvPr/>
        </p:nvSpPr>
        <p:spPr>
          <a:xfrm>
            <a:off x="5806440" y="2578608"/>
            <a:ext cx="2926080" cy="347472"/>
          </a:xfrm>
          <a:prstGeom prst="rect">
            <a:avLst/>
          </a:prstGeom>
          <a:noFill/>
          <a:ln/>
        </p:spPr>
        <p:txBody>
          <a:bodyPr wrap="square" lIns="0" tIns="0" rIns="0" bIns="0" rtlCol="0" anchor="ctr"/>
          <a:lstStyle/>
          <a:p>
            <a:pPr marL="0" indent="0">
              <a:buNone/>
            </a:pPr>
            <a:r>
              <a:rPr lang="en-US" sz="950" dirty="0">
                <a:solidFill>
                  <a:srgbClr val="CBD5E1"/>
                </a:solidFill>
              </a:rPr>
              <a:t>→  Risk exceeds your budget authority</a:t>
            </a:r>
            <a:endParaRPr lang="en-US" sz="950" dirty="0"/>
          </a:p>
        </p:txBody>
      </p:sp>
      <p:sp>
        <p:nvSpPr>
          <p:cNvPr id="31" name="Text 29"/>
          <p:cNvSpPr/>
          <p:nvPr/>
        </p:nvSpPr>
        <p:spPr>
          <a:xfrm>
            <a:off x="5806440" y="2999232"/>
            <a:ext cx="2926080" cy="347472"/>
          </a:xfrm>
          <a:prstGeom prst="rect">
            <a:avLst/>
          </a:prstGeom>
          <a:noFill/>
          <a:ln/>
        </p:spPr>
        <p:txBody>
          <a:bodyPr wrap="square" lIns="0" tIns="0" rIns="0" bIns="0" rtlCol="0" anchor="ctr"/>
          <a:lstStyle/>
          <a:p>
            <a:pPr marL="0" indent="0">
              <a:buNone/>
            </a:pPr>
            <a:r>
              <a:rPr lang="en-US" sz="950" dirty="0">
                <a:solidFill>
                  <a:srgbClr val="CBD5E1"/>
                </a:solidFill>
              </a:rPr>
              <a:t>→  Decision has legal or regulatory impact</a:t>
            </a:r>
            <a:endParaRPr lang="en-US" sz="950" dirty="0"/>
          </a:p>
        </p:txBody>
      </p:sp>
      <p:sp>
        <p:nvSpPr>
          <p:cNvPr id="32" name="Text 30"/>
          <p:cNvSpPr/>
          <p:nvPr/>
        </p:nvSpPr>
        <p:spPr>
          <a:xfrm>
            <a:off x="5806440" y="3419856"/>
            <a:ext cx="2926080" cy="347472"/>
          </a:xfrm>
          <a:prstGeom prst="rect">
            <a:avLst/>
          </a:prstGeom>
          <a:noFill/>
          <a:ln/>
        </p:spPr>
        <p:txBody>
          <a:bodyPr wrap="square" lIns="0" tIns="0" rIns="0" bIns="0" rtlCol="0" anchor="ctr"/>
          <a:lstStyle/>
          <a:p>
            <a:pPr marL="0" indent="0">
              <a:buNone/>
            </a:pPr>
            <a:r>
              <a:rPr lang="en-US" sz="950" dirty="0">
                <a:solidFill>
                  <a:srgbClr val="CBD5E1"/>
                </a:solidFill>
              </a:rPr>
              <a:t>→  Risk affects multiple teams or projects</a:t>
            </a:r>
            <a:endParaRPr lang="en-US" sz="950" dirty="0"/>
          </a:p>
        </p:txBody>
      </p:sp>
      <p:sp>
        <p:nvSpPr>
          <p:cNvPr id="33" name="Text 31"/>
          <p:cNvSpPr/>
          <p:nvPr/>
        </p:nvSpPr>
        <p:spPr>
          <a:xfrm>
            <a:off x="5806440" y="3840480"/>
            <a:ext cx="2926080" cy="347472"/>
          </a:xfrm>
          <a:prstGeom prst="rect">
            <a:avLst/>
          </a:prstGeom>
          <a:noFill/>
          <a:ln/>
        </p:spPr>
        <p:txBody>
          <a:bodyPr wrap="square" lIns="0" tIns="0" rIns="0" bIns="0" rtlCol="0" anchor="ctr"/>
          <a:lstStyle/>
          <a:p>
            <a:pPr marL="0" indent="0">
              <a:buNone/>
            </a:pPr>
            <a:r>
              <a:rPr lang="en-US" sz="950" dirty="0">
                <a:solidFill>
                  <a:srgbClr val="CBD5E1"/>
                </a:solidFill>
              </a:rPr>
              <a:t>→  Conflicting priorities require exec decision</a:t>
            </a:r>
            <a:endParaRPr lang="en-US" sz="950" dirty="0"/>
          </a:p>
        </p:txBody>
      </p:sp>
      <p:sp>
        <p:nvSpPr>
          <p:cNvPr id="34" name="Text 32"/>
          <p:cNvSpPr/>
          <p:nvPr/>
        </p:nvSpPr>
        <p:spPr>
          <a:xfrm>
            <a:off x="5806440" y="4261104"/>
            <a:ext cx="2926080" cy="347472"/>
          </a:xfrm>
          <a:prstGeom prst="rect">
            <a:avLst/>
          </a:prstGeom>
          <a:noFill/>
          <a:ln/>
        </p:spPr>
        <p:txBody>
          <a:bodyPr wrap="square" lIns="0" tIns="0" rIns="0" bIns="0" rtlCol="0" anchor="ctr"/>
          <a:lstStyle/>
          <a:p>
            <a:pPr marL="0" indent="0">
              <a:buNone/>
            </a:pPr>
            <a:r>
              <a:rPr lang="en-US" sz="950" dirty="0">
                <a:solidFill>
                  <a:srgbClr val="CBD5E1"/>
                </a:solidFill>
              </a:rPr>
              <a:t>→  You lack the technical authority to act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1628"/>
          </a:solidFill>
          <a:ln w="12700">
            <a:solidFill>
              <a:srgbClr val="0A1628"/>
            </a:solidFill>
            <a:prstDash val="solid"/>
          </a:ln>
        </p:spPr>
        <p:txBody>
          <a:bodyPr/>
          <a:lstStyle/>
          <a:p>
            <a:endParaRPr lang="en-US"/>
          </a:p>
        </p:txBody>
      </p:sp>
      <p:sp>
        <p:nvSpPr>
          <p:cNvPr id="3" name="Text 1"/>
          <p:cNvSpPr/>
          <p:nvPr/>
        </p:nvSpPr>
        <p:spPr>
          <a:xfrm>
            <a:off x="365760" y="91440"/>
            <a:ext cx="8412480" cy="530352"/>
          </a:xfrm>
          <a:prstGeom prst="rect">
            <a:avLst/>
          </a:prstGeom>
          <a:noFill/>
          <a:ln/>
        </p:spPr>
        <p:txBody>
          <a:bodyPr wrap="square" lIns="0" tIns="0" rIns="0" bIns="0" rtlCol="0" anchor="ctr"/>
          <a:lstStyle/>
          <a:p>
            <a:pPr marL="0" indent="0">
              <a:buNone/>
            </a:pPr>
            <a:r>
              <a:rPr lang="en-US" sz="2200" b="1" dirty="0">
                <a:solidFill>
                  <a:srgbClr val="FFFFFF"/>
                </a:solidFill>
              </a:rPr>
              <a:t>🧭  How to Choose Your Response Strategy</a:t>
            </a:r>
            <a:endParaRPr lang="en-US" sz="2200" dirty="0"/>
          </a:p>
        </p:txBody>
      </p:sp>
      <p:sp>
        <p:nvSpPr>
          <p:cNvPr id="4" name="Text 2"/>
          <p:cNvSpPr/>
          <p:nvPr/>
        </p:nvSpPr>
        <p:spPr>
          <a:xfrm>
            <a:off x="365760" y="914400"/>
            <a:ext cx="8412480" cy="292608"/>
          </a:xfrm>
          <a:prstGeom prst="rect">
            <a:avLst/>
          </a:prstGeom>
          <a:noFill/>
          <a:ln/>
        </p:spPr>
        <p:txBody>
          <a:bodyPr wrap="square" lIns="0" tIns="0" rIns="0" bIns="0" rtlCol="0" anchor="ctr"/>
          <a:lstStyle/>
          <a:p>
            <a:pPr marL="0" indent="0">
              <a:buNone/>
            </a:pPr>
            <a:r>
              <a:rPr lang="en-US" sz="1100" i="1" dirty="0">
                <a:solidFill>
                  <a:srgbClr val="94A3B8"/>
                </a:solidFill>
              </a:rPr>
              <a:t>Ask yourself these questions in order:</a:t>
            </a:r>
            <a:endParaRPr lang="en-US" sz="1100" dirty="0"/>
          </a:p>
        </p:txBody>
      </p:sp>
      <p:sp>
        <p:nvSpPr>
          <p:cNvPr id="5" name="Shape 3"/>
          <p:cNvSpPr/>
          <p:nvPr/>
        </p:nvSpPr>
        <p:spPr>
          <a:xfrm>
            <a:off x="274320" y="1307592"/>
            <a:ext cx="384048" cy="384048"/>
          </a:xfrm>
          <a:prstGeom prst="ellipse">
            <a:avLst/>
          </a:prstGeom>
          <a:solidFill>
            <a:srgbClr val="1A2D45"/>
          </a:solidFill>
          <a:ln w="12700">
            <a:solidFill>
              <a:srgbClr val="94A3B8"/>
            </a:solidFill>
            <a:prstDash val="solid"/>
          </a:ln>
        </p:spPr>
        <p:txBody>
          <a:bodyPr/>
          <a:lstStyle/>
          <a:p>
            <a:endParaRPr lang="en-US"/>
          </a:p>
        </p:txBody>
      </p:sp>
      <p:sp>
        <p:nvSpPr>
          <p:cNvPr id="6" name="Text 4"/>
          <p:cNvSpPr/>
          <p:nvPr/>
        </p:nvSpPr>
        <p:spPr>
          <a:xfrm>
            <a:off x="274320" y="1307592"/>
            <a:ext cx="384048" cy="384048"/>
          </a:xfrm>
          <a:prstGeom prst="rect">
            <a:avLst/>
          </a:prstGeom>
          <a:noFill/>
          <a:ln/>
        </p:spPr>
        <p:txBody>
          <a:bodyPr wrap="square" lIns="0" tIns="0" rIns="0" bIns="0" rtlCol="0" anchor="ctr"/>
          <a:lstStyle/>
          <a:p>
            <a:pPr marL="0" indent="0" algn="ctr">
              <a:buNone/>
            </a:pPr>
            <a:r>
              <a:rPr lang="en-US" sz="1200" b="1" dirty="0">
                <a:solidFill>
                  <a:srgbClr val="94A3B8"/>
                </a:solidFill>
              </a:rPr>
              <a:t>1</a:t>
            </a:r>
            <a:endParaRPr lang="en-US" sz="1200" dirty="0"/>
          </a:p>
        </p:txBody>
      </p:sp>
      <p:sp>
        <p:nvSpPr>
          <p:cNvPr id="7" name="Shape 5"/>
          <p:cNvSpPr/>
          <p:nvPr/>
        </p:nvSpPr>
        <p:spPr>
          <a:xfrm>
            <a:off x="777240" y="1280160"/>
            <a:ext cx="5303520" cy="457200"/>
          </a:xfrm>
          <a:prstGeom prst="rect">
            <a:avLst/>
          </a:prstGeom>
          <a:solidFill>
            <a:srgbClr val="132338"/>
          </a:solidFill>
          <a:ln w="12700">
            <a:solidFill>
              <a:srgbClr val="334155"/>
            </a:solidFill>
            <a:prstDash val="solid"/>
          </a:ln>
        </p:spPr>
        <p:txBody>
          <a:bodyPr/>
          <a:lstStyle/>
          <a:p>
            <a:endParaRPr lang="en-US"/>
          </a:p>
        </p:txBody>
      </p:sp>
      <p:sp>
        <p:nvSpPr>
          <p:cNvPr id="8" name="Text 6"/>
          <p:cNvSpPr/>
          <p:nvPr/>
        </p:nvSpPr>
        <p:spPr>
          <a:xfrm>
            <a:off x="914400" y="1280160"/>
            <a:ext cx="5074920" cy="457200"/>
          </a:xfrm>
          <a:prstGeom prst="rect">
            <a:avLst/>
          </a:prstGeom>
          <a:noFill/>
          <a:ln/>
        </p:spPr>
        <p:txBody>
          <a:bodyPr wrap="square" lIns="0" tIns="0" rIns="0" bIns="0" rtlCol="0" anchor="ctr"/>
          <a:lstStyle/>
          <a:p>
            <a:pPr marL="0" indent="0">
              <a:buNone/>
            </a:pPr>
            <a:r>
              <a:rPr lang="en-US" sz="1100" dirty="0">
                <a:solidFill>
                  <a:srgbClr val="E2E8F0"/>
                </a:solidFill>
              </a:rPr>
              <a:t>Is this risk outside your authority to respond to?</a:t>
            </a:r>
            <a:endParaRPr lang="en-US" sz="1100" dirty="0"/>
          </a:p>
        </p:txBody>
      </p:sp>
      <p:sp>
        <p:nvSpPr>
          <p:cNvPr id="9" name="Shape 7"/>
          <p:cNvSpPr/>
          <p:nvPr/>
        </p:nvSpPr>
        <p:spPr>
          <a:xfrm>
            <a:off x="6172200" y="1316736"/>
            <a:ext cx="475488" cy="347472"/>
          </a:xfrm>
          <a:prstGeom prst="rect">
            <a:avLst/>
          </a:prstGeom>
          <a:solidFill>
            <a:srgbClr val="1A2D45"/>
          </a:solidFill>
          <a:ln w="12700">
            <a:solidFill>
              <a:srgbClr val="94A3B8"/>
            </a:solidFill>
            <a:prstDash val="solid"/>
          </a:ln>
        </p:spPr>
        <p:txBody>
          <a:bodyPr/>
          <a:lstStyle/>
          <a:p>
            <a:endParaRPr lang="en-US"/>
          </a:p>
        </p:txBody>
      </p:sp>
      <p:sp>
        <p:nvSpPr>
          <p:cNvPr id="10" name="Text 8"/>
          <p:cNvSpPr/>
          <p:nvPr/>
        </p:nvSpPr>
        <p:spPr>
          <a:xfrm>
            <a:off x="6172200" y="1316736"/>
            <a:ext cx="475488" cy="347472"/>
          </a:xfrm>
          <a:prstGeom prst="rect">
            <a:avLst/>
          </a:prstGeom>
          <a:noFill/>
          <a:ln/>
        </p:spPr>
        <p:txBody>
          <a:bodyPr wrap="square" lIns="0" tIns="0" rIns="0" bIns="0" rtlCol="0" anchor="ctr"/>
          <a:lstStyle/>
          <a:p>
            <a:pPr marL="0" indent="0" algn="ctr">
              <a:buNone/>
            </a:pPr>
            <a:r>
              <a:rPr lang="en-US" sz="800" b="1" dirty="0">
                <a:solidFill>
                  <a:srgbClr val="94A3B8"/>
                </a:solidFill>
              </a:rPr>
              <a:t>YES</a:t>
            </a:r>
            <a:endParaRPr lang="en-US" sz="800" dirty="0"/>
          </a:p>
        </p:txBody>
      </p:sp>
      <p:sp>
        <p:nvSpPr>
          <p:cNvPr id="11" name="Shape 9"/>
          <p:cNvSpPr/>
          <p:nvPr/>
        </p:nvSpPr>
        <p:spPr>
          <a:xfrm>
            <a:off x="6647688" y="1490472"/>
            <a:ext cx="228600" cy="0"/>
          </a:xfrm>
          <a:prstGeom prst="line">
            <a:avLst/>
          </a:prstGeom>
          <a:noFill/>
          <a:ln w="19050">
            <a:solidFill>
              <a:srgbClr val="DB2777"/>
            </a:solidFill>
            <a:prstDash val="solid"/>
          </a:ln>
        </p:spPr>
        <p:txBody>
          <a:bodyPr/>
          <a:lstStyle/>
          <a:p>
            <a:endParaRPr lang="en-US"/>
          </a:p>
        </p:txBody>
      </p:sp>
      <p:sp>
        <p:nvSpPr>
          <p:cNvPr id="12" name="Shape 10"/>
          <p:cNvSpPr/>
          <p:nvPr/>
        </p:nvSpPr>
        <p:spPr>
          <a:xfrm>
            <a:off x="6876288" y="1325880"/>
            <a:ext cx="1993392" cy="347472"/>
          </a:xfrm>
          <a:prstGeom prst="rect">
            <a:avLst/>
          </a:prstGeom>
          <a:solidFill>
            <a:srgbClr val="DB2777">
              <a:alpha val="85000"/>
            </a:srgbClr>
          </a:solidFill>
          <a:ln w="12700">
            <a:solidFill>
              <a:srgbClr val="DB2777"/>
            </a:solidFill>
            <a:prstDash val="solid"/>
          </a:ln>
        </p:spPr>
        <p:txBody>
          <a:bodyPr/>
          <a:lstStyle/>
          <a:p>
            <a:endParaRPr lang="en-US"/>
          </a:p>
        </p:txBody>
      </p:sp>
      <p:sp>
        <p:nvSpPr>
          <p:cNvPr id="13" name="Text 11"/>
          <p:cNvSpPr/>
          <p:nvPr/>
        </p:nvSpPr>
        <p:spPr>
          <a:xfrm>
            <a:off x="6903720" y="1325880"/>
            <a:ext cx="1938528" cy="347472"/>
          </a:xfrm>
          <a:prstGeom prst="rect">
            <a:avLst/>
          </a:prstGeom>
          <a:noFill/>
          <a:ln/>
        </p:spPr>
        <p:txBody>
          <a:bodyPr wrap="square" lIns="0" tIns="0" rIns="0" bIns="0" rtlCol="0" anchor="ctr"/>
          <a:lstStyle/>
          <a:p>
            <a:pPr marL="0" indent="0" algn="ctr">
              <a:buNone/>
            </a:pPr>
            <a:r>
              <a:rPr lang="en-US" sz="1000" b="1" dirty="0">
                <a:solidFill>
                  <a:srgbClr val="FFFFFF"/>
                </a:solidFill>
              </a:rPr>
              <a:t>ESCALATE →</a:t>
            </a:r>
            <a:endParaRPr lang="en-US" sz="1000" dirty="0"/>
          </a:p>
        </p:txBody>
      </p:sp>
      <p:sp>
        <p:nvSpPr>
          <p:cNvPr id="14" name="Shape 12"/>
          <p:cNvSpPr/>
          <p:nvPr/>
        </p:nvSpPr>
        <p:spPr>
          <a:xfrm>
            <a:off x="475488" y="1737360"/>
            <a:ext cx="0" cy="164592"/>
          </a:xfrm>
          <a:prstGeom prst="line">
            <a:avLst/>
          </a:prstGeom>
          <a:noFill/>
          <a:ln w="12700">
            <a:solidFill>
              <a:srgbClr val="94A3B8"/>
            </a:solidFill>
            <a:prstDash val="dash"/>
          </a:ln>
        </p:spPr>
        <p:txBody>
          <a:bodyPr/>
          <a:lstStyle/>
          <a:p>
            <a:endParaRPr lang="en-US"/>
          </a:p>
        </p:txBody>
      </p:sp>
      <p:sp>
        <p:nvSpPr>
          <p:cNvPr id="15" name="Shape 13"/>
          <p:cNvSpPr/>
          <p:nvPr/>
        </p:nvSpPr>
        <p:spPr>
          <a:xfrm>
            <a:off x="274320" y="1929384"/>
            <a:ext cx="384048" cy="384048"/>
          </a:xfrm>
          <a:prstGeom prst="ellipse">
            <a:avLst/>
          </a:prstGeom>
          <a:solidFill>
            <a:srgbClr val="1A2D45"/>
          </a:solidFill>
          <a:ln w="12700">
            <a:solidFill>
              <a:srgbClr val="94A3B8"/>
            </a:solidFill>
            <a:prstDash val="solid"/>
          </a:ln>
        </p:spPr>
        <p:txBody>
          <a:bodyPr/>
          <a:lstStyle/>
          <a:p>
            <a:endParaRPr lang="en-US"/>
          </a:p>
        </p:txBody>
      </p:sp>
      <p:sp>
        <p:nvSpPr>
          <p:cNvPr id="16" name="Text 14"/>
          <p:cNvSpPr/>
          <p:nvPr/>
        </p:nvSpPr>
        <p:spPr>
          <a:xfrm>
            <a:off x="274320" y="1929384"/>
            <a:ext cx="384048" cy="384048"/>
          </a:xfrm>
          <a:prstGeom prst="rect">
            <a:avLst/>
          </a:prstGeom>
          <a:noFill/>
          <a:ln/>
        </p:spPr>
        <p:txBody>
          <a:bodyPr wrap="square" lIns="0" tIns="0" rIns="0" bIns="0" rtlCol="0" anchor="ctr"/>
          <a:lstStyle/>
          <a:p>
            <a:pPr marL="0" indent="0" algn="ctr">
              <a:buNone/>
            </a:pPr>
            <a:r>
              <a:rPr lang="en-US" sz="1200" b="1" dirty="0">
                <a:solidFill>
                  <a:srgbClr val="94A3B8"/>
                </a:solidFill>
              </a:rPr>
              <a:t>2</a:t>
            </a:r>
            <a:endParaRPr lang="en-US" sz="1200" dirty="0"/>
          </a:p>
        </p:txBody>
      </p:sp>
      <p:sp>
        <p:nvSpPr>
          <p:cNvPr id="17" name="Shape 15"/>
          <p:cNvSpPr/>
          <p:nvPr/>
        </p:nvSpPr>
        <p:spPr>
          <a:xfrm>
            <a:off x="777240" y="1901952"/>
            <a:ext cx="5303520" cy="457200"/>
          </a:xfrm>
          <a:prstGeom prst="rect">
            <a:avLst/>
          </a:prstGeom>
          <a:solidFill>
            <a:srgbClr val="132338"/>
          </a:solidFill>
          <a:ln w="12700">
            <a:solidFill>
              <a:srgbClr val="334155"/>
            </a:solidFill>
            <a:prstDash val="solid"/>
          </a:ln>
        </p:spPr>
        <p:txBody>
          <a:bodyPr/>
          <a:lstStyle/>
          <a:p>
            <a:endParaRPr lang="en-US"/>
          </a:p>
        </p:txBody>
      </p:sp>
      <p:sp>
        <p:nvSpPr>
          <p:cNvPr id="18" name="Text 16"/>
          <p:cNvSpPr/>
          <p:nvPr/>
        </p:nvSpPr>
        <p:spPr>
          <a:xfrm>
            <a:off x="914400" y="1901952"/>
            <a:ext cx="5074920" cy="457200"/>
          </a:xfrm>
          <a:prstGeom prst="rect">
            <a:avLst/>
          </a:prstGeom>
          <a:noFill/>
          <a:ln/>
        </p:spPr>
        <p:txBody>
          <a:bodyPr wrap="square" lIns="0" tIns="0" rIns="0" bIns="0" rtlCol="0" anchor="ctr"/>
          <a:lstStyle/>
          <a:p>
            <a:pPr marL="0" indent="0">
              <a:buNone/>
            </a:pPr>
            <a:r>
              <a:rPr lang="en-US" sz="1100" dirty="0">
                <a:solidFill>
                  <a:srgbClr val="E2E8F0"/>
                </a:solidFill>
              </a:rPr>
              <a:t>Can you stop doing the thing that creates the risk?</a:t>
            </a:r>
            <a:endParaRPr lang="en-US" sz="1100" dirty="0"/>
          </a:p>
        </p:txBody>
      </p:sp>
      <p:sp>
        <p:nvSpPr>
          <p:cNvPr id="19" name="Shape 17"/>
          <p:cNvSpPr/>
          <p:nvPr/>
        </p:nvSpPr>
        <p:spPr>
          <a:xfrm>
            <a:off x="6172200" y="1938528"/>
            <a:ext cx="475488" cy="347472"/>
          </a:xfrm>
          <a:prstGeom prst="rect">
            <a:avLst/>
          </a:prstGeom>
          <a:solidFill>
            <a:srgbClr val="1A2D45"/>
          </a:solidFill>
          <a:ln w="12700">
            <a:solidFill>
              <a:srgbClr val="94A3B8"/>
            </a:solidFill>
            <a:prstDash val="solid"/>
          </a:ln>
        </p:spPr>
        <p:txBody>
          <a:bodyPr/>
          <a:lstStyle/>
          <a:p>
            <a:endParaRPr lang="en-US"/>
          </a:p>
        </p:txBody>
      </p:sp>
      <p:sp>
        <p:nvSpPr>
          <p:cNvPr id="20" name="Text 18"/>
          <p:cNvSpPr/>
          <p:nvPr/>
        </p:nvSpPr>
        <p:spPr>
          <a:xfrm>
            <a:off x="6172200" y="1938528"/>
            <a:ext cx="475488" cy="347472"/>
          </a:xfrm>
          <a:prstGeom prst="rect">
            <a:avLst/>
          </a:prstGeom>
          <a:noFill/>
          <a:ln/>
        </p:spPr>
        <p:txBody>
          <a:bodyPr wrap="square" lIns="0" tIns="0" rIns="0" bIns="0" rtlCol="0" anchor="ctr"/>
          <a:lstStyle/>
          <a:p>
            <a:pPr marL="0" indent="0" algn="ctr">
              <a:buNone/>
            </a:pPr>
            <a:r>
              <a:rPr lang="en-US" sz="800" b="1" dirty="0">
                <a:solidFill>
                  <a:srgbClr val="94A3B8"/>
                </a:solidFill>
              </a:rPr>
              <a:t>YES</a:t>
            </a:r>
            <a:endParaRPr lang="en-US" sz="800" dirty="0"/>
          </a:p>
        </p:txBody>
      </p:sp>
      <p:sp>
        <p:nvSpPr>
          <p:cNvPr id="21" name="Shape 19"/>
          <p:cNvSpPr/>
          <p:nvPr/>
        </p:nvSpPr>
        <p:spPr>
          <a:xfrm>
            <a:off x="6647688" y="2112264"/>
            <a:ext cx="228600" cy="0"/>
          </a:xfrm>
          <a:prstGeom prst="line">
            <a:avLst/>
          </a:prstGeom>
          <a:noFill/>
          <a:ln w="19050">
            <a:solidFill>
              <a:srgbClr val="DC2626"/>
            </a:solidFill>
            <a:prstDash val="solid"/>
          </a:ln>
        </p:spPr>
        <p:txBody>
          <a:bodyPr/>
          <a:lstStyle/>
          <a:p>
            <a:endParaRPr lang="en-US"/>
          </a:p>
        </p:txBody>
      </p:sp>
      <p:sp>
        <p:nvSpPr>
          <p:cNvPr id="22" name="Shape 20"/>
          <p:cNvSpPr/>
          <p:nvPr/>
        </p:nvSpPr>
        <p:spPr>
          <a:xfrm>
            <a:off x="6876288" y="1947672"/>
            <a:ext cx="1993392" cy="347472"/>
          </a:xfrm>
          <a:prstGeom prst="rect">
            <a:avLst/>
          </a:prstGeom>
          <a:solidFill>
            <a:srgbClr val="DC2626">
              <a:alpha val="85000"/>
            </a:srgbClr>
          </a:solidFill>
          <a:ln w="12700">
            <a:solidFill>
              <a:srgbClr val="DC2626"/>
            </a:solidFill>
            <a:prstDash val="solid"/>
          </a:ln>
        </p:spPr>
        <p:txBody>
          <a:bodyPr/>
          <a:lstStyle/>
          <a:p>
            <a:endParaRPr lang="en-US"/>
          </a:p>
        </p:txBody>
      </p:sp>
      <p:sp>
        <p:nvSpPr>
          <p:cNvPr id="23" name="Text 21"/>
          <p:cNvSpPr/>
          <p:nvPr/>
        </p:nvSpPr>
        <p:spPr>
          <a:xfrm>
            <a:off x="6903720" y="1947672"/>
            <a:ext cx="1938528" cy="347472"/>
          </a:xfrm>
          <a:prstGeom prst="rect">
            <a:avLst/>
          </a:prstGeom>
          <a:noFill/>
          <a:ln/>
        </p:spPr>
        <p:txBody>
          <a:bodyPr wrap="square" lIns="0" tIns="0" rIns="0" bIns="0" rtlCol="0" anchor="ctr"/>
          <a:lstStyle/>
          <a:p>
            <a:pPr marL="0" indent="0" algn="ctr">
              <a:buNone/>
            </a:pPr>
            <a:r>
              <a:rPr lang="en-US" sz="1000" b="1" dirty="0">
                <a:solidFill>
                  <a:srgbClr val="FFFFFF"/>
                </a:solidFill>
              </a:rPr>
              <a:t>AVOID →</a:t>
            </a:r>
            <a:endParaRPr lang="en-US" sz="1000" dirty="0"/>
          </a:p>
        </p:txBody>
      </p:sp>
      <p:sp>
        <p:nvSpPr>
          <p:cNvPr id="24" name="Shape 22"/>
          <p:cNvSpPr/>
          <p:nvPr/>
        </p:nvSpPr>
        <p:spPr>
          <a:xfrm>
            <a:off x="475488" y="2359152"/>
            <a:ext cx="0" cy="164592"/>
          </a:xfrm>
          <a:prstGeom prst="line">
            <a:avLst/>
          </a:prstGeom>
          <a:noFill/>
          <a:ln w="12700">
            <a:solidFill>
              <a:srgbClr val="94A3B8"/>
            </a:solidFill>
            <a:prstDash val="dash"/>
          </a:ln>
        </p:spPr>
        <p:txBody>
          <a:bodyPr/>
          <a:lstStyle/>
          <a:p>
            <a:endParaRPr lang="en-US"/>
          </a:p>
        </p:txBody>
      </p:sp>
      <p:sp>
        <p:nvSpPr>
          <p:cNvPr id="25" name="Shape 23"/>
          <p:cNvSpPr/>
          <p:nvPr/>
        </p:nvSpPr>
        <p:spPr>
          <a:xfrm>
            <a:off x="274320" y="2551176"/>
            <a:ext cx="384048" cy="384048"/>
          </a:xfrm>
          <a:prstGeom prst="ellipse">
            <a:avLst/>
          </a:prstGeom>
          <a:solidFill>
            <a:srgbClr val="1A2D45"/>
          </a:solidFill>
          <a:ln w="12700">
            <a:solidFill>
              <a:srgbClr val="94A3B8"/>
            </a:solidFill>
            <a:prstDash val="solid"/>
          </a:ln>
        </p:spPr>
        <p:txBody>
          <a:bodyPr/>
          <a:lstStyle/>
          <a:p>
            <a:endParaRPr lang="en-US"/>
          </a:p>
        </p:txBody>
      </p:sp>
      <p:sp>
        <p:nvSpPr>
          <p:cNvPr id="26" name="Text 24"/>
          <p:cNvSpPr/>
          <p:nvPr/>
        </p:nvSpPr>
        <p:spPr>
          <a:xfrm>
            <a:off x="274320" y="2551176"/>
            <a:ext cx="384048" cy="384048"/>
          </a:xfrm>
          <a:prstGeom prst="rect">
            <a:avLst/>
          </a:prstGeom>
          <a:noFill/>
          <a:ln/>
        </p:spPr>
        <p:txBody>
          <a:bodyPr wrap="square" lIns="0" tIns="0" rIns="0" bIns="0" rtlCol="0" anchor="ctr"/>
          <a:lstStyle/>
          <a:p>
            <a:pPr marL="0" indent="0" algn="ctr">
              <a:buNone/>
            </a:pPr>
            <a:r>
              <a:rPr lang="en-US" sz="1200" b="1" dirty="0">
                <a:solidFill>
                  <a:srgbClr val="94A3B8"/>
                </a:solidFill>
              </a:rPr>
              <a:t>3</a:t>
            </a:r>
            <a:endParaRPr lang="en-US" sz="1200" dirty="0"/>
          </a:p>
        </p:txBody>
      </p:sp>
      <p:sp>
        <p:nvSpPr>
          <p:cNvPr id="27" name="Shape 25"/>
          <p:cNvSpPr/>
          <p:nvPr/>
        </p:nvSpPr>
        <p:spPr>
          <a:xfrm>
            <a:off x="777240" y="2523744"/>
            <a:ext cx="5303520" cy="457200"/>
          </a:xfrm>
          <a:prstGeom prst="rect">
            <a:avLst/>
          </a:prstGeom>
          <a:solidFill>
            <a:srgbClr val="132338"/>
          </a:solidFill>
          <a:ln w="12700">
            <a:solidFill>
              <a:srgbClr val="334155"/>
            </a:solidFill>
            <a:prstDash val="solid"/>
          </a:ln>
        </p:spPr>
        <p:txBody>
          <a:bodyPr/>
          <a:lstStyle/>
          <a:p>
            <a:endParaRPr lang="en-US"/>
          </a:p>
        </p:txBody>
      </p:sp>
      <p:sp>
        <p:nvSpPr>
          <p:cNvPr id="28" name="Text 26"/>
          <p:cNvSpPr/>
          <p:nvPr/>
        </p:nvSpPr>
        <p:spPr>
          <a:xfrm>
            <a:off x="914400" y="2523744"/>
            <a:ext cx="5074920" cy="457200"/>
          </a:xfrm>
          <a:prstGeom prst="rect">
            <a:avLst/>
          </a:prstGeom>
          <a:noFill/>
          <a:ln/>
        </p:spPr>
        <p:txBody>
          <a:bodyPr wrap="square" lIns="0" tIns="0" rIns="0" bIns="0" rtlCol="0" anchor="ctr"/>
          <a:lstStyle/>
          <a:p>
            <a:pPr marL="0" indent="0">
              <a:buNone/>
            </a:pPr>
            <a:r>
              <a:rPr lang="en-US" sz="1100" dirty="0">
                <a:solidFill>
                  <a:srgbClr val="E2E8F0"/>
                </a:solidFill>
              </a:rPr>
              <a:t>Is this a positive risk (an opportunity)?</a:t>
            </a:r>
            <a:endParaRPr lang="en-US" sz="1100" dirty="0"/>
          </a:p>
        </p:txBody>
      </p:sp>
      <p:sp>
        <p:nvSpPr>
          <p:cNvPr id="29" name="Shape 27"/>
          <p:cNvSpPr/>
          <p:nvPr/>
        </p:nvSpPr>
        <p:spPr>
          <a:xfrm>
            <a:off x="6172200" y="2560320"/>
            <a:ext cx="475488" cy="347472"/>
          </a:xfrm>
          <a:prstGeom prst="rect">
            <a:avLst/>
          </a:prstGeom>
          <a:solidFill>
            <a:srgbClr val="1A2D45"/>
          </a:solidFill>
          <a:ln w="12700">
            <a:solidFill>
              <a:srgbClr val="94A3B8"/>
            </a:solidFill>
            <a:prstDash val="solid"/>
          </a:ln>
        </p:spPr>
        <p:txBody>
          <a:bodyPr/>
          <a:lstStyle/>
          <a:p>
            <a:endParaRPr lang="en-US"/>
          </a:p>
        </p:txBody>
      </p:sp>
      <p:sp>
        <p:nvSpPr>
          <p:cNvPr id="30" name="Text 28"/>
          <p:cNvSpPr/>
          <p:nvPr/>
        </p:nvSpPr>
        <p:spPr>
          <a:xfrm>
            <a:off x="6172200" y="2560320"/>
            <a:ext cx="475488" cy="347472"/>
          </a:xfrm>
          <a:prstGeom prst="rect">
            <a:avLst/>
          </a:prstGeom>
          <a:noFill/>
          <a:ln/>
        </p:spPr>
        <p:txBody>
          <a:bodyPr wrap="square" lIns="0" tIns="0" rIns="0" bIns="0" rtlCol="0" anchor="ctr"/>
          <a:lstStyle/>
          <a:p>
            <a:pPr marL="0" indent="0" algn="ctr">
              <a:buNone/>
            </a:pPr>
            <a:r>
              <a:rPr lang="en-US" sz="800" b="1" dirty="0">
                <a:solidFill>
                  <a:srgbClr val="94A3B8"/>
                </a:solidFill>
              </a:rPr>
              <a:t>YES</a:t>
            </a:r>
            <a:endParaRPr lang="en-US" sz="800" dirty="0"/>
          </a:p>
        </p:txBody>
      </p:sp>
      <p:sp>
        <p:nvSpPr>
          <p:cNvPr id="31" name="Shape 29"/>
          <p:cNvSpPr/>
          <p:nvPr/>
        </p:nvSpPr>
        <p:spPr>
          <a:xfrm>
            <a:off x="6647688" y="2734056"/>
            <a:ext cx="228600" cy="0"/>
          </a:xfrm>
          <a:prstGeom prst="line">
            <a:avLst/>
          </a:prstGeom>
          <a:noFill/>
          <a:ln w="19050">
            <a:solidFill>
              <a:srgbClr val="D97706"/>
            </a:solidFill>
            <a:prstDash val="solid"/>
          </a:ln>
        </p:spPr>
        <p:txBody>
          <a:bodyPr/>
          <a:lstStyle/>
          <a:p>
            <a:endParaRPr lang="en-US"/>
          </a:p>
        </p:txBody>
      </p:sp>
      <p:sp>
        <p:nvSpPr>
          <p:cNvPr id="32" name="Shape 30"/>
          <p:cNvSpPr/>
          <p:nvPr/>
        </p:nvSpPr>
        <p:spPr>
          <a:xfrm>
            <a:off x="6876288" y="2569464"/>
            <a:ext cx="1993392" cy="347472"/>
          </a:xfrm>
          <a:prstGeom prst="rect">
            <a:avLst/>
          </a:prstGeom>
          <a:solidFill>
            <a:srgbClr val="D97706">
              <a:alpha val="85000"/>
            </a:srgbClr>
          </a:solidFill>
          <a:ln w="12700">
            <a:solidFill>
              <a:srgbClr val="D97706"/>
            </a:solidFill>
            <a:prstDash val="solid"/>
          </a:ln>
        </p:spPr>
        <p:txBody>
          <a:bodyPr/>
          <a:lstStyle/>
          <a:p>
            <a:endParaRPr lang="en-US"/>
          </a:p>
        </p:txBody>
      </p:sp>
      <p:sp>
        <p:nvSpPr>
          <p:cNvPr id="33" name="Text 31"/>
          <p:cNvSpPr/>
          <p:nvPr/>
        </p:nvSpPr>
        <p:spPr>
          <a:xfrm>
            <a:off x="6903720" y="2569464"/>
            <a:ext cx="1938528" cy="347472"/>
          </a:xfrm>
          <a:prstGeom prst="rect">
            <a:avLst/>
          </a:prstGeom>
          <a:noFill/>
          <a:ln/>
        </p:spPr>
        <p:txBody>
          <a:bodyPr wrap="square" lIns="0" tIns="0" rIns="0" bIns="0" rtlCol="0" anchor="ctr"/>
          <a:lstStyle/>
          <a:p>
            <a:pPr marL="0" indent="0" algn="ctr">
              <a:buNone/>
            </a:pPr>
            <a:r>
              <a:rPr lang="en-US" sz="1000" b="1" dirty="0">
                <a:solidFill>
                  <a:srgbClr val="FFFFFF"/>
                </a:solidFill>
              </a:rPr>
              <a:t>EXPLOIT / ENHANCE / SHARE →</a:t>
            </a:r>
            <a:endParaRPr lang="en-US" sz="1000" dirty="0"/>
          </a:p>
        </p:txBody>
      </p:sp>
      <p:sp>
        <p:nvSpPr>
          <p:cNvPr id="34" name="Shape 32"/>
          <p:cNvSpPr/>
          <p:nvPr/>
        </p:nvSpPr>
        <p:spPr>
          <a:xfrm>
            <a:off x="475488" y="2980944"/>
            <a:ext cx="0" cy="164592"/>
          </a:xfrm>
          <a:prstGeom prst="line">
            <a:avLst/>
          </a:prstGeom>
          <a:noFill/>
          <a:ln w="12700">
            <a:solidFill>
              <a:srgbClr val="94A3B8"/>
            </a:solidFill>
            <a:prstDash val="dash"/>
          </a:ln>
        </p:spPr>
        <p:txBody>
          <a:bodyPr/>
          <a:lstStyle/>
          <a:p>
            <a:endParaRPr lang="en-US"/>
          </a:p>
        </p:txBody>
      </p:sp>
      <p:sp>
        <p:nvSpPr>
          <p:cNvPr id="35" name="Shape 33"/>
          <p:cNvSpPr/>
          <p:nvPr/>
        </p:nvSpPr>
        <p:spPr>
          <a:xfrm>
            <a:off x="274320" y="3172968"/>
            <a:ext cx="384048" cy="384048"/>
          </a:xfrm>
          <a:prstGeom prst="ellipse">
            <a:avLst/>
          </a:prstGeom>
          <a:solidFill>
            <a:srgbClr val="1A2D45"/>
          </a:solidFill>
          <a:ln w="12700">
            <a:solidFill>
              <a:srgbClr val="94A3B8"/>
            </a:solidFill>
            <a:prstDash val="solid"/>
          </a:ln>
        </p:spPr>
        <p:txBody>
          <a:bodyPr/>
          <a:lstStyle/>
          <a:p>
            <a:endParaRPr lang="en-US"/>
          </a:p>
        </p:txBody>
      </p:sp>
      <p:sp>
        <p:nvSpPr>
          <p:cNvPr id="36" name="Text 34"/>
          <p:cNvSpPr/>
          <p:nvPr/>
        </p:nvSpPr>
        <p:spPr>
          <a:xfrm>
            <a:off x="274320" y="3172968"/>
            <a:ext cx="384048" cy="384048"/>
          </a:xfrm>
          <a:prstGeom prst="rect">
            <a:avLst/>
          </a:prstGeom>
          <a:noFill/>
          <a:ln/>
        </p:spPr>
        <p:txBody>
          <a:bodyPr wrap="square" lIns="0" tIns="0" rIns="0" bIns="0" rtlCol="0" anchor="ctr"/>
          <a:lstStyle/>
          <a:p>
            <a:pPr marL="0" indent="0" algn="ctr">
              <a:buNone/>
            </a:pPr>
            <a:r>
              <a:rPr lang="en-US" sz="1200" b="1" dirty="0">
                <a:solidFill>
                  <a:srgbClr val="94A3B8"/>
                </a:solidFill>
              </a:rPr>
              <a:t>4</a:t>
            </a:r>
            <a:endParaRPr lang="en-US" sz="1200" dirty="0"/>
          </a:p>
        </p:txBody>
      </p:sp>
      <p:sp>
        <p:nvSpPr>
          <p:cNvPr id="37" name="Shape 35"/>
          <p:cNvSpPr/>
          <p:nvPr/>
        </p:nvSpPr>
        <p:spPr>
          <a:xfrm>
            <a:off x="777240" y="3145536"/>
            <a:ext cx="5303520" cy="457200"/>
          </a:xfrm>
          <a:prstGeom prst="rect">
            <a:avLst/>
          </a:prstGeom>
          <a:solidFill>
            <a:srgbClr val="132338"/>
          </a:solidFill>
          <a:ln w="12700">
            <a:solidFill>
              <a:srgbClr val="334155"/>
            </a:solidFill>
            <a:prstDash val="solid"/>
          </a:ln>
        </p:spPr>
        <p:txBody>
          <a:bodyPr/>
          <a:lstStyle/>
          <a:p>
            <a:endParaRPr lang="en-US"/>
          </a:p>
        </p:txBody>
      </p:sp>
      <p:sp>
        <p:nvSpPr>
          <p:cNvPr id="38" name="Text 36"/>
          <p:cNvSpPr/>
          <p:nvPr/>
        </p:nvSpPr>
        <p:spPr>
          <a:xfrm>
            <a:off x="914400" y="3145536"/>
            <a:ext cx="5074920" cy="457200"/>
          </a:xfrm>
          <a:prstGeom prst="rect">
            <a:avLst/>
          </a:prstGeom>
          <a:noFill/>
          <a:ln/>
        </p:spPr>
        <p:txBody>
          <a:bodyPr wrap="square" lIns="0" tIns="0" rIns="0" bIns="0" rtlCol="0" anchor="ctr"/>
          <a:lstStyle/>
          <a:p>
            <a:pPr marL="0" indent="0">
              <a:buNone/>
            </a:pPr>
            <a:r>
              <a:rPr lang="en-US" sz="1100" dirty="0">
                <a:solidFill>
                  <a:srgbClr val="E2E8F0"/>
                </a:solidFill>
              </a:rPr>
              <a:t>Can controls reduce it to an acceptable level?</a:t>
            </a:r>
            <a:endParaRPr lang="en-US" sz="1100" dirty="0"/>
          </a:p>
        </p:txBody>
      </p:sp>
      <p:sp>
        <p:nvSpPr>
          <p:cNvPr id="39" name="Shape 37"/>
          <p:cNvSpPr/>
          <p:nvPr/>
        </p:nvSpPr>
        <p:spPr>
          <a:xfrm>
            <a:off x="6172200" y="3182112"/>
            <a:ext cx="475488" cy="347472"/>
          </a:xfrm>
          <a:prstGeom prst="rect">
            <a:avLst/>
          </a:prstGeom>
          <a:solidFill>
            <a:srgbClr val="1A2D45"/>
          </a:solidFill>
          <a:ln w="12700">
            <a:solidFill>
              <a:srgbClr val="94A3B8"/>
            </a:solidFill>
            <a:prstDash val="solid"/>
          </a:ln>
        </p:spPr>
        <p:txBody>
          <a:bodyPr/>
          <a:lstStyle/>
          <a:p>
            <a:endParaRPr lang="en-US"/>
          </a:p>
        </p:txBody>
      </p:sp>
      <p:sp>
        <p:nvSpPr>
          <p:cNvPr id="40" name="Text 38"/>
          <p:cNvSpPr/>
          <p:nvPr/>
        </p:nvSpPr>
        <p:spPr>
          <a:xfrm>
            <a:off x="6172200" y="3182112"/>
            <a:ext cx="475488" cy="347472"/>
          </a:xfrm>
          <a:prstGeom prst="rect">
            <a:avLst/>
          </a:prstGeom>
          <a:noFill/>
          <a:ln/>
        </p:spPr>
        <p:txBody>
          <a:bodyPr wrap="square" lIns="0" tIns="0" rIns="0" bIns="0" rtlCol="0" anchor="ctr"/>
          <a:lstStyle/>
          <a:p>
            <a:pPr marL="0" indent="0" algn="ctr">
              <a:buNone/>
            </a:pPr>
            <a:r>
              <a:rPr lang="en-US" sz="800" b="1" dirty="0">
                <a:solidFill>
                  <a:srgbClr val="94A3B8"/>
                </a:solidFill>
              </a:rPr>
              <a:t>YES</a:t>
            </a:r>
            <a:endParaRPr lang="en-US" sz="800" dirty="0"/>
          </a:p>
        </p:txBody>
      </p:sp>
      <p:sp>
        <p:nvSpPr>
          <p:cNvPr id="41" name="Shape 39"/>
          <p:cNvSpPr/>
          <p:nvPr/>
        </p:nvSpPr>
        <p:spPr>
          <a:xfrm>
            <a:off x="6647688" y="3355848"/>
            <a:ext cx="228600" cy="0"/>
          </a:xfrm>
          <a:prstGeom prst="line">
            <a:avLst/>
          </a:prstGeom>
          <a:noFill/>
          <a:ln w="19050">
            <a:solidFill>
              <a:srgbClr val="0891B2"/>
            </a:solidFill>
            <a:prstDash val="solid"/>
          </a:ln>
        </p:spPr>
        <p:txBody>
          <a:bodyPr/>
          <a:lstStyle/>
          <a:p>
            <a:endParaRPr lang="en-US"/>
          </a:p>
        </p:txBody>
      </p:sp>
      <p:sp>
        <p:nvSpPr>
          <p:cNvPr id="42" name="Shape 40"/>
          <p:cNvSpPr/>
          <p:nvPr/>
        </p:nvSpPr>
        <p:spPr>
          <a:xfrm>
            <a:off x="6876288" y="3191256"/>
            <a:ext cx="1993392" cy="347472"/>
          </a:xfrm>
          <a:prstGeom prst="rect">
            <a:avLst/>
          </a:prstGeom>
          <a:solidFill>
            <a:srgbClr val="0891B2">
              <a:alpha val="85000"/>
            </a:srgbClr>
          </a:solidFill>
          <a:ln w="12700">
            <a:solidFill>
              <a:srgbClr val="0891B2"/>
            </a:solidFill>
            <a:prstDash val="solid"/>
          </a:ln>
        </p:spPr>
        <p:txBody>
          <a:bodyPr/>
          <a:lstStyle/>
          <a:p>
            <a:endParaRPr lang="en-US"/>
          </a:p>
        </p:txBody>
      </p:sp>
      <p:sp>
        <p:nvSpPr>
          <p:cNvPr id="43" name="Text 41"/>
          <p:cNvSpPr/>
          <p:nvPr/>
        </p:nvSpPr>
        <p:spPr>
          <a:xfrm>
            <a:off x="6903720" y="3191256"/>
            <a:ext cx="1938528" cy="347472"/>
          </a:xfrm>
          <a:prstGeom prst="rect">
            <a:avLst/>
          </a:prstGeom>
          <a:noFill/>
          <a:ln/>
        </p:spPr>
        <p:txBody>
          <a:bodyPr wrap="square" lIns="0" tIns="0" rIns="0" bIns="0" rtlCol="0" anchor="ctr"/>
          <a:lstStyle/>
          <a:p>
            <a:pPr marL="0" indent="0" algn="ctr">
              <a:buNone/>
            </a:pPr>
            <a:r>
              <a:rPr lang="en-US" sz="1000" b="1" dirty="0">
                <a:solidFill>
                  <a:srgbClr val="FFFFFF"/>
                </a:solidFill>
              </a:rPr>
              <a:t>MITIGATE →</a:t>
            </a:r>
            <a:endParaRPr lang="en-US" sz="1000" dirty="0"/>
          </a:p>
        </p:txBody>
      </p:sp>
      <p:sp>
        <p:nvSpPr>
          <p:cNvPr id="44" name="Shape 42"/>
          <p:cNvSpPr/>
          <p:nvPr/>
        </p:nvSpPr>
        <p:spPr>
          <a:xfrm>
            <a:off x="475488" y="3602736"/>
            <a:ext cx="0" cy="164592"/>
          </a:xfrm>
          <a:prstGeom prst="line">
            <a:avLst/>
          </a:prstGeom>
          <a:noFill/>
          <a:ln w="12700">
            <a:solidFill>
              <a:srgbClr val="94A3B8"/>
            </a:solidFill>
            <a:prstDash val="dash"/>
          </a:ln>
        </p:spPr>
        <p:txBody>
          <a:bodyPr/>
          <a:lstStyle/>
          <a:p>
            <a:endParaRPr lang="en-US"/>
          </a:p>
        </p:txBody>
      </p:sp>
      <p:sp>
        <p:nvSpPr>
          <p:cNvPr id="45" name="Shape 43"/>
          <p:cNvSpPr/>
          <p:nvPr/>
        </p:nvSpPr>
        <p:spPr>
          <a:xfrm>
            <a:off x="274320" y="3794760"/>
            <a:ext cx="384048" cy="384048"/>
          </a:xfrm>
          <a:prstGeom prst="ellipse">
            <a:avLst/>
          </a:prstGeom>
          <a:solidFill>
            <a:srgbClr val="1A2D45"/>
          </a:solidFill>
          <a:ln w="12700">
            <a:solidFill>
              <a:srgbClr val="94A3B8"/>
            </a:solidFill>
            <a:prstDash val="solid"/>
          </a:ln>
        </p:spPr>
        <p:txBody>
          <a:bodyPr/>
          <a:lstStyle/>
          <a:p>
            <a:endParaRPr lang="en-US"/>
          </a:p>
        </p:txBody>
      </p:sp>
      <p:sp>
        <p:nvSpPr>
          <p:cNvPr id="46" name="Text 44"/>
          <p:cNvSpPr/>
          <p:nvPr/>
        </p:nvSpPr>
        <p:spPr>
          <a:xfrm>
            <a:off x="274320" y="3794760"/>
            <a:ext cx="384048" cy="384048"/>
          </a:xfrm>
          <a:prstGeom prst="rect">
            <a:avLst/>
          </a:prstGeom>
          <a:noFill/>
          <a:ln/>
        </p:spPr>
        <p:txBody>
          <a:bodyPr wrap="square" lIns="0" tIns="0" rIns="0" bIns="0" rtlCol="0" anchor="ctr"/>
          <a:lstStyle/>
          <a:p>
            <a:pPr marL="0" indent="0" algn="ctr">
              <a:buNone/>
            </a:pPr>
            <a:r>
              <a:rPr lang="en-US" sz="1200" b="1" dirty="0">
                <a:solidFill>
                  <a:srgbClr val="94A3B8"/>
                </a:solidFill>
              </a:rPr>
              <a:t>5</a:t>
            </a:r>
            <a:endParaRPr lang="en-US" sz="1200" dirty="0"/>
          </a:p>
        </p:txBody>
      </p:sp>
      <p:sp>
        <p:nvSpPr>
          <p:cNvPr id="47" name="Shape 45"/>
          <p:cNvSpPr/>
          <p:nvPr/>
        </p:nvSpPr>
        <p:spPr>
          <a:xfrm>
            <a:off x="777240" y="3767328"/>
            <a:ext cx="5303520" cy="457200"/>
          </a:xfrm>
          <a:prstGeom prst="rect">
            <a:avLst/>
          </a:prstGeom>
          <a:solidFill>
            <a:srgbClr val="132338"/>
          </a:solidFill>
          <a:ln w="12700">
            <a:solidFill>
              <a:srgbClr val="334155"/>
            </a:solidFill>
            <a:prstDash val="solid"/>
          </a:ln>
        </p:spPr>
        <p:txBody>
          <a:bodyPr/>
          <a:lstStyle/>
          <a:p>
            <a:endParaRPr lang="en-US"/>
          </a:p>
        </p:txBody>
      </p:sp>
      <p:sp>
        <p:nvSpPr>
          <p:cNvPr id="48" name="Text 46"/>
          <p:cNvSpPr/>
          <p:nvPr/>
        </p:nvSpPr>
        <p:spPr>
          <a:xfrm>
            <a:off x="914400" y="3767328"/>
            <a:ext cx="5074920" cy="457200"/>
          </a:xfrm>
          <a:prstGeom prst="rect">
            <a:avLst/>
          </a:prstGeom>
          <a:noFill/>
          <a:ln/>
        </p:spPr>
        <p:txBody>
          <a:bodyPr wrap="square" lIns="0" tIns="0" rIns="0" bIns="0" rtlCol="0" anchor="ctr"/>
          <a:lstStyle/>
          <a:p>
            <a:pPr marL="0" indent="0">
              <a:buNone/>
            </a:pPr>
            <a:r>
              <a:rPr lang="en-US" sz="1100" dirty="0">
                <a:solidFill>
                  <a:srgbClr val="E2E8F0"/>
                </a:solidFill>
              </a:rPr>
              <a:t>Can you pay someone else to bear the impact?</a:t>
            </a:r>
            <a:endParaRPr lang="en-US" sz="1100" dirty="0"/>
          </a:p>
        </p:txBody>
      </p:sp>
      <p:sp>
        <p:nvSpPr>
          <p:cNvPr id="49" name="Shape 47"/>
          <p:cNvSpPr/>
          <p:nvPr/>
        </p:nvSpPr>
        <p:spPr>
          <a:xfrm>
            <a:off x="6172200" y="3803904"/>
            <a:ext cx="475488" cy="347472"/>
          </a:xfrm>
          <a:prstGeom prst="rect">
            <a:avLst/>
          </a:prstGeom>
          <a:solidFill>
            <a:srgbClr val="1A2D45"/>
          </a:solidFill>
          <a:ln w="12700">
            <a:solidFill>
              <a:srgbClr val="94A3B8"/>
            </a:solidFill>
            <a:prstDash val="solid"/>
          </a:ln>
        </p:spPr>
        <p:txBody>
          <a:bodyPr/>
          <a:lstStyle/>
          <a:p>
            <a:endParaRPr lang="en-US"/>
          </a:p>
        </p:txBody>
      </p:sp>
      <p:sp>
        <p:nvSpPr>
          <p:cNvPr id="50" name="Text 48"/>
          <p:cNvSpPr/>
          <p:nvPr/>
        </p:nvSpPr>
        <p:spPr>
          <a:xfrm>
            <a:off x="6172200" y="3803904"/>
            <a:ext cx="475488" cy="347472"/>
          </a:xfrm>
          <a:prstGeom prst="rect">
            <a:avLst/>
          </a:prstGeom>
          <a:noFill/>
          <a:ln/>
        </p:spPr>
        <p:txBody>
          <a:bodyPr wrap="square" lIns="0" tIns="0" rIns="0" bIns="0" rtlCol="0" anchor="ctr"/>
          <a:lstStyle/>
          <a:p>
            <a:pPr marL="0" indent="0" algn="ctr">
              <a:buNone/>
            </a:pPr>
            <a:r>
              <a:rPr lang="en-US" sz="800" b="1" dirty="0">
                <a:solidFill>
                  <a:srgbClr val="94A3B8"/>
                </a:solidFill>
              </a:rPr>
              <a:t>YES</a:t>
            </a:r>
            <a:endParaRPr lang="en-US" sz="800" dirty="0"/>
          </a:p>
        </p:txBody>
      </p:sp>
      <p:sp>
        <p:nvSpPr>
          <p:cNvPr id="51" name="Shape 49"/>
          <p:cNvSpPr/>
          <p:nvPr/>
        </p:nvSpPr>
        <p:spPr>
          <a:xfrm>
            <a:off x="6647688" y="3977640"/>
            <a:ext cx="228600" cy="0"/>
          </a:xfrm>
          <a:prstGeom prst="line">
            <a:avLst/>
          </a:prstGeom>
          <a:noFill/>
          <a:ln w="19050">
            <a:solidFill>
              <a:srgbClr val="7C3AED"/>
            </a:solidFill>
            <a:prstDash val="solid"/>
          </a:ln>
        </p:spPr>
        <p:txBody>
          <a:bodyPr/>
          <a:lstStyle/>
          <a:p>
            <a:endParaRPr lang="en-US"/>
          </a:p>
        </p:txBody>
      </p:sp>
      <p:sp>
        <p:nvSpPr>
          <p:cNvPr id="52" name="Shape 50"/>
          <p:cNvSpPr/>
          <p:nvPr/>
        </p:nvSpPr>
        <p:spPr>
          <a:xfrm>
            <a:off x="6876288" y="3813048"/>
            <a:ext cx="1993392" cy="347472"/>
          </a:xfrm>
          <a:prstGeom prst="rect">
            <a:avLst/>
          </a:prstGeom>
          <a:solidFill>
            <a:srgbClr val="7C3AED">
              <a:alpha val="85000"/>
            </a:srgbClr>
          </a:solidFill>
          <a:ln w="12700">
            <a:solidFill>
              <a:srgbClr val="7C3AED"/>
            </a:solidFill>
            <a:prstDash val="solid"/>
          </a:ln>
        </p:spPr>
        <p:txBody>
          <a:bodyPr/>
          <a:lstStyle/>
          <a:p>
            <a:endParaRPr lang="en-US"/>
          </a:p>
        </p:txBody>
      </p:sp>
      <p:sp>
        <p:nvSpPr>
          <p:cNvPr id="53" name="Text 51"/>
          <p:cNvSpPr/>
          <p:nvPr/>
        </p:nvSpPr>
        <p:spPr>
          <a:xfrm>
            <a:off x="6903720" y="3813048"/>
            <a:ext cx="1938528" cy="347472"/>
          </a:xfrm>
          <a:prstGeom prst="rect">
            <a:avLst/>
          </a:prstGeom>
          <a:noFill/>
          <a:ln/>
        </p:spPr>
        <p:txBody>
          <a:bodyPr wrap="square" lIns="0" tIns="0" rIns="0" bIns="0" rtlCol="0" anchor="ctr"/>
          <a:lstStyle/>
          <a:p>
            <a:pPr marL="0" indent="0" algn="ctr">
              <a:buNone/>
            </a:pPr>
            <a:r>
              <a:rPr lang="en-US" sz="1000" b="1" dirty="0">
                <a:solidFill>
                  <a:srgbClr val="FFFFFF"/>
                </a:solidFill>
              </a:rPr>
              <a:t>TRANSFER →</a:t>
            </a:r>
            <a:endParaRPr lang="en-US" sz="1000" dirty="0"/>
          </a:p>
        </p:txBody>
      </p:sp>
      <p:sp>
        <p:nvSpPr>
          <p:cNvPr id="54" name="Shape 52"/>
          <p:cNvSpPr/>
          <p:nvPr/>
        </p:nvSpPr>
        <p:spPr>
          <a:xfrm>
            <a:off x="475488" y="4224528"/>
            <a:ext cx="0" cy="164592"/>
          </a:xfrm>
          <a:prstGeom prst="line">
            <a:avLst/>
          </a:prstGeom>
          <a:noFill/>
          <a:ln w="12700">
            <a:solidFill>
              <a:srgbClr val="94A3B8"/>
            </a:solidFill>
            <a:prstDash val="dash"/>
          </a:ln>
        </p:spPr>
        <p:txBody>
          <a:bodyPr/>
          <a:lstStyle/>
          <a:p>
            <a:endParaRPr lang="en-US"/>
          </a:p>
        </p:txBody>
      </p:sp>
      <p:sp>
        <p:nvSpPr>
          <p:cNvPr id="55" name="Shape 53"/>
          <p:cNvSpPr/>
          <p:nvPr/>
        </p:nvSpPr>
        <p:spPr>
          <a:xfrm>
            <a:off x="274320" y="4416552"/>
            <a:ext cx="384048" cy="384048"/>
          </a:xfrm>
          <a:prstGeom prst="ellipse">
            <a:avLst/>
          </a:prstGeom>
          <a:solidFill>
            <a:srgbClr val="1A2D45"/>
          </a:solidFill>
          <a:ln w="12700">
            <a:solidFill>
              <a:srgbClr val="94A3B8"/>
            </a:solidFill>
            <a:prstDash val="solid"/>
          </a:ln>
        </p:spPr>
        <p:txBody>
          <a:bodyPr/>
          <a:lstStyle/>
          <a:p>
            <a:endParaRPr lang="en-US"/>
          </a:p>
        </p:txBody>
      </p:sp>
      <p:sp>
        <p:nvSpPr>
          <p:cNvPr id="56" name="Text 54"/>
          <p:cNvSpPr/>
          <p:nvPr/>
        </p:nvSpPr>
        <p:spPr>
          <a:xfrm>
            <a:off x="274320" y="4416552"/>
            <a:ext cx="384048" cy="384048"/>
          </a:xfrm>
          <a:prstGeom prst="rect">
            <a:avLst/>
          </a:prstGeom>
          <a:noFill/>
          <a:ln/>
        </p:spPr>
        <p:txBody>
          <a:bodyPr wrap="square" lIns="0" tIns="0" rIns="0" bIns="0" rtlCol="0" anchor="ctr"/>
          <a:lstStyle/>
          <a:p>
            <a:pPr marL="0" indent="0" algn="ctr">
              <a:buNone/>
            </a:pPr>
            <a:r>
              <a:rPr lang="en-US" sz="1200" b="1" dirty="0">
                <a:solidFill>
                  <a:srgbClr val="94A3B8"/>
                </a:solidFill>
              </a:rPr>
              <a:t>6</a:t>
            </a:r>
            <a:endParaRPr lang="en-US" sz="1200" dirty="0"/>
          </a:p>
        </p:txBody>
      </p:sp>
      <p:sp>
        <p:nvSpPr>
          <p:cNvPr id="57" name="Shape 55"/>
          <p:cNvSpPr/>
          <p:nvPr/>
        </p:nvSpPr>
        <p:spPr>
          <a:xfrm>
            <a:off x="777240" y="4389120"/>
            <a:ext cx="5303520" cy="457200"/>
          </a:xfrm>
          <a:prstGeom prst="rect">
            <a:avLst/>
          </a:prstGeom>
          <a:solidFill>
            <a:srgbClr val="132338"/>
          </a:solidFill>
          <a:ln w="12700">
            <a:solidFill>
              <a:srgbClr val="334155"/>
            </a:solidFill>
            <a:prstDash val="solid"/>
          </a:ln>
        </p:spPr>
        <p:txBody>
          <a:bodyPr/>
          <a:lstStyle/>
          <a:p>
            <a:endParaRPr lang="en-US"/>
          </a:p>
        </p:txBody>
      </p:sp>
      <p:sp>
        <p:nvSpPr>
          <p:cNvPr id="58" name="Text 56"/>
          <p:cNvSpPr/>
          <p:nvPr/>
        </p:nvSpPr>
        <p:spPr>
          <a:xfrm>
            <a:off x="914400" y="4389120"/>
            <a:ext cx="5074920" cy="457200"/>
          </a:xfrm>
          <a:prstGeom prst="rect">
            <a:avLst/>
          </a:prstGeom>
          <a:noFill/>
          <a:ln/>
        </p:spPr>
        <p:txBody>
          <a:bodyPr wrap="square" lIns="0" tIns="0" rIns="0" bIns="0" rtlCol="0" anchor="ctr"/>
          <a:lstStyle/>
          <a:p>
            <a:pPr marL="0" indent="0">
              <a:buNone/>
            </a:pPr>
            <a:r>
              <a:rPr lang="en-US" sz="1100" dirty="0">
                <a:solidFill>
                  <a:srgbClr val="E2E8F0"/>
                </a:solidFill>
              </a:rPr>
              <a:t>Is the cost of acting &gt; cost of the risk?</a:t>
            </a:r>
            <a:endParaRPr lang="en-US" sz="1100" dirty="0"/>
          </a:p>
        </p:txBody>
      </p:sp>
      <p:sp>
        <p:nvSpPr>
          <p:cNvPr id="59" name="Shape 57"/>
          <p:cNvSpPr/>
          <p:nvPr/>
        </p:nvSpPr>
        <p:spPr>
          <a:xfrm>
            <a:off x="6172200" y="4425696"/>
            <a:ext cx="475488" cy="347472"/>
          </a:xfrm>
          <a:prstGeom prst="rect">
            <a:avLst/>
          </a:prstGeom>
          <a:solidFill>
            <a:srgbClr val="1A2D45"/>
          </a:solidFill>
          <a:ln w="12700">
            <a:solidFill>
              <a:srgbClr val="94A3B8"/>
            </a:solidFill>
            <a:prstDash val="solid"/>
          </a:ln>
        </p:spPr>
        <p:txBody>
          <a:bodyPr/>
          <a:lstStyle/>
          <a:p>
            <a:endParaRPr lang="en-US"/>
          </a:p>
        </p:txBody>
      </p:sp>
      <p:sp>
        <p:nvSpPr>
          <p:cNvPr id="60" name="Text 58"/>
          <p:cNvSpPr/>
          <p:nvPr/>
        </p:nvSpPr>
        <p:spPr>
          <a:xfrm>
            <a:off x="6172200" y="4425696"/>
            <a:ext cx="475488" cy="347472"/>
          </a:xfrm>
          <a:prstGeom prst="rect">
            <a:avLst/>
          </a:prstGeom>
          <a:noFill/>
          <a:ln/>
        </p:spPr>
        <p:txBody>
          <a:bodyPr wrap="square" lIns="0" tIns="0" rIns="0" bIns="0" rtlCol="0" anchor="ctr"/>
          <a:lstStyle/>
          <a:p>
            <a:pPr marL="0" indent="0" algn="ctr">
              <a:buNone/>
            </a:pPr>
            <a:r>
              <a:rPr lang="en-US" sz="800" b="1" dirty="0">
                <a:solidFill>
                  <a:srgbClr val="94A3B8"/>
                </a:solidFill>
              </a:rPr>
              <a:t>YES</a:t>
            </a:r>
            <a:endParaRPr lang="en-US" sz="800" dirty="0"/>
          </a:p>
        </p:txBody>
      </p:sp>
      <p:sp>
        <p:nvSpPr>
          <p:cNvPr id="61" name="Shape 59"/>
          <p:cNvSpPr/>
          <p:nvPr/>
        </p:nvSpPr>
        <p:spPr>
          <a:xfrm>
            <a:off x="6647688" y="4599432"/>
            <a:ext cx="228600" cy="0"/>
          </a:xfrm>
          <a:prstGeom prst="line">
            <a:avLst/>
          </a:prstGeom>
          <a:noFill/>
          <a:ln w="19050">
            <a:solidFill>
              <a:srgbClr val="059669"/>
            </a:solidFill>
            <a:prstDash val="solid"/>
          </a:ln>
        </p:spPr>
        <p:txBody>
          <a:bodyPr/>
          <a:lstStyle/>
          <a:p>
            <a:endParaRPr lang="en-US"/>
          </a:p>
        </p:txBody>
      </p:sp>
      <p:sp>
        <p:nvSpPr>
          <p:cNvPr id="62" name="Shape 60"/>
          <p:cNvSpPr/>
          <p:nvPr/>
        </p:nvSpPr>
        <p:spPr>
          <a:xfrm>
            <a:off x="6876288" y="4434840"/>
            <a:ext cx="1993392" cy="347472"/>
          </a:xfrm>
          <a:prstGeom prst="rect">
            <a:avLst/>
          </a:prstGeom>
          <a:solidFill>
            <a:srgbClr val="059669">
              <a:alpha val="85000"/>
            </a:srgbClr>
          </a:solidFill>
          <a:ln w="12700">
            <a:solidFill>
              <a:srgbClr val="059669"/>
            </a:solidFill>
            <a:prstDash val="solid"/>
          </a:ln>
        </p:spPr>
        <p:txBody>
          <a:bodyPr/>
          <a:lstStyle/>
          <a:p>
            <a:endParaRPr lang="en-US"/>
          </a:p>
        </p:txBody>
      </p:sp>
      <p:sp>
        <p:nvSpPr>
          <p:cNvPr id="63" name="Text 61"/>
          <p:cNvSpPr/>
          <p:nvPr/>
        </p:nvSpPr>
        <p:spPr>
          <a:xfrm>
            <a:off x="6903720" y="4434840"/>
            <a:ext cx="1938528" cy="347472"/>
          </a:xfrm>
          <a:prstGeom prst="rect">
            <a:avLst/>
          </a:prstGeom>
          <a:noFill/>
          <a:ln/>
        </p:spPr>
        <p:txBody>
          <a:bodyPr wrap="square" lIns="0" tIns="0" rIns="0" bIns="0" rtlCol="0" anchor="ctr"/>
          <a:lstStyle/>
          <a:p>
            <a:pPr marL="0" indent="0" algn="ctr">
              <a:buNone/>
            </a:pPr>
            <a:r>
              <a:rPr lang="en-US" sz="1000" b="1" dirty="0">
                <a:solidFill>
                  <a:srgbClr val="FFFFFF"/>
                </a:solidFill>
              </a:rPr>
              <a:t>ACCEPT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txBody>
          <a:bodyPr/>
          <a:lstStyle/>
          <a:p>
            <a:endParaRPr lang="en-US"/>
          </a:p>
        </p:txBody>
      </p:sp>
      <p:sp>
        <p:nvSpPr>
          <p:cNvPr id="3" name="Text 1"/>
          <p:cNvSpPr/>
          <p:nvPr/>
        </p:nvSpPr>
        <p:spPr>
          <a:xfrm>
            <a:off x="365760" y="109728"/>
            <a:ext cx="8412480" cy="502920"/>
          </a:xfrm>
          <a:prstGeom prst="rect">
            <a:avLst/>
          </a:prstGeom>
          <a:noFill/>
          <a:ln/>
        </p:spPr>
        <p:txBody>
          <a:bodyPr wrap="square" lIns="0" tIns="0" rIns="0" bIns="0" rtlCol="0" anchor="ctr"/>
          <a:lstStyle/>
          <a:p>
            <a:pPr marL="0" indent="0">
              <a:buNone/>
            </a:pPr>
            <a:r>
              <a:rPr lang="en-US" sz="2200" b="1" dirty="0">
                <a:solidFill>
                  <a:srgbClr val="FFFFFF"/>
                </a:solidFill>
              </a:rPr>
              <a:t>📋  Full Comparison: All 6 Strategies</a:t>
            </a:r>
            <a:endParaRPr lang="en-US" sz="2200" dirty="0"/>
          </a:p>
        </p:txBody>
      </p:sp>
      <p:sp>
        <p:nvSpPr>
          <p:cNvPr id="4" name="Shape 2"/>
          <p:cNvSpPr/>
          <p:nvPr/>
        </p:nvSpPr>
        <p:spPr>
          <a:xfrm>
            <a:off x="256032" y="795528"/>
            <a:ext cx="1188720" cy="384048"/>
          </a:xfrm>
          <a:prstGeom prst="rect">
            <a:avLst/>
          </a:prstGeom>
          <a:solidFill>
            <a:srgbClr val="0E7490"/>
          </a:solidFill>
          <a:ln w="12700">
            <a:solidFill>
              <a:srgbClr val="0E7490"/>
            </a:solidFill>
            <a:prstDash val="solid"/>
          </a:ln>
        </p:spPr>
        <p:txBody>
          <a:bodyPr/>
          <a:lstStyle/>
          <a:p>
            <a:endParaRPr lang="en-US"/>
          </a:p>
        </p:txBody>
      </p:sp>
      <p:sp>
        <p:nvSpPr>
          <p:cNvPr id="5" name="Text 3"/>
          <p:cNvSpPr/>
          <p:nvPr/>
        </p:nvSpPr>
        <p:spPr>
          <a:xfrm>
            <a:off x="320040" y="795528"/>
            <a:ext cx="1124712" cy="384048"/>
          </a:xfrm>
          <a:prstGeom prst="rect">
            <a:avLst/>
          </a:prstGeom>
          <a:noFill/>
          <a:ln/>
        </p:spPr>
        <p:txBody>
          <a:bodyPr wrap="square" lIns="0" tIns="0" rIns="0" bIns="0" rtlCol="0" anchor="ctr"/>
          <a:lstStyle/>
          <a:p>
            <a:pPr marL="0" indent="0">
              <a:buNone/>
            </a:pPr>
            <a:r>
              <a:rPr lang="en-US" sz="950" b="1" dirty="0">
                <a:solidFill>
                  <a:srgbClr val="FFFFFF"/>
                </a:solidFill>
              </a:rPr>
              <a:t>Strategy</a:t>
            </a:r>
            <a:endParaRPr lang="en-US" sz="950" dirty="0"/>
          </a:p>
        </p:txBody>
      </p:sp>
      <p:sp>
        <p:nvSpPr>
          <p:cNvPr id="6" name="Shape 4"/>
          <p:cNvSpPr/>
          <p:nvPr/>
        </p:nvSpPr>
        <p:spPr>
          <a:xfrm>
            <a:off x="1536192" y="795528"/>
            <a:ext cx="1645920" cy="384048"/>
          </a:xfrm>
          <a:prstGeom prst="rect">
            <a:avLst/>
          </a:prstGeom>
          <a:solidFill>
            <a:srgbClr val="0E7490"/>
          </a:solidFill>
          <a:ln w="12700">
            <a:solidFill>
              <a:srgbClr val="0E7490"/>
            </a:solidFill>
            <a:prstDash val="solid"/>
          </a:ln>
        </p:spPr>
        <p:txBody>
          <a:bodyPr/>
          <a:lstStyle/>
          <a:p>
            <a:endParaRPr lang="en-US"/>
          </a:p>
        </p:txBody>
      </p:sp>
      <p:sp>
        <p:nvSpPr>
          <p:cNvPr id="7" name="Text 5"/>
          <p:cNvSpPr/>
          <p:nvPr/>
        </p:nvSpPr>
        <p:spPr>
          <a:xfrm>
            <a:off x="1600200" y="795528"/>
            <a:ext cx="1581912" cy="384048"/>
          </a:xfrm>
          <a:prstGeom prst="rect">
            <a:avLst/>
          </a:prstGeom>
          <a:noFill/>
          <a:ln/>
        </p:spPr>
        <p:txBody>
          <a:bodyPr wrap="square" lIns="0" tIns="0" rIns="0" bIns="0" rtlCol="0" anchor="ctr"/>
          <a:lstStyle/>
          <a:p>
            <a:pPr marL="0" indent="0">
              <a:buNone/>
            </a:pPr>
            <a:r>
              <a:rPr lang="en-US" sz="950" b="1" dirty="0">
                <a:solidFill>
                  <a:srgbClr val="FFFFFF"/>
                </a:solidFill>
              </a:rPr>
              <a:t>Core Idea</a:t>
            </a:r>
            <a:endParaRPr lang="en-US" sz="950" dirty="0"/>
          </a:p>
        </p:txBody>
      </p:sp>
      <p:sp>
        <p:nvSpPr>
          <p:cNvPr id="8" name="Shape 6"/>
          <p:cNvSpPr/>
          <p:nvPr/>
        </p:nvSpPr>
        <p:spPr>
          <a:xfrm>
            <a:off x="3273552" y="795528"/>
            <a:ext cx="1097280" cy="384048"/>
          </a:xfrm>
          <a:prstGeom prst="rect">
            <a:avLst/>
          </a:prstGeom>
          <a:solidFill>
            <a:srgbClr val="0E7490"/>
          </a:solidFill>
          <a:ln w="12700">
            <a:solidFill>
              <a:srgbClr val="0E7490"/>
            </a:solidFill>
            <a:prstDash val="solid"/>
          </a:ln>
        </p:spPr>
        <p:txBody>
          <a:bodyPr/>
          <a:lstStyle/>
          <a:p>
            <a:endParaRPr lang="en-US"/>
          </a:p>
        </p:txBody>
      </p:sp>
      <p:sp>
        <p:nvSpPr>
          <p:cNvPr id="9" name="Text 7"/>
          <p:cNvSpPr/>
          <p:nvPr/>
        </p:nvSpPr>
        <p:spPr>
          <a:xfrm>
            <a:off x="3337560" y="795528"/>
            <a:ext cx="1033272" cy="384048"/>
          </a:xfrm>
          <a:prstGeom prst="rect">
            <a:avLst/>
          </a:prstGeom>
          <a:noFill/>
          <a:ln/>
        </p:spPr>
        <p:txBody>
          <a:bodyPr wrap="square" lIns="0" tIns="0" rIns="0" bIns="0" rtlCol="0" anchor="ctr"/>
          <a:lstStyle/>
          <a:p>
            <a:pPr marL="0" indent="0">
              <a:buNone/>
            </a:pPr>
            <a:r>
              <a:rPr lang="en-US" sz="950" b="1" dirty="0">
                <a:solidFill>
                  <a:srgbClr val="FFFFFF"/>
                </a:solidFill>
              </a:rPr>
              <a:t>Risk Still Exists?</a:t>
            </a:r>
            <a:endParaRPr lang="en-US" sz="950" dirty="0"/>
          </a:p>
        </p:txBody>
      </p:sp>
      <p:sp>
        <p:nvSpPr>
          <p:cNvPr id="10" name="Shape 8"/>
          <p:cNvSpPr/>
          <p:nvPr/>
        </p:nvSpPr>
        <p:spPr>
          <a:xfrm>
            <a:off x="4462272" y="795528"/>
            <a:ext cx="1920240" cy="384048"/>
          </a:xfrm>
          <a:prstGeom prst="rect">
            <a:avLst/>
          </a:prstGeom>
          <a:solidFill>
            <a:srgbClr val="0E7490"/>
          </a:solidFill>
          <a:ln w="12700">
            <a:solidFill>
              <a:srgbClr val="0E7490"/>
            </a:solidFill>
            <a:prstDash val="solid"/>
          </a:ln>
        </p:spPr>
        <p:txBody>
          <a:bodyPr/>
          <a:lstStyle/>
          <a:p>
            <a:endParaRPr lang="en-US"/>
          </a:p>
        </p:txBody>
      </p:sp>
      <p:sp>
        <p:nvSpPr>
          <p:cNvPr id="11" name="Text 9"/>
          <p:cNvSpPr/>
          <p:nvPr/>
        </p:nvSpPr>
        <p:spPr>
          <a:xfrm>
            <a:off x="4526280" y="795528"/>
            <a:ext cx="1856232" cy="384048"/>
          </a:xfrm>
          <a:prstGeom prst="rect">
            <a:avLst/>
          </a:prstGeom>
          <a:noFill/>
          <a:ln/>
        </p:spPr>
        <p:txBody>
          <a:bodyPr wrap="square" lIns="0" tIns="0" rIns="0" bIns="0" rtlCol="0" anchor="ctr"/>
          <a:lstStyle/>
          <a:p>
            <a:pPr marL="0" indent="0">
              <a:buNone/>
            </a:pPr>
            <a:r>
              <a:rPr lang="en-US" sz="950" b="1" dirty="0">
                <a:solidFill>
                  <a:srgbClr val="FFFFFF"/>
                </a:solidFill>
              </a:rPr>
              <a:t>Best Used When</a:t>
            </a:r>
            <a:endParaRPr lang="en-US" sz="950" dirty="0"/>
          </a:p>
        </p:txBody>
      </p:sp>
      <p:sp>
        <p:nvSpPr>
          <p:cNvPr id="12" name="Shape 10"/>
          <p:cNvSpPr/>
          <p:nvPr/>
        </p:nvSpPr>
        <p:spPr>
          <a:xfrm>
            <a:off x="6473952" y="795528"/>
            <a:ext cx="2377440" cy="384048"/>
          </a:xfrm>
          <a:prstGeom prst="rect">
            <a:avLst/>
          </a:prstGeom>
          <a:solidFill>
            <a:srgbClr val="0E7490"/>
          </a:solidFill>
          <a:ln w="12700">
            <a:solidFill>
              <a:srgbClr val="0E7490"/>
            </a:solidFill>
            <a:prstDash val="solid"/>
          </a:ln>
        </p:spPr>
        <p:txBody>
          <a:bodyPr/>
          <a:lstStyle/>
          <a:p>
            <a:endParaRPr lang="en-US"/>
          </a:p>
        </p:txBody>
      </p:sp>
      <p:sp>
        <p:nvSpPr>
          <p:cNvPr id="13" name="Text 11"/>
          <p:cNvSpPr/>
          <p:nvPr/>
        </p:nvSpPr>
        <p:spPr>
          <a:xfrm>
            <a:off x="6537960" y="795528"/>
            <a:ext cx="2313432" cy="384048"/>
          </a:xfrm>
          <a:prstGeom prst="rect">
            <a:avLst/>
          </a:prstGeom>
          <a:noFill/>
          <a:ln/>
        </p:spPr>
        <p:txBody>
          <a:bodyPr wrap="square" lIns="0" tIns="0" rIns="0" bIns="0" rtlCol="0" anchor="ctr"/>
          <a:lstStyle/>
          <a:p>
            <a:pPr marL="0" indent="0">
              <a:buNone/>
            </a:pPr>
            <a:r>
              <a:rPr lang="en-US" sz="950" b="1" dirty="0">
                <a:solidFill>
                  <a:srgbClr val="FFFFFF"/>
                </a:solidFill>
              </a:rPr>
              <a:t>Cybersecurity Example</a:t>
            </a:r>
            <a:endParaRPr lang="en-US" sz="950" dirty="0"/>
          </a:p>
        </p:txBody>
      </p:sp>
      <p:sp>
        <p:nvSpPr>
          <p:cNvPr id="14" name="Shape 12"/>
          <p:cNvSpPr/>
          <p:nvPr/>
        </p:nvSpPr>
        <p:spPr>
          <a:xfrm>
            <a:off x="256032" y="1216152"/>
            <a:ext cx="1188720" cy="594360"/>
          </a:xfrm>
          <a:prstGeom prst="rect">
            <a:avLst/>
          </a:prstGeom>
          <a:solidFill>
            <a:srgbClr val="1A2D45"/>
          </a:solidFill>
          <a:ln w="6350">
            <a:solidFill>
              <a:srgbClr val="1E3A5F"/>
            </a:solidFill>
            <a:prstDash val="solid"/>
          </a:ln>
        </p:spPr>
        <p:txBody>
          <a:bodyPr/>
          <a:lstStyle/>
          <a:p>
            <a:endParaRPr lang="en-US"/>
          </a:p>
        </p:txBody>
      </p:sp>
      <p:sp>
        <p:nvSpPr>
          <p:cNvPr id="15" name="Text 13"/>
          <p:cNvSpPr/>
          <p:nvPr/>
        </p:nvSpPr>
        <p:spPr>
          <a:xfrm>
            <a:off x="320040" y="1216152"/>
            <a:ext cx="1124712" cy="594360"/>
          </a:xfrm>
          <a:prstGeom prst="rect">
            <a:avLst/>
          </a:prstGeom>
          <a:noFill/>
          <a:ln/>
        </p:spPr>
        <p:txBody>
          <a:bodyPr wrap="square" lIns="0" tIns="0" rIns="0" bIns="0" rtlCol="0" anchor="ctr"/>
          <a:lstStyle/>
          <a:p>
            <a:pPr marL="0" indent="0">
              <a:buNone/>
            </a:pPr>
            <a:r>
              <a:rPr lang="en-US" sz="1100" b="1" dirty="0">
                <a:solidFill>
                  <a:srgbClr val="DC2626"/>
                </a:solidFill>
              </a:rPr>
              <a:t>🚫 Avoid</a:t>
            </a:r>
            <a:endParaRPr lang="en-US" sz="1100" dirty="0"/>
          </a:p>
        </p:txBody>
      </p:sp>
      <p:sp>
        <p:nvSpPr>
          <p:cNvPr id="16" name="Shape 14"/>
          <p:cNvSpPr/>
          <p:nvPr/>
        </p:nvSpPr>
        <p:spPr>
          <a:xfrm>
            <a:off x="1536192" y="1216152"/>
            <a:ext cx="1645920" cy="594360"/>
          </a:xfrm>
          <a:prstGeom prst="rect">
            <a:avLst/>
          </a:prstGeom>
          <a:solidFill>
            <a:srgbClr val="1A2D45"/>
          </a:solidFill>
          <a:ln w="6350">
            <a:solidFill>
              <a:srgbClr val="1E3A5F"/>
            </a:solidFill>
            <a:prstDash val="solid"/>
          </a:ln>
        </p:spPr>
        <p:txBody>
          <a:bodyPr/>
          <a:lstStyle/>
          <a:p>
            <a:endParaRPr lang="en-US"/>
          </a:p>
        </p:txBody>
      </p:sp>
      <p:sp>
        <p:nvSpPr>
          <p:cNvPr id="17" name="Text 15"/>
          <p:cNvSpPr/>
          <p:nvPr/>
        </p:nvSpPr>
        <p:spPr>
          <a:xfrm>
            <a:off x="1600200" y="1216152"/>
            <a:ext cx="1581912" cy="594360"/>
          </a:xfrm>
          <a:prstGeom prst="rect">
            <a:avLst/>
          </a:prstGeom>
          <a:noFill/>
          <a:ln/>
        </p:spPr>
        <p:txBody>
          <a:bodyPr wrap="square" lIns="0" tIns="0" rIns="0" bIns="0" rtlCol="0" anchor="ctr"/>
          <a:lstStyle/>
          <a:p>
            <a:pPr marL="0" indent="0">
              <a:buNone/>
            </a:pPr>
            <a:r>
              <a:rPr lang="en-US" sz="950" dirty="0">
                <a:solidFill>
                  <a:srgbClr val="CBD5E1"/>
                </a:solidFill>
              </a:rPr>
              <a:t>Stop the activity</a:t>
            </a:r>
            <a:endParaRPr lang="en-US" sz="950" dirty="0"/>
          </a:p>
        </p:txBody>
      </p:sp>
      <p:sp>
        <p:nvSpPr>
          <p:cNvPr id="18" name="Shape 16"/>
          <p:cNvSpPr/>
          <p:nvPr/>
        </p:nvSpPr>
        <p:spPr>
          <a:xfrm>
            <a:off x="3273552" y="1216152"/>
            <a:ext cx="1097280" cy="594360"/>
          </a:xfrm>
          <a:prstGeom prst="rect">
            <a:avLst/>
          </a:prstGeom>
          <a:solidFill>
            <a:srgbClr val="1A2D45"/>
          </a:solidFill>
          <a:ln w="6350">
            <a:solidFill>
              <a:srgbClr val="1E3A5F"/>
            </a:solidFill>
            <a:prstDash val="solid"/>
          </a:ln>
        </p:spPr>
        <p:txBody>
          <a:bodyPr/>
          <a:lstStyle/>
          <a:p>
            <a:endParaRPr lang="en-US"/>
          </a:p>
        </p:txBody>
      </p:sp>
      <p:sp>
        <p:nvSpPr>
          <p:cNvPr id="19" name="Text 17"/>
          <p:cNvSpPr/>
          <p:nvPr/>
        </p:nvSpPr>
        <p:spPr>
          <a:xfrm>
            <a:off x="3337560" y="1216152"/>
            <a:ext cx="1033272" cy="594360"/>
          </a:xfrm>
          <a:prstGeom prst="rect">
            <a:avLst/>
          </a:prstGeom>
          <a:noFill/>
          <a:ln/>
        </p:spPr>
        <p:txBody>
          <a:bodyPr wrap="square" lIns="0" tIns="0" rIns="0" bIns="0" rtlCol="0" anchor="ctr"/>
          <a:lstStyle/>
          <a:p>
            <a:pPr marL="0" indent="0">
              <a:buNone/>
            </a:pPr>
            <a:r>
              <a:rPr lang="en-US" sz="950" dirty="0">
                <a:solidFill>
                  <a:srgbClr val="CBD5E1"/>
                </a:solidFill>
              </a:rPr>
              <a:t>No</a:t>
            </a:r>
            <a:endParaRPr lang="en-US" sz="950" dirty="0"/>
          </a:p>
        </p:txBody>
      </p:sp>
      <p:sp>
        <p:nvSpPr>
          <p:cNvPr id="20" name="Shape 18"/>
          <p:cNvSpPr/>
          <p:nvPr/>
        </p:nvSpPr>
        <p:spPr>
          <a:xfrm>
            <a:off x="4462272" y="1216152"/>
            <a:ext cx="1920240" cy="594360"/>
          </a:xfrm>
          <a:prstGeom prst="rect">
            <a:avLst/>
          </a:prstGeom>
          <a:solidFill>
            <a:srgbClr val="1A2D45"/>
          </a:solidFill>
          <a:ln w="6350">
            <a:solidFill>
              <a:srgbClr val="1E3A5F"/>
            </a:solidFill>
            <a:prstDash val="solid"/>
          </a:ln>
        </p:spPr>
        <p:txBody>
          <a:bodyPr/>
          <a:lstStyle/>
          <a:p>
            <a:endParaRPr lang="en-US"/>
          </a:p>
        </p:txBody>
      </p:sp>
      <p:sp>
        <p:nvSpPr>
          <p:cNvPr id="21" name="Text 19"/>
          <p:cNvSpPr/>
          <p:nvPr/>
        </p:nvSpPr>
        <p:spPr>
          <a:xfrm>
            <a:off x="4526280" y="1216152"/>
            <a:ext cx="1856232" cy="594360"/>
          </a:xfrm>
          <a:prstGeom prst="rect">
            <a:avLst/>
          </a:prstGeom>
          <a:noFill/>
          <a:ln/>
        </p:spPr>
        <p:txBody>
          <a:bodyPr wrap="square" lIns="0" tIns="0" rIns="0" bIns="0" rtlCol="0" anchor="ctr"/>
          <a:lstStyle/>
          <a:p>
            <a:pPr marL="0" indent="0">
              <a:buNone/>
            </a:pPr>
            <a:r>
              <a:rPr lang="en-US" sz="950" dirty="0">
                <a:solidFill>
                  <a:srgbClr val="CBD5E1"/>
                </a:solidFill>
              </a:rPr>
              <a:t>Risk is critical &amp; preventable</a:t>
            </a:r>
            <a:endParaRPr lang="en-US" sz="950" dirty="0"/>
          </a:p>
        </p:txBody>
      </p:sp>
      <p:sp>
        <p:nvSpPr>
          <p:cNvPr id="22" name="Shape 20"/>
          <p:cNvSpPr/>
          <p:nvPr/>
        </p:nvSpPr>
        <p:spPr>
          <a:xfrm>
            <a:off x="6473952" y="1216152"/>
            <a:ext cx="2377440" cy="594360"/>
          </a:xfrm>
          <a:prstGeom prst="rect">
            <a:avLst/>
          </a:prstGeom>
          <a:solidFill>
            <a:srgbClr val="1A2D45"/>
          </a:solidFill>
          <a:ln w="6350">
            <a:solidFill>
              <a:srgbClr val="1E3A5F"/>
            </a:solidFill>
            <a:prstDash val="solid"/>
          </a:ln>
        </p:spPr>
        <p:txBody>
          <a:bodyPr/>
          <a:lstStyle/>
          <a:p>
            <a:endParaRPr lang="en-US"/>
          </a:p>
        </p:txBody>
      </p:sp>
      <p:sp>
        <p:nvSpPr>
          <p:cNvPr id="23" name="Text 21"/>
          <p:cNvSpPr/>
          <p:nvPr/>
        </p:nvSpPr>
        <p:spPr>
          <a:xfrm>
            <a:off x="6537960" y="1216152"/>
            <a:ext cx="2313432" cy="594360"/>
          </a:xfrm>
          <a:prstGeom prst="rect">
            <a:avLst/>
          </a:prstGeom>
          <a:noFill/>
          <a:ln/>
        </p:spPr>
        <p:txBody>
          <a:bodyPr wrap="square" lIns="0" tIns="0" rIns="0" bIns="0" rtlCol="0" anchor="ctr"/>
          <a:lstStyle/>
          <a:p>
            <a:pPr marL="0" indent="0">
              <a:buNone/>
            </a:pPr>
            <a:r>
              <a:rPr lang="en-US" sz="950" dirty="0">
                <a:solidFill>
                  <a:srgbClr val="CBD5E1"/>
                </a:solidFill>
              </a:rPr>
              <a:t>Shut down insecure legacy server</a:t>
            </a:r>
            <a:endParaRPr lang="en-US" sz="950" dirty="0"/>
          </a:p>
        </p:txBody>
      </p:sp>
      <p:sp>
        <p:nvSpPr>
          <p:cNvPr id="24" name="Shape 22"/>
          <p:cNvSpPr/>
          <p:nvPr/>
        </p:nvSpPr>
        <p:spPr>
          <a:xfrm>
            <a:off x="256032" y="1851660"/>
            <a:ext cx="1188720" cy="594360"/>
          </a:xfrm>
          <a:prstGeom prst="rect">
            <a:avLst/>
          </a:prstGeom>
          <a:solidFill>
            <a:srgbClr val="132338"/>
          </a:solidFill>
          <a:ln w="6350">
            <a:solidFill>
              <a:srgbClr val="1E3A5F"/>
            </a:solidFill>
            <a:prstDash val="solid"/>
          </a:ln>
        </p:spPr>
        <p:txBody>
          <a:bodyPr/>
          <a:lstStyle/>
          <a:p>
            <a:endParaRPr lang="en-US"/>
          </a:p>
        </p:txBody>
      </p:sp>
      <p:sp>
        <p:nvSpPr>
          <p:cNvPr id="25" name="Text 23"/>
          <p:cNvSpPr/>
          <p:nvPr/>
        </p:nvSpPr>
        <p:spPr>
          <a:xfrm>
            <a:off x="320040" y="1851660"/>
            <a:ext cx="1124712" cy="594360"/>
          </a:xfrm>
          <a:prstGeom prst="rect">
            <a:avLst/>
          </a:prstGeom>
          <a:noFill/>
          <a:ln/>
        </p:spPr>
        <p:txBody>
          <a:bodyPr wrap="square" lIns="0" tIns="0" rIns="0" bIns="0" rtlCol="0" anchor="ctr"/>
          <a:lstStyle/>
          <a:p>
            <a:pPr marL="0" indent="0">
              <a:buNone/>
            </a:pPr>
            <a:r>
              <a:rPr lang="en-US" sz="1100" b="1" dirty="0">
                <a:solidFill>
                  <a:srgbClr val="0891B2"/>
                </a:solidFill>
              </a:rPr>
              <a:t>🛡️ Mitigate</a:t>
            </a:r>
            <a:endParaRPr lang="en-US" sz="1100" dirty="0"/>
          </a:p>
        </p:txBody>
      </p:sp>
      <p:sp>
        <p:nvSpPr>
          <p:cNvPr id="26" name="Shape 24"/>
          <p:cNvSpPr/>
          <p:nvPr/>
        </p:nvSpPr>
        <p:spPr>
          <a:xfrm>
            <a:off x="1536192" y="1851660"/>
            <a:ext cx="1645920" cy="594360"/>
          </a:xfrm>
          <a:prstGeom prst="rect">
            <a:avLst/>
          </a:prstGeom>
          <a:solidFill>
            <a:srgbClr val="132338"/>
          </a:solidFill>
          <a:ln w="6350">
            <a:solidFill>
              <a:srgbClr val="1E3A5F"/>
            </a:solidFill>
            <a:prstDash val="solid"/>
          </a:ln>
        </p:spPr>
        <p:txBody>
          <a:bodyPr/>
          <a:lstStyle/>
          <a:p>
            <a:endParaRPr lang="en-US"/>
          </a:p>
        </p:txBody>
      </p:sp>
      <p:sp>
        <p:nvSpPr>
          <p:cNvPr id="27" name="Text 25"/>
          <p:cNvSpPr/>
          <p:nvPr/>
        </p:nvSpPr>
        <p:spPr>
          <a:xfrm>
            <a:off x="1600200" y="1851660"/>
            <a:ext cx="1581912" cy="594360"/>
          </a:xfrm>
          <a:prstGeom prst="rect">
            <a:avLst/>
          </a:prstGeom>
          <a:noFill/>
          <a:ln/>
        </p:spPr>
        <p:txBody>
          <a:bodyPr wrap="square" lIns="0" tIns="0" rIns="0" bIns="0" rtlCol="0" anchor="ctr"/>
          <a:lstStyle/>
          <a:p>
            <a:pPr marL="0" indent="0">
              <a:buNone/>
            </a:pPr>
            <a:r>
              <a:rPr lang="en-US" sz="950" dirty="0">
                <a:solidFill>
                  <a:srgbClr val="CBD5E1"/>
                </a:solidFill>
              </a:rPr>
              <a:t>Reduce likelihood/impact</a:t>
            </a:r>
            <a:endParaRPr lang="en-US" sz="950" dirty="0"/>
          </a:p>
        </p:txBody>
      </p:sp>
      <p:sp>
        <p:nvSpPr>
          <p:cNvPr id="28" name="Shape 26"/>
          <p:cNvSpPr/>
          <p:nvPr/>
        </p:nvSpPr>
        <p:spPr>
          <a:xfrm>
            <a:off x="3273552" y="1851660"/>
            <a:ext cx="1097280" cy="594360"/>
          </a:xfrm>
          <a:prstGeom prst="rect">
            <a:avLst/>
          </a:prstGeom>
          <a:solidFill>
            <a:srgbClr val="132338"/>
          </a:solidFill>
          <a:ln w="6350">
            <a:solidFill>
              <a:srgbClr val="1E3A5F"/>
            </a:solidFill>
            <a:prstDash val="solid"/>
          </a:ln>
        </p:spPr>
        <p:txBody>
          <a:bodyPr/>
          <a:lstStyle/>
          <a:p>
            <a:endParaRPr lang="en-US"/>
          </a:p>
        </p:txBody>
      </p:sp>
      <p:sp>
        <p:nvSpPr>
          <p:cNvPr id="29" name="Text 27"/>
          <p:cNvSpPr/>
          <p:nvPr/>
        </p:nvSpPr>
        <p:spPr>
          <a:xfrm>
            <a:off x="3337560" y="1851660"/>
            <a:ext cx="1033272" cy="594360"/>
          </a:xfrm>
          <a:prstGeom prst="rect">
            <a:avLst/>
          </a:prstGeom>
          <a:noFill/>
          <a:ln/>
        </p:spPr>
        <p:txBody>
          <a:bodyPr wrap="square" lIns="0" tIns="0" rIns="0" bIns="0" rtlCol="0" anchor="ctr"/>
          <a:lstStyle/>
          <a:p>
            <a:pPr marL="0" indent="0">
              <a:buNone/>
            </a:pPr>
            <a:r>
              <a:rPr lang="en-US" sz="950" dirty="0">
                <a:solidFill>
                  <a:srgbClr val="CBD5E1"/>
                </a:solidFill>
              </a:rPr>
              <a:t>Yes</a:t>
            </a:r>
            <a:endParaRPr lang="en-US" sz="950" dirty="0"/>
          </a:p>
        </p:txBody>
      </p:sp>
      <p:sp>
        <p:nvSpPr>
          <p:cNvPr id="30" name="Shape 28"/>
          <p:cNvSpPr/>
          <p:nvPr/>
        </p:nvSpPr>
        <p:spPr>
          <a:xfrm>
            <a:off x="4462272" y="1851660"/>
            <a:ext cx="1920240" cy="594360"/>
          </a:xfrm>
          <a:prstGeom prst="rect">
            <a:avLst/>
          </a:prstGeom>
          <a:solidFill>
            <a:srgbClr val="132338"/>
          </a:solidFill>
          <a:ln w="6350">
            <a:solidFill>
              <a:srgbClr val="1E3A5F"/>
            </a:solidFill>
            <a:prstDash val="solid"/>
          </a:ln>
        </p:spPr>
        <p:txBody>
          <a:bodyPr/>
          <a:lstStyle/>
          <a:p>
            <a:endParaRPr lang="en-US"/>
          </a:p>
        </p:txBody>
      </p:sp>
      <p:sp>
        <p:nvSpPr>
          <p:cNvPr id="31" name="Text 29"/>
          <p:cNvSpPr/>
          <p:nvPr/>
        </p:nvSpPr>
        <p:spPr>
          <a:xfrm>
            <a:off x="4526280" y="1851660"/>
            <a:ext cx="1856232" cy="594360"/>
          </a:xfrm>
          <a:prstGeom prst="rect">
            <a:avLst/>
          </a:prstGeom>
          <a:noFill/>
          <a:ln/>
        </p:spPr>
        <p:txBody>
          <a:bodyPr wrap="square" lIns="0" tIns="0" rIns="0" bIns="0" rtlCol="0" anchor="ctr"/>
          <a:lstStyle/>
          <a:p>
            <a:pPr marL="0" indent="0">
              <a:buNone/>
            </a:pPr>
            <a:r>
              <a:rPr lang="en-US" sz="950" dirty="0">
                <a:solidFill>
                  <a:srgbClr val="CBD5E1"/>
                </a:solidFill>
              </a:rPr>
              <a:t>Controls bring it to tolerance</a:t>
            </a:r>
            <a:endParaRPr lang="en-US" sz="950" dirty="0"/>
          </a:p>
        </p:txBody>
      </p:sp>
      <p:sp>
        <p:nvSpPr>
          <p:cNvPr id="32" name="Shape 30"/>
          <p:cNvSpPr/>
          <p:nvPr/>
        </p:nvSpPr>
        <p:spPr>
          <a:xfrm>
            <a:off x="6473952" y="1851660"/>
            <a:ext cx="2377440" cy="594360"/>
          </a:xfrm>
          <a:prstGeom prst="rect">
            <a:avLst/>
          </a:prstGeom>
          <a:solidFill>
            <a:srgbClr val="132338"/>
          </a:solidFill>
          <a:ln w="6350">
            <a:solidFill>
              <a:srgbClr val="1E3A5F"/>
            </a:solidFill>
            <a:prstDash val="solid"/>
          </a:ln>
        </p:spPr>
        <p:txBody>
          <a:bodyPr/>
          <a:lstStyle/>
          <a:p>
            <a:endParaRPr lang="en-US"/>
          </a:p>
        </p:txBody>
      </p:sp>
      <p:sp>
        <p:nvSpPr>
          <p:cNvPr id="33" name="Text 31"/>
          <p:cNvSpPr/>
          <p:nvPr/>
        </p:nvSpPr>
        <p:spPr>
          <a:xfrm>
            <a:off x="6537960" y="1851660"/>
            <a:ext cx="2313432" cy="594360"/>
          </a:xfrm>
          <a:prstGeom prst="rect">
            <a:avLst/>
          </a:prstGeom>
          <a:noFill/>
          <a:ln/>
        </p:spPr>
        <p:txBody>
          <a:bodyPr wrap="square" lIns="0" tIns="0" rIns="0" bIns="0" rtlCol="0" anchor="ctr"/>
          <a:lstStyle/>
          <a:p>
            <a:pPr marL="0" indent="0">
              <a:buNone/>
            </a:pPr>
            <a:r>
              <a:rPr lang="en-US" sz="950" dirty="0">
                <a:solidFill>
                  <a:srgbClr val="CBD5E1"/>
                </a:solidFill>
              </a:rPr>
              <a:t>Implement MFA &amp; patch systems</a:t>
            </a:r>
            <a:endParaRPr lang="en-US" sz="950" dirty="0"/>
          </a:p>
        </p:txBody>
      </p:sp>
      <p:sp>
        <p:nvSpPr>
          <p:cNvPr id="34" name="Shape 32"/>
          <p:cNvSpPr/>
          <p:nvPr/>
        </p:nvSpPr>
        <p:spPr>
          <a:xfrm>
            <a:off x="256032" y="2487168"/>
            <a:ext cx="1188720" cy="594360"/>
          </a:xfrm>
          <a:prstGeom prst="rect">
            <a:avLst/>
          </a:prstGeom>
          <a:solidFill>
            <a:srgbClr val="1A2D45"/>
          </a:solidFill>
          <a:ln w="6350">
            <a:solidFill>
              <a:srgbClr val="1E3A5F"/>
            </a:solidFill>
            <a:prstDash val="solid"/>
          </a:ln>
        </p:spPr>
        <p:txBody>
          <a:bodyPr/>
          <a:lstStyle/>
          <a:p>
            <a:endParaRPr lang="en-US"/>
          </a:p>
        </p:txBody>
      </p:sp>
      <p:sp>
        <p:nvSpPr>
          <p:cNvPr id="35" name="Text 33"/>
          <p:cNvSpPr/>
          <p:nvPr/>
        </p:nvSpPr>
        <p:spPr>
          <a:xfrm>
            <a:off x="320040" y="2487168"/>
            <a:ext cx="1124712" cy="594360"/>
          </a:xfrm>
          <a:prstGeom prst="rect">
            <a:avLst/>
          </a:prstGeom>
          <a:noFill/>
          <a:ln/>
        </p:spPr>
        <p:txBody>
          <a:bodyPr wrap="square" lIns="0" tIns="0" rIns="0" bIns="0" rtlCol="0" anchor="ctr"/>
          <a:lstStyle/>
          <a:p>
            <a:pPr marL="0" indent="0">
              <a:buNone/>
            </a:pPr>
            <a:r>
              <a:rPr lang="en-US" sz="1100" b="1" dirty="0">
                <a:solidFill>
                  <a:srgbClr val="7C3AED"/>
                </a:solidFill>
              </a:rPr>
              <a:t>🤝 Transfer</a:t>
            </a:r>
            <a:endParaRPr lang="en-US" sz="1100" dirty="0"/>
          </a:p>
        </p:txBody>
      </p:sp>
      <p:sp>
        <p:nvSpPr>
          <p:cNvPr id="36" name="Shape 34"/>
          <p:cNvSpPr/>
          <p:nvPr/>
        </p:nvSpPr>
        <p:spPr>
          <a:xfrm>
            <a:off x="1536192" y="2487168"/>
            <a:ext cx="1645920" cy="594360"/>
          </a:xfrm>
          <a:prstGeom prst="rect">
            <a:avLst/>
          </a:prstGeom>
          <a:solidFill>
            <a:srgbClr val="1A2D45"/>
          </a:solidFill>
          <a:ln w="6350">
            <a:solidFill>
              <a:srgbClr val="1E3A5F"/>
            </a:solidFill>
            <a:prstDash val="solid"/>
          </a:ln>
        </p:spPr>
        <p:txBody>
          <a:bodyPr/>
          <a:lstStyle/>
          <a:p>
            <a:endParaRPr lang="en-US"/>
          </a:p>
        </p:txBody>
      </p:sp>
      <p:sp>
        <p:nvSpPr>
          <p:cNvPr id="37" name="Text 35"/>
          <p:cNvSpPr/>
          <p:nvPr/>
        </p:nvSpPr>
        <p:spPr>
          <a:xfrm>
            <a:off x="1600200" y="2487168"/>
            <a:ext cx="1581912" cy="594360"/>
          </a:xfrm>
          <a:prstGeom prst="rect">
            <a:avLst/>
          </a:prstGeom>
          <a:noFill/>
          <a:ln/>
        </p:spPr>
        <p:txBody>
          <a:bodyPr wrap="square" lIns="0" tIns="0" rIns="0" bIns="0" rtlCol="0" anchor="ctr"/>
          <a:lstStyle/>
          <a:p>
            <a:pPr marL="0" indent="0">
              <a:buNone/>
            </a:pPr>
            <a:r>
              <a:rPr lang="en-US" sz="950" dirty="0">
                <a:solidFill>
                  <a:srgbClr val="CBD5E1"/>
                </a:solidFill>
              </a:rPr>
              <a:t>Shift to third party</a:t>
            </a:r>
            <a:endParaRPr lang="en-US" sz="950" dirty="0"/>
          </a:p>
        </p:txBody>
      </p:sp>
      <p:sp>
        <p:nvSpPr>
          <p:cNvPr id="38" name="Shape 36"/>
          <p:cNvSpPr/>
          <p:nvPr/>
        </p:nvSpPr>
        <p:spPr>
          <a:xfrm>
            <a:off x="3273552" y="2487168"/>
            <a:ext cx="1097280" cy="594360"/>
          </a:xfrm>
          <a:prstGeom prst="rect">
            <a:avLst/>
          </a:prstGeom>
          <a:solidFill>
            <a:srgbClr val="1A2D45"/>
          </a:solidFill>
          <a:ln w="6350">
            <a:solidFill>
              <a:srgbClr val="1E3A5F"/>
            </a:solidFill>
            <a:prstDash val="solid"/>
          </a:ln>
        </p:spPr>
        <p:txBody>
          <a:bodyPr/>
          <a:lstStyle/>
          <a:p>
            <a:endParaRPr lang="en-US"/>
          </a:p>
        </p:txBody>
      </p:sp>
      <p:sp>
        <p:nvSpPr>
          <p:cNvPr id="39" name="Text 37"/>
          <p:cNvSpPr/>
          <p:nvPr/>
        </p:nvSpPr>
        <p:spPr>
          <a:xfrm>
            <a:off x="3337560" y="2487168"/>
            <a:ext cx="1033272" cy="594360"/>
          </a:xfrm>
          <a:prstGeom prst="rect">
            <a:avLst/>
          </a:prstGeom>
          <a:noFill/>
          <a:ln/>
        </p:spPr>
        <p:txBody>
          <a:bodyPr wrap="square" lIns="0" tIns="0" rIns="0" bIns="0" rtlCol="0" anchor="ctr"/>
          <a:lstStyle/>
          <a:p>
            <a:pPr marL="0" indent="0">
              <a:buNone/>
            </a:pPr>
            <a:r>
              <a:rPr lang="en-US" sz="950" dirty="0">
                <a:solidFill>
                  <a:srgbClr val="CBD5E1"/>
                </a:solidFill>
              </a:rPr>
              <a:t>Yes</a:t>
            </a:r>
            <a:endParaRPr lang="en-US" sz="950" dirty="0"/>
          </a:p>
        </p:txBody>
      </p:sp>
      <p:sp>
        <p:nvSpPr>
          <p:cNvPr id="40" name="Shape 38"/>
          <p:cNvSpPr/>
          <p:nvPr/>
        </p:nvSpPr>
        <p:spPr>
          <a:xfrm>
            <a:off x="4462272" y="2487168"/>
            <a:ext cx="1920240" cy="594360"/>
          </a:xfrm>
          <a:prstGeom prst="rect">
            <a:avLst/>
          </a:prstGeom>
          <a:solidFill>
            <a:srgbClr val="1A2D45"/>
          </a:solidFill>
          <a:ln w="6350">
            <a:solidFill>
              <a:srgbClr val="1E3A5F"/>
            </a:solidFill>
            <a:prstDash val="solid"/>
          </a:ln>
        </p:spPr>
        <p:txBody>
          <a:bodyPr/>
          <a:lstStyle/>
          <a:p>
            <a:endParaRPr lang="en-US"/>
          </a:p>
        </p:txBody>
      </p:sp>
      <p:sp>
        <p:nvSpPr>
          <p:cNvPr id="41" name="Text 39"/>
          <p:cNvSpPr/>
          <p:nvPr/>
        </p:nvSpPr>
        <p:spPr>
          <a:xfrm>
            <a:off x="4526280" y="2487168"/>
            <a:ext cx="1856232" cy="594360"/>
          </a:xfrm>
          <a:prstGeom prst="rect">
            <a:avLst/>
          </a:prstGeom>
          <a:noFill/>
          <a:ln/>
        </p:spPr>
        <p:txBody>
          <a:bodyPr wrap="square" lIns="0" tIns="0" rIns="0" bIns="0" rtlCol="0" anchor="ctr"/>
          <a:lstStyle/>
          <a:p>
            <a:pPr marL="0" indent="0">
              <a:buNone/>
            </a:pPr>
            <a:r>
              <a:rPr lang="en-US" sz="950" dirty="0">
                <a:solidFill>
                  <a:srgbClr val="CBD5E1"/>
                </a:solidFill>
              </a:rPr>
              <a:t>Cost of transfer &lt; cost of impact</a:t>
            </a:r>
            <a:endParaRPr lang="en-US" sz="950" dirty="0"/>
          </a:p>
        </p:txBody>
      </p:sp>
      <p:sp>
        <p:nvSpPr>
          <p:cNvPr id="42" name="Shape 40"/>
          <p:cNvSpPr/>
          <p:nvPr/>
        </p:nvSpPr>
        <p:spPr>
          <a:xfrm>
            <a:off x="6473952" y="2487168"/>
            <a:ext cx="2377440" cy="594360"/>
          </a:xfrm>
          <a:prstGeom prst="rect">
            <a:avLst/>
          </a:prstGeom>
          <a:solidFill>
            <a:srgbClr val="1A2D45"/>
          </a:solidFill>
          <a:ln w="6350">
            <a:solidFill>
              <a:srgbClr val="1E3A5F"/>
            </a:solidFill>
            <a:prstDash val="solid"/>
          </a:ln>
        </p:spPr>
        <p:txBody>
          <a:bodyPr/>
          <a:lstStyle/>
          <a:p>
            <a:endParaRPr lang="en-US"/>
          </a:p>
        </p:txBody>
      </p:sp>
      <p:sp>
        <p:nvSpPr>
          <p:cNvPr id="43" name="Text 41"/>
          <p:cNvSpPr/>
          <p:nvPr/>
        </p:nvSpPr>
        <p:spPr>
          <a:xfrm>
            <a:off x="6537960" y="2487168"/>
            <a:ext cx="2313432" cy="594360"/>
          </a:xfrm>
          <a:prstGeom prst="rect">
            <a:avLst/>
          </a:prstGeom>
          <a:noFill/>
          <a:ln/>
        </p:spPr>
        <p:txBody>
          <a:bodyPr wrap="square" lIns="0" tIns="0" rIns="0" bIns="0" rtlCol="0" anchor="ctr"/>
          <a:lstStyle/>
          <a:p>
            <a:pPr marL="0" indent="0">
              <a:buNone/>
            </a:pPr>
            <a:r>
              <a:rPr lang="en-US" sz="950" dirty="0">
                <a:solidFill>
                  <a:srgbClr val="CBD5E1"/>
                </a:solidFill>
              </a:rPr>
              <a:t>Buy cyber insurance</a:t>
            </a:r>
            <a:endParaRPr lang="en-US" sz="950" dirty="0"/>
          </a:p>
        </p:txBody>
      </p:sp>
      <p:sp>
        <p:nvSpPr>
          <p:cNvPr id="44" name="Shape 42"/>
          <p:cNvSpPr/>
          <p:nvPr/>
        </p:nvSpPr>
        <p:spPr>
          <a:xfrm>
            <a:off x="256032" y="3122676"/>
            <a:ext cx="1188720" cy="594360"/>
          </a:xfrm>
          <a:prstGeom prst="rect">
            <a:avLst/>
          </a:prstGeom>
          <a:solidFill>
            <a:srgbClr val="132338"/>
          </a:solidFill>
          <a:ln w="6350">
            <a:solidFill>
              <a:srgbClr val="1E3A5F"/>
            </a:solidFill>
            <a:prstDash val="solid"/>
          </a:ln>
        </p:spPr>
        <p:txBody>
          <a:bodyPr/>
          <a:lstStyle/>
          <a:p>
            <a:endParaRPr lang="en-US"/>
          </a:p>
        </p:txBody>
      </p:sp>
      <p:sp>
        <p:nvSpPr>
          <p:cNvPr id="45" name="Text 43"/>
          <p:cNvSpPr/>
          <p:nvPr/>
        </p:nvSpPr>
        <p:spPr>
          <a:xfrm>
            <a:off x="320040" y="3122676"/>
            <a:ext cx="1124712" cy="594360"/>
          </a:xfrm>
          <a:prstGeom prst="rect">
            <a:avLst/>
          </a:prstGeom>
          <a:noFill/>
          <a:ln/>
        </p:spPr>
        <p:txBody>
          <a:bodyPr wrap="square" lIns="0" tIns="0" rIns="0" bIns="0" rtlCol="0" anchor="ctr"/>
          <a:lstStyle/>
          <a:p>
            <a:pPr marL="0" indent="0">
              <a:buNone/>
            </a:pPr>
            <a:r>
              <a:rPr lang="en-US" sz="1100" b="1" dirty="0">
                <a:solidFill>
                  <a:srgbClr val="059669"/>
                </a:solidFill>
              </a:rPr>
              <a:t>✅ Accept</a:t>
            </a:r>
            <a:endParaRPr lang="en-US" sz="1100" dirty="0"/>
          </a:p>
        </p:txBody>
      </p:sp>
      <p:sp>
        <p:nvSpPr>
          <p:cNvPr id="46" name="Shape 44"/>
          <p:cNvSpPr/>
          <p:nvPr/>
        </p:nvSpPr>
        <p:spPr>
          <a:xfrm>
            <a:off x="1536192" y="3122676"/>
            <a:ext cx="1645920" cy="594360"/>
          </a:xfrm>
          <a:prstGeom prst="rect">
            <a:avLst/>
          </a:prstGeom>
          <a:solidFill>
            <a:srgbClr val="132338"/>
          </a:solidFill>
          <a:ln w="6350">
            <a:solidFill>
              <a:srgbClr val="1E3A5F"/>
            </a:solidFill>
            <a:prstDash val="solid"/>
          </a:ln>
        </p:spPr>
        <p:txBody>
          <a:bodyPr/>
          <a:lstStyle/>
          <a:p>
            <a:endParaRPr lang="en-US"/>
          </a:p>
        </p:txBody>
      </p:sp>
      <p:sp>
        <p:nvSpPr>
          <p:cNvPr id="47" name="Text 45"/>
          <p:cNvSpPr/>
          <p:nvPr/>
        </p:nvSpPr>
        <p:spPr>
          <a:xfrm>
            <a:off x="1600200" y="3122676"/>
            <a:ext cx="1581912" cy="594360"/>
          </a:xfrm>
          <a:prstGeom prst="rect">
            <a:avLst/>
          </a:prstGeom>
          <a:noFill/>
          <a:ln/>
        </p:spPr>
        <p:txBody>
          <a:bodyPr wrap="square" lIns="0" tIns="0" rIns="0" bIns="0" rtlCol="0" anchor="ctr"/>
          <a:lstStyle/>
          <a:p>
            <a:pPr marL="0" indent="0">
              <a:buNone/>
            </a:pPr>
            <a:r>
              <a:rPr lang="en-US" sz="950" dirty="0">
                <a:solidFill>
                  <a:srgbClr val="CBD5E1"/>
                </a:solidFill>
              </a:rPr>
              <a:t>Live with it (documented)</a:t>
            </a:r>
            <a:endParaRPr lang="en-US" sz="950" dirty="0"/>
          </a:p>
        </p:txBody>
      </p:sp>
      <p:sp>
        <p:nvSpPr>
          <p:cNvPr id="48" name="Shape 46"/>
          <p:cNvSpPr/>
          <p:nvPr/>
        </p:nvSpPr>
        <p:spPr>
          <a:xfrm>
            <a:off x="3273552" y="3122676"/>
            <a:ext cx="1097280" cy="594360"/>
          </a:xfrm>
          <a:prstGeom prst="rect">
            <a:avLst/>
          </a:prstGeom>
          <a:solidFill>
            <a:srgbClr val="132338"/>
          </a:solidFill>
          <a:ln w="6350">
            <a:solidFill>
              <a:srgbClr val="1E3A5F"/>
            </a:solidFill>
            <a:prstDash val="solid"/>
          </a:ln>
        </p:spPr>
        <p:txBody>
          <a:bodyPr/>
          <a:lstStyle/>
          <a:p>
            <a:endParaRPr lang="en-US"/>
          </a:p>
        </p:txBody>
      </p:sp>
      <p:sp>
        <p:nvSpPr>
          <p:cNvPr id="49" name="Text 47"/>
          <p:cNvSpPr/>
          <p:nvPr/>
        </p:nvSpPr>
        <p:spPr>
          <a:xfrm>
            <a:off x="3337560" y="3122676"/>
            <a:ext cx="1033272" cy="594360"/>
          </a:xfrm>
          <a:prstGeom prst="rect">
            <a:avLst/>
          </a:prstGeom>
          <a:noFill/>
          <a:ln/>
        </p:spPr>
        <p:txBody>
          <a:bodyPr wrap="square" lIns="0" tIns="0" rIns="0" bIns="0" rtlCol="0" anchor="ctr"/>
          <a:lstStyle/>
          <a:p>
            <a:pPr marL="0" indent="0">
              <a:buNone/>
            </a:pPr>
            <a:r>
              <a:rPr lang="en-US" sz="950" dirty="0">
                <a:solidFill>
                  <a:srgbClr val="CBD5E1"/>
                </a:solidFill>
              </a:rPr>
              <a:t>Yes</a:t>
            </a:r>
            <a:endParaRPr lang="en-US" sz="950" dirty="0"/>
          </a:p>
        </p:txBody>
      </p:sp>
      <p:sp>
        <p:nvSpPr>
          <p:cNvPr id="50" name="Shape 48"/>
          <p:cNvSpPr/>
          <p:nvPr/>
        </p:nvSpPr>
        <p:spPr>
          <a:xfrm>
            <a:off x="4462272" y="3122676"/>
            <a:ext cx="1920240" cy="594360"/>
          </a:xfrm>
          <a:prstGeom prst="rect">
            <a:avLst/>
          </a:prstGeom>
          <a:solidFill>
            <a:srgbClr val="132338"/>
          </a:solidFill>
          <a:ln w="6350">
            <a:solidFill>
              <a:srgbClr val="1E3A5F"/>
            </a:solidFill>
            <a:prstDash val="solid"/>
          </a:ln>
        </p:spPr>
        <p:txBody>
          <a:bodyPr/>
          <a:lstStyle/>
          <a:p>
            <a:endParaRPr lang="en-US"/>
          </a:p>
        </p:txBody>
      </p:sp>
      <p:sp>
        <p:nvSpPr>
          <p:cNvPr id="51" name="Text 49"/>
          <p:cNvSpPr/>
          <p:nvPr/>
        </p:nvSpPr>
        <p:spPr>
          <a:xfrm>
            <a:off x="4526280" y="3122676"/>
            <a:ext cx="1856232" cy="594360"/>
          </a:xfrm>
          <a:prstGeom prst="rect">
            <a:avLst/>
          </a:prstGeom>
          <a:noFill/>
          <a:ln/>
        </p:spPr>
        <p:txBody>
          <a:bodyPr wrap="square" lIns="0" tIns="0" rIns="0" bIns="0" rtlCol="0" anchor="ctr"/>
          <a:lstStyle/>
          <a:p>
            <a:pPr marL="0" indent="0">
              <a:buNone/>
            </a:pPr>
            <a:r>
              <a:rPr lang="en-US" sz="950" dirty="0">
                <a:solidFill>
                  <a:srgbClr val="CBD5E1"/>
                </a:solidFill>
              </a:rPr>
              <a:t>Cost of action &gt; cost of risk</a:t>
            </a:r>
            <a:endParaRPr lang="en-US" sz="950" dirty="0"/>
          </a:p>
        </p:txBody>
      </p:sp>
      <p:sp>
        <p:nvSpPr>
          <p:cNvPr id="52" name="Shape 50"/>
          <p:cNvSpPr/>
          <p:nvPr/>
        </p:nvSpPr>
        <p:spPr>
          <a:xfrm>
            <a:off x="6473952" y="3122676"/>
            <a:ext cx="2377440" cy="594360"/>
          </a:xfrm>
          <a:prstGeom prst="rect">
            <a:avLst/>
          </a:prstGeom>
          <a:solidFill>
            <a:srgbClr val="132338"/>
          </a:solidFill>
          <a:ln w="6350">
            <a:solidFill>
              <a:srgbClr val="1E3A5F"/>
            </a:solidFill>
            <a:prstDash val="solid"/>
          </a:ln>
        </p:spPr>
        <p:txBody>
          <a:bodyPr/>
          <a:lstStyle/>
          <a:p>
            <a:endParaRPr lang="en-US"/>
          </a:p>
        </p:txBody>
      </p:sp>
      <p:sp>
        <p:nvSpPr>
          <p:cNvPr id="53" name="Text 51"/>
          <p:cNvSpPr/>
          <p:nvPr/>
        </p:nvSpPr>
        <p:spPr>
          <a:xfrm>
            <a:off x="6537960" y="3122676"/>
            <a:ext cx="2313432" cy="594360"/>
          </a:xfrm>
          <a:prstGeom prst="rect">
            <a:avLst/>
          </a:prstGeom>
          <a:noFill/>
          <a:ln/>
        </p:spPr>
        <p:txBody>
          <a:bodyPr wrap="square" lIns="0" tIns="0" rIns="0" bIns="0" rtlCol="0" anchor="ctr"/>
          <a:lstStyle/>
          <a:p>
            <a:pPr marL="0" indent="0">
              <a:buNone/>
            </a:pPr>
            <a:r>
              <a:rPr lang="en-US" sz="950" dirty="0">
                <a:solidFill>
                  <a:srgbClr val="CBD5E1"/>
                </a:solidFill>
              </a:rPr>
              <a:t>Accept risk of minor tool downtime</a:t>
            </a:r>
            <a:endParaRPr lang="en-US" sz="950" dirty="0"/>
          </a:p>
        </p:txBody>
      </p:sp>
      <p:sp>
        <p:nvSpPr>
          <p:cNvPr id="54" name="Shape 52"/>
          <p:cNvSpPr/>
          <p:nvPr/>
        </p:nvSpPr>
        <p:spPr>
          <a:xfrm>
            <a:off x="256032" y="3758184"/>
            <a:ext cx="1188720" cy="594360"/>
          </a:xfrm>
          <a:prstGeom prst="rect">
            <a:avLst/>
          </a:prstGeom>
          <a:solidFill>
            <a:srgbClr val="1A2D45"/>
          </a:solidFill>
          <a:ln w="6350">
            <a:solidFill>
              <a:srgbClr val="1E3A5F"/>
            </a:solidFill>
            <a:prstDash val="solid"/>
          </a:ln>
        </p:spPr>
        <p:txBody>
          <a:bodyPr/>
          <a:lstStyle/>
          <a:p>
            <a:endParaRPr lang="en-US"/>
          </a:p>
        </p:txBody>
      </p:sp>
      <p:sp>
        <p:nvSpPr>
          <p:cNvPr id="55" name="Text 53"/>
          <p:cNvSpPr/>
          <p:nvPr/>
        </p:nvSpPr>
        <p:spPr>
          <a:xfrm>
            <a:off x="320040" y="3758184"/>
            <a:ext cx="1124712" cy="594360"/>
          </a:xfrm>
          <a:prstGeom prst="rect">
            <a:avLst/>
          </a:prstGeom>
          <a:noFill/>
          <a:ln/>
        </p:spPr>
        <p:txBody>
          <a:bodyPr wrap="square" lIns="0" tIns="0" rIns="0" bIns="0" rtlCol="0" anchor="ctr"/>
          <a:lstStyle/>
          <a:p>
            <a:pPr marL="0" indent="0">
              <a:buNone/>
            </a:pPr>
            <a:r>
              <a:rPr lang="en-US" sz="1100" b="1" dirty="0">
                <a:solidFill>
                  <a:srgbClr val="D97706"/>
                </a:solidFill>
              </a:rPr>
              <a:t>🚀 Exploit</a:t>
            </a:r>
            <a:endParaRPr lang="en-US" sz="1100" dirty="0"/>
          </a:p>
        </p:txBody>
      </p:sp>
      <p:sp>
        <p:nvSpPr>
          <p:cNvPr id="56" name="Shape 54"/>
          <p:cNvSpPr/>
          <p:nvPr/>
        </p:nvSpPr>
        <p:spPr>
          <a:xfrm>
            <a:off x="1536192" y="3758184"/>
            <a:ext cx="1645920" cy="594360"/>
          </a:xfrm>
          <a:prstGeom prst="rect">
            <a:avLst/>
          </a:prstGeom>
          <a:solidFill>
            <a:srgbClr val="1A2D45"/>
          </a:solidFill>
          <a:ln w="6350">
            <a:solidFill>
              <a:srgbClr val="1E3A5F"/>
            </a:solidFill>
            <a:prstDash val="solid"/>
          </a:ln>
        </p:spPr>
        <p:txBody>
          <a:bodyPr/>
          <a:lstStyle/>
          <a:p>
            <a:endParaRPr lang="en-US"/>
          </a:p>
        </p:txBody>
      </p:sp>
      <p:sp>
        <p:nvSpPr>
          <p:cNvPr id="57" name="Text 55"/>
          <p:cNvSpPr/>
          <p:nvPr/>
        </p:nvSpPr>
        <p:spPr>
          <a:xfrm>
            <a:off x="1600200" y="3758184"/>
            <a:ext cx="1581912" cy="594360"/>
          </a:xfrm>
          <a:prstGeom prst="rect">
            <a:avLst/>
          </a:prstGeom>
          <a:noFill/>
          <a:ln/>
        </p:spPr>
        <p:txBody>
          <a:bodyPr wrap="square" lIns="0" tIns="0" rIns="0" bIns="0" rtlCol="0" anchor="ctr"/>
          <a:lstStyle/>
          <a:p>
            <a:pPr marL="0" indent="0">
              <a:buNone/>
            </a:pPr>
            <a:r>
              <a:rPr lang="en-US" sz="950" dirty="0">
                <a:solidFill>
                  <a:srgbClr val="CBD5E1"/>
                </a:solidFill>
              </a:rPr>
              <a:t>Maximize the opportunity</a:t>
            </a:r>
            <a:endParaRPr lang="en-US" sz="950" dirty="0"/>
          </a:p>
        </p:txBody>
      </p:sp>
      <p:sp>
        <p:nvSpPr>
          <p:cNvPr id="58" name="Shape 56"/>
          <p:cNvSpPr/>
          <p:nvPr/>
        </p:nvSpPr>
        <p:spPr>
          <a:xfrm>
            <a:off x="3273552" y="3758184"/>
            <a:ext cx="1097280" cy="594360"/>
          </a:xfrm>
          <a:prstGeom prst="rect">
            <a:avLst/>
          </a:prstGeom>
          <a:solidFill>
            <a:srgbClr val="1A2D45"/>
          </a:solidFill>
          <a:ln w="6350">
            <a:solidFill>
              <a:srgbClr val="1E3A5F"/>
            </a:solidFill>
            <a:prstDash val="solid"/>
          </a:ln>
        </p:spPr>
        <p:txBody>
          <a:bodyPr/>
          <a:lstStyle/>
          <a:p>
            <a:endParaRPr lang="en-US"/>
          </a:p>
        </p:txBody>
      </p:sp>
      <p:sp>
        <p:nvSpPr>
          <p:cNvPr id="59" name="Text 57"/>
          <p:cNvSpPr/>
          <p:nvPr/>
        </p:nvSpPr>
        <p:spPr>
          <a:xfrm>
            <a:off x="3337560" y="3758184"/>
            <a:ext cx="1033272" cy="594360"/>
          </a:xfrm>
          <a:prstGeom prst="rect">
            <a:avLst/>
          </a:prstGeom>
          <a:noFill/>
          <a:ln/>
        </p:spPr>
        <p:txBody>
          <a:bodyPr wrap="square" lIns="0" tIns="0" rIns="0" bIns="0" rtlCol="0" anchor="ctr"/>
          <a:lstStyle/>
          <a:p>
            <a:pPr marL="0" indent="0">
              <a:buNone/>
            </a:pPr>
            <a:r>
              <a:rPr lang="en-US" sz="950" dirty="0">
                <a:solidFill>
                  <a:srgbClr val="CBD5E1"/>
                </a:solidFill>
              </a:rPr>
              <a:t>Yes (+)</a:t>
            </a:r>
            <a:endParaRPr lang="en-US" sz="950" dirty="0"/>
          </a:p>
        </p:txBody>
      </p:sp>
      <p:sp>
        <p:nvSpPr>
          <p:cNvPr id="60" name="Shape 58"/>
          <p:cNvSpPr/>
          <p:nvPr/>
        </p:nvSpPr>
        <p:spPr>
          <a:xfrm>
            <a:off x="4462272" y="3758184"/>
            <a:ext cx="1920240" cy="594360"/>
          </a:xfrm>
          <a:prstGeom prst="rect">
            <a:avLst/>
          </a:prstGeom>
          <a:solidFill>
            <a:srgbClr val="1A2D45"/>
          </a:solidFill>
          <a:ln w="6350">
            <a:solidFill>
              <a:srgbClr val="1E3A5F"/>
            </a:solidFill>
            <a:prstDash val="solid"/>
          </a:ln>
        </p:spPr>
        <p:txBody>
          <a:bodyPr/>
          <a:lstStyle/>
          <a:p>
            <a:endParaRPr lang="en-US"/>
          </a:p>
        </p:txBody>
      </p:sp>
      <p:sp>
        <p:nvSpPr>
          <p:cNvPr id="61" name="Text 59"/>
          <p:cNvSpPr/>
          <p:nvPr/>
        </p:nvSpPr>
        <p:spPr>
          <a:xfrm>
            <a:off x="4526280" y="3758184"/>
            <a:ext cx="1856232" cy="594360"/>
          </a:xfrm>
          <a:prstGeom prst="rect">
            <a:avLst/>
          </a:prstGeom>
          <a:noFill/>
          <a:ln/>
        </p:spPr>
        <p:txBody>
          <a:bodyPr wrap="square" lIns="0" tIns="0" rIns="0" bIns="0" rtlCol="0" anchor="ctr"/>
          <a:lstStyle/>
          <a:p>
            <a:pPr marL="0" indent="0">
              <a:buNone/>
            </a:pPr>
            <a:r>
              <a:rPr lang="en-US" sz="950" dirty="0">
                <a:solidFill>
                  <a:srgbClr val="CBD5E1"/>
                </a:solidFill>
              </a:rPr>
              <a:t>Positive risk / opportunity</a:t>
            </a:r>
            <a:endParaRPr lang="en-US" sz="950" dirty="0"/>
          </a:p>
        </p:txBody>
      </p:sp>
      <p:sp>
        <p:nvSpPr>
          <p:cNvPr id="62" name="Shape 60"/>
          <p:cNvSpPr/>
          <p:nvPr/>
        </p:nvSpPr>
        <p:spPr>
          <a:xfrm>
            <a:off x="6473952" y="3758184"/>
            <a:ext cx="2377440" cy="594360"/>
          </a:xfrm>
          <a:prstGeom prst="rect">
            <a:avLst/>
          </a:prstGeom>
          <a:solidFill>
            <a:srgbClr val="1A2D45"/>
          </a:solidFill>
          <a:ln w="6350">
            <a:solidFill>
              <a:srgbClr val="1E3A5F"/>
            </a:solidFill>
            <a:prstDash val="solid"/>
          </a:ln>
        </p:spPr>
        <p:txBody>
          <a:bodyPr/>
          <a:lstStyle/>
          <a:p>
            <a:endParaRPr lang="en-US"/>
          </a:p>
        </p:txBody>
      </p:sp>
      <p:sp>
        <p:nvSpPr>
          <p:cNvPr id="63" name="Text 61"/>
          <p:cNvSpPr/>
          <p:nvPr/>
        </p:nvSpPr>
        <p:spPr>
          <a:xfrm>
            <a:off x="6537960" y="3758184"/>
            <a:ext cx="2313432" cy="594360"/>
          </a:xfrm>
          <a:prstGeom prst="rect">
            <a:avLst/>
          </a:prstGeom>
          <a:noFill/>
          <a:ln/>
        </p:spPr>
        <p:txBody>
          <a:bodyPr wrap="square" lIns="0" tIns="0" rIns="0" bIns="0" rtlCol="0" anchor="ctr"/>
          <a:lstStyle/>
          <a:p>
            <a:pPr marL="0" indent="0">
              <a:buNone/>
            </a:pPr>
            <a:r>
              <a:rPr lang="en-US" sz="950" dirty="0">
                <a:solidFill>
                  <a:srgbClr val="CBD5E1"/>
                </a:solidFill>
              </a:rPr>
              <a:t>Accelerate launch to gain market share</a:t>
            </a:r>
            <a:endParaRPr lang="en-US" sz="950" dirty="0"/>
          </a:p>
        </p:txBody>
      </p:sp>
      <p:sp>
        <p:nvSpPr>
          <p:cNvPr id="64" name="Shape 62"/>
          <p:cNvSpPr/>
          <p:nvPr/>
        </p:nvSpPr>
        <p:spPr>
          <a:xfrm>
            <a:off x="256032" y="4393692"/>
            <a:ext cx="1188720" cy="594360"/>
          </a:xfrm>
          <a:prstGeom prst="rect">
            <a:avLst/>
          </a:prstGeom>
          <a:solidFill>
            <a:srgbClr val="132338"/>
          </a:solidFill>
          <a:ln w="6350">
            <a:solidFill>
              <a:srgbClr val="1E3A5F"/>
            </a:solidFill>
            <a:prstDash val="solid"/>
          </a:ln>
        </p:spPr>
        <p:txBody>
          <a:bodyPr/>
          <a:lstStyle/>
          <a:p>
            <a:endParaRPr lang="en-US"/>
          </a:p>
        </p:txBody>
      </p:sp>
      <p:sp>
        <p:nvSpPr>
          <p:cNvPr id="65" name="Text 63"/>
          <p:cNvSpPr/>
          <p:nvPr/>
        </p:nvSpPr>
        <p:spPr>
          <a:xfrm>
            <a:off x="320040" y="4393692"/>
            <a:ext cx="1124712" cy="594360"/>
          </a:xfrm>
          <a:prstGeom prst="rect">
            <a:avLst/>
          </a:prstGeom>
          <a:noFill/>
          <a:ln/>
        </p:spPr>
        <p:txBody>
          <a:bodyPr wrap="square" lIns="0" tIns="0" rIns="0" bIns="0" rtlCol="0" anchor="ctr"/>
          <a:lstStyle/>
          <a:p>
            <a:pPr marL="0" indent="0">
              <a:buNone/>
            </a:pPr>
            <a:r>
              <a:rPr lang="en-US" sz="1100" b="1" dirty="0">
                <a:solidFill>
                  <a:srgbClr val="DB2777"/>
                </a:solidFill>
              </a:rPr>
              <a:t>📣 Escalate</a:t>
            </a:r>
            <a:endParaRPr lang="en-US" sz="1100" dirty="0"/>
          </a:p>
        </p:txBody>
      </p:sp>
      <p:sp>
        <p:nvSpPr>
          <p:cNvPr id="66" name="Shape 64"/>
          <p:cNvSpPr/>
          <p:nvPr/>
        </p:nvSpPr>
        <p:spPr>
          <a:xfrm>
            <a:off x="1536192" y="4393692"/>
            <a:ext cx="1645920" cy="594360"/>
          </a:xfrm>
          <a:prstGeom prst="rect">
            <a:avLst/>
          </a:prstGeom>
          <a:solidFill>
            <a:srgbClr val="132338"/>
          </a:solidFill>
          <a:ln w="6350">
            <a:solidFill>
              <a:srgbClr val="1E3A5F"/>
            </a:solidFill>
            <a:prstDash val="solid"/>
          </a:ln>
        </p:spPr>
        <p:txBody>
          <a:bodyPr/>
          <a:lstStyle/>
          <a:p>
            <a:endParaRPr lang="en-US"/>
          </a:p>
        </p:txBody>
      </p:sp>
      <p:sp>
        <p:nvSpPr>
          <p:cNvPr id="67" name="Text 65"/>
          <p:cNvSpPr/>
          <p:nvPr/>
        </p:nvSpPr>
        <p:spPr>
          <a:xfrm>
            <a:off x="1600200" y="4393692"/>
            <a:ext cx="1581912" cy="594360"/>
          </a:xfrm>
          <a:prstGeom prst="rect">
            <a:avLst/>
          </a:prstGeom>
          <a:noFill/>
          <a:ln/>
        </p:spPr>
        <p:txBody>
          <a:bodyPr wrap="square" lIns="0" tIns="0" rIns="0" bIns="0" rtlCol="0" anchor="ctr"/>
          <a:lstStyle/>
          <a:p>
            <a:pPr marL="0" indent="0">
              <a:buNone/>
            </a:pPr>
            <a:r>
              <a:rPr lang="en-US" sz="950" dirty="0">
                <a:solidFill>
                  <a:srgbClr val="CBD5E1"/>
                </a:solidFill>
              </a:rPr>
              <a:t>Pass up to authority</a:t>
            </a:r>
            <a:endParaRPr lang="en-US" sz="950" dirty="0"/>
          </a:p>
        </p:txBody>
      </p:sp>
      <p:sp>
        <p:nvSpPr>
          <p:cNvPr id="68" name="Shape 66"/>
          <p:cNvSpPr/>
          <p:nvPr/>
        </p:nvSpPr>
        <p:spPr>
          <a:xfrm>
            <a:off x="3273552" y="4393692"/>
            <a:ext cx="1097280" cy="594360"/>
          </a:xfrm>
          <a:prstGeom prst="rect">
            <a:avLst/>
          </a:prstGeom>
          <a:solidFill>
            <a:srgbClr val="132338"/>
          </a:solidFill>
          <a:ln w="6350">
            <a:solidFill>
              <a:srgbClr val="1E3A5F"/>
            </a:solidFill>
            <a:prstDash val="solid"/>
          </a:ln>
        </p:spPr>
        <p:txBody>
          <a:bodyPr/>
          <a:lstStyle/>
          <a:p>
            <a:endParaRPr lang="en-US"/>
          </a:p>
        </p:txBody>
      </p:sp>
      <p:sp>
        <p:nvSpPr>
          <p:cNvPr id="69" name="Text 67"/>
          <p:cNvSpPr/>
          <p:nvPr/>
        </p:nvSpPr>
        <p:spPr>
          <a:xfrm>
            <a:off x="3337560" y="4393692"/>
            <a:ext cx="1033272" cy="594360"/>
          </a:xfrm>
          <a:prstGeom prst="rect">
            <a:avLst/>
          </a:prstGeom>
          <a:noFill/>
          <a:ln/>
        </p:spPr>
        <p:txBody>
          <a:bodyPr wrap="square" lIns="0" tIns="0" rIns="0" bIns="0" rtlCol="0" anchor="ctr"/>
          <a:lstStyle/>
          <a:p>
            <a:pPr marL="0" indent="0">
              <a:buNone/>
            </a:pPr>
            <a:r>
              <a:rPr lang="en-US" sz="950" dirty="0">
                <a:solidFill>
                  <a:srgbClr val="CBD5E1"/>
                </a:solidFill>
              </a:rPr>
              <a:t>Yes</a:t>
            </a:r>
            <a:endParaRPr lang="en-US" sz="950" dirty="0"/>
          </a:p>
        </p:txBody>
      </p:sp>
      <p:sp>
        <p:nvSpPr>
          <p:cNvPr id="70" name="Shape 68"/>
          <p:cNvSpPr/>
          <p:nvPr/>
        </p:nvSpPr>
        <p:spPr>
          <a:xfrm>
            <a:off x="4462272" y="4393692"/>
            <a:ext cx="1920240" cy="594360"/>
          </a:xfrm>
          <a:prstGeom prst="rect">
            <a:avLst/>
          </a:prstGeom>
          <a:solidFill>
            <a:srgbClr val="132338"/>
          </a:solidFill>
          <a:ln w="6350">
            <a:solidFill>
              <a:srgbClr val="1E3A5F"/>
            </a:solidFill>
            <a:prstDash val="solid"/>
          </a:ln>
        </p:spPr>
        <p:txBody>
          <a:bodyPr/>
          <a:lstStyle/>
          <a:p>
            <a:endParaRPr lang="en-US"/>
          </a:p>
        </p:txBody>
      </p:sp>
      <p:sp>
        <p:nvSpPr>
          <p:cNvPr id="71" name="Text 69"/>
          <p:cNvSpPr/>
          <p:nvPr/>
        </p:nvSpPr>
        <p:spPr>
          <a:xfrm>
            <a:off x="4526280" y="4393692"/>
            <a:ext cx="1856232" cy="594360"/>
          </a:xfrm>
          <a:prstGeom prst="rect">
            <a:avLst/>
          </a:prstGeom>
          <a:noFill/>
          <a:ln/>
        </p:spPr>
        <p:txBody>
          <a:bodyPr wrap="square" lIns="0" tIns="0" rIns="0" bIns="0" rtlCol="0" anchor="ctr"/>
          <a:lstStyle/>
          <a:p>
            <a:pPr marL="0" indent="0">
              <a:buNone/>
            </a:pPr>
            <a:r>
              <a:rPr lang="en-US" sz="950" dirty="0">
                <a:solidFill>
                  <a:srgbClr val="CBD5E1"/>
                </a:solidFill>
              </a:rPr>
              <a:t>Outside your scope/budget</a:t>
            </a:r>
            <a:endParaRPr lang="en-US" sz="950" dirty="0"/>
          </a:p>
        </p:txBody>
      </p:sp>
      <p:sp>
        <p:nvSpPr>
          <p:cNvPr id="72" name="Shape 70"/>
          <p:cNvSpPr/>
          <p:nvPr/>
        </p:nvSpPr>
        <p:spPr>
          <a:xfrm>
            <a:off x="6473952" y="4393692"/>
            <a:ext cx="2377440" cy="594360"/>
          </a:xfrm>
          <a:prstGeom prst="rect">
            <a:avLst/>
          </a:prstGeom>
          <a:solidFill>
            <a:srgbClr val="132338"/>
          </a:solidFill>
          <a:ln w="6350">
            <a:solidFill>
              <a:srgbClr val="1E3A5F"/>
            </a:solidFill>
            <a:prstDash val="solid"/>
          </a:ln>
        </p:spPr>
        <p:txBody>
          <a:bodyPr/>
          <a:lstStyle/>
          <a:p>
            <a:endParaRPr lang="en-US"/>
          </a:p>
        </p:txBody>
      </p:sp>
      <p:sp>
        <p:nvSpPr>
          <p:cNvPr id="73" name="Text 71"/>
          <p:cNvSpPr/>
          <p:nvPr/>
        </p:nvSpPr>
        <p:spPr>
          <a:xfrm>
            <a:off x="6537960" y="4393692"/>
            <a:ext cx="2313432" cy="594360"/>
          </a:xfrm>
          <a:prstGeom prst="rect">
            <a:avLst/>
          </a:prstGeom>
          <a:noFill/>
          <a:ln/>
        </p:spPr>
        <p:txBody>
          <a:bodyPr wrap="square" lIns="0" tIns="0" rIns="0" bIns="0" rtlCol="0" anchor="ctr"/>
          <a:lstStyle/>
          <a:p>
            <a:pPr marL="0" indent="0">
              <a:buNone/>
            </a:pPr>
            <a:r>
              <a:rPr lang="en-US" sz="950" dirty="0">
                <a:solidFill>
                  <a:srgbClr val="CBD5E1"/>
                </a:solidFill>
              </a:rPr>
              <a:t>Board decision on compliance breach</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1360</Words>
  <Application>Microsoft Office PowerPoint</Application>
  <PresentationFormat>On-screen Show (16:9)</PresentationFormat>
  <Paragraphs>205</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Response Strategies</dc:title>
  <dc:subject>PptxGenJS Presentation</dc:subject>
  <dc:creator>PptxGenJS</dc:creator>
  <cp:lastModifiedBy>JEYTHA Sahana</cp:lastModifiedBy>
  <cp:revision>2</cp:revision>
  <dcterms:created xsi:type="dcterms:W3CDTF">2026-04-07T00:24:41Z</dcterms:created>
  <dcterms:modified xsi:type="dcterms:W3CDTF">2026-04-07T00:26:40Z</dcterms:modified>
</cp:coreProperties>
</file>