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8" r:id="rId11"/>
    <p:sldId id="265" r:id="rId12"/>
    <p:sldId id="289" r:id="rId13"/>
    <p:sldId id="266" r:id="rId14"/>
    <p:sldId id="290" r:id="rId15"/>
    <p:sldId id="267" r:id="rId16"/>
    <p:sldId id="268" r:id="rId17"/>
    <p:sldId id="291" r:id="rId18"/>
    <p:sldId id="269" r:id="rId19"/>
    <p:sldId id="270" r:id="rId20"/>
    <p:sldId id="271" r:id="rId21"/>
    <p:sldId id="292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93" r:id="rId33"/>
    <p:sldId id="282" r:id="rId34"/>
    <p:sldId id="283" r:id="rId35"/>
    <p:sldId id="284" r:id="rId36"/>
    <p:sldId id="286" r:id="rId37"/>
    <p:sldId id="287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9825" autoAdjust="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56DE9-F89B-7869-78E6-AD73962418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Jeytha Sahana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F138E-EA2B-37E4-C323-610C09DF0C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E019B-667C-4CEF-8E68-8030421FF2D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05AF7-9F2D-009B-2271-B455127BB8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A23F9-2160-71EB-228F-630DB1F482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8C562-973D-43F3-BDA0-E19F81796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3526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81884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Data at Rest</a:t>
            </a:r>
          </a:p>
          <a:p>
            <a:r>
              <a:rPr lang="en-US" dirty="0"/>
              <a:t>Data that is </a:t>
            </a:r>
            <a:r>
              <a:rPr lang="en-US" b="1" dirty="0"/>
              <a:t>stored somewhere</a:t>
            </a:r>
            <a:r>
              <a:rPr lang="en-US" dirty="0"/>
              <a:t> and not actively moving.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Files on your laptop </a:t>
            </a:r>
          </a:p>
          <a:p>
            <a:r>
              <a:rPr lang="en-US" dirty="0"/>
              <a:t>Database records </a:t>
            </a:r>
          </a:p>
          <a:p>
            <a:r>
              <a:rPr lang="en-US" dirty="0"/>
              <a:t>Data in cloud storage (S3, Azure Blob) </a:t>
            </a:r>
          </a:p>
          <a:p>
            <a:r>
              <a:rPr lang="en-US" dirty="0"/>
              <a:t>Backups </a:t>
            </a:r>
          </a:p>
          <a:p>
            <a:r>
              <a:rPr lang="en-US" b="1" dirty="0"/>
              <a:t>Risk:</a:t>
            </a:r>
            <a:br>
              <a:rPr lang="en-US" dirty="0"/>
            </a:br>
            <a:r>
              <a:rPr lang="en-US" dirty="0"/>
              <a:t>If someone gains access → they can read or steal everything</a:t>
            </a:r>
          </a:p>
          <a:p>
            <a:r>
              <a:rPr lang="en-US" b="1" dirty="0"/>
              <a:t>Protection:</a:t>
            </a:r>
            <a:endParaRPr lang="en-US" dirty="0"/>
          </a:p>
          <a:p>
            <a:r>
              <a:rPr lang="en-US" dirty="0"/>
              <a:t>Encryption (disk/database encryption) </a:t>
            </a:r>
          </a:p>
          <a:p>
            <a:r>
              <a:rPr lang="en-US" dirty="0"/>
              <a:t>Access controls (who can open it) </a:t>
            </a:r>
          </a:p>
          <a:p>
            <a:r>
              <a:rPr lang="en-US" dirty="0"/>
              <a:t>Strong authentication </a:t>
            </a:r>
          </a:p>
          <a:p>
            <a:r>
              <a:rPr lang="en-US" dirty="0"/>
              <a:t>“Data sitting still”</a:t>
            </a:r>
          </a:p>
          <a:p>
            <a:r>
              <a:rPr lang="en-US" b="1" dirty="0"/>
              <a:t>2. Data in Motion / Data in Transit</a:t>
            </a:r>
          </a:p>
          <a:p>
            <a:r>
              <a:rPr lang="en-US" dirty="0"/>
              <a:t>Data that is </a:t>
            </a:r>
            <a:r>
              <a:rPr lang="en-US" b="1" dirty="0"/>
              <a:t>being transferred from one place to another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Sending an email </a:t>
            </a:r>
          </a:p>
          <a:p>
            <a:r>
              <a:rPr lang="en-US" dirty="0"/>
              <a:t>Browsing a website (HTTPS) </a:t>
            </a:r>
          </a:p>
          <a:p>
            <a:r>
              <a:rPr lang="en-US" dirty="0"/>
              <a:t>API calls between services </a:t>
            </a:r>
          </a:p>
          <a:p>
            <a:r>
              <a:rPr lang="en-US" dirty="0"/>
              <a:t>File uploads/downloads </a:t>
            </a:r>
          </a:p>
          <a:p>
            <a:r>
              <a:rPr lang="en-US" b="1" dirty="0"/>
              <a:t>Risk:</a:t>
            </a:r>
            <a:br>
              <a:rPr lang="en-US" dirty="0"/>
            </a:br>
            <a:r>
              <a:rPr lang="en-US" dirty="0"/>
              <a:t>Attackers can </a:t>
            </a:r>
            <a:r>
              <a:rPr lang="en-US" b="1" dirty="0"/>
              <a:t>intercept</a:t>
            </a:r>
            <a:r>
              <a:rPr lang="en-US" dirty="0"/>
              <a:t> it (Man-in-the-Middle attacks)</a:t>
            </a:r>
          </a:p>
          <a:p>
            <a:r>
              <a:rPr lang="en-US" b="1" dirty="0"/>
              <a:t>Protection:</a:t>
            </a:r>
            <a:endParaRPr lang="en-US" dirty="0"/>
          </a:p>
          <a:p>
            <a:r>
              <a:rPr lang="en-US" dirty="0"/>
              <a:t>Encryption in transit (TLS/HTTPS) </a:t>
            </a:r>
          </a:p>
          <a:p>
            <a:r>
              <a:rPr lang="en-US" dirty="0"/>
              <a:t>Secure protocols (SSH, VPN) </a:t>
            </a:r>
          </a:p>
          <a:p>
            <a:r>
              <a:rPr lang="en-US" dirty="0"/>
              <a:t>“Data moving across a network”</a:t>
            </a:r>
          </a:p>
          <a:p>
            <a:r>
              <a:rPr lang="en-US" b="1" dirty="0"/>
              <a:t>3. Data in Use </a:t>
            </a:r>
            <a:r>
              <a:rPr lang="en-US" b="1" i="1" dirty="0"/>
              <a:t>(you didn’t mention it, but this is the third important one)</a:t>
            </a:r>
            <a:endParaRPr lang="en-US" b="1" dirty="0"/>
          </a:p>
          <a:p>
            <a:r>
              <a:rPr lang="en-US" dirty="0"/>
              <a:t>Data that is </a:t>
            </a:r>
            <a:r>
              <a:rPr lang="en-US" b="1" dirty="0"/>
              <a:t>actively being processed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Data loaded into memory (RAM) </a:t>
            </a:r>
          </a:p>
          <a:p>
            <a:r>
              <a:rPr lang="en-US" dirty="0"/>
              <a:t>An app using customer info </a:t>
            </a:r>
          </a:p>
          <a:p>
            <a:r>
              <a:rPr lang="en-US" dirty="0"/>
              <a:t>A query running on a database </a:t>
            </a:r>
          </a:p>
          <a:p>
            <a:r>
              <a:rPr lang="en-US" b="1" dirty="0"/>
              <a:t>Risk:</a:t>
            </a:r>
            <a:br>
              <a:rPr lang="en-US" dirty="0"/>
            </a:br>
            <a:r>
              <a:rPr lang="en-US" dirty="0"/>
              <a:t>Harder to protect—data is temporarily exposed while being used</a:t>
            </a:r>
          </a:p>
          <a:p>
            <a:r>
              <a:rPr lang="en-US" b="1" dirty="0"/>
              <a:t>Protection:</a:t>
            </a:r>
            <a:endParaRPr lang="en-US" dirty="0"/>
          </a:p>
          <a:p>
            <a:r>
              <a:rPr lang="en-US" dirty="0"/>
              <a:t>Secure coding </a:t>
            </a:r>
          </a:p>
          <a:p>
            <a:r>
              <a:rPr lang="en-US" dirty="0"/>
              <a:t>Memory protection </a:t>
            </a:r>
          </a:p>
          <a:p>
            <a:r>
              <a:rPr lang="en-US" dirty="0"/>
              <a:t>Confidential computing (advanced) </a:t>
            </a:r>
          </a:p>
          <a:p>
            <a:r>
              <a:rPr lang="en-US" dirty="0"/>
              <a:t> “Data being actively worked on”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You’re analyzing this situation:</a:t>
            </a:r>
          </a:p>
          <a:p>
            <a:r>
              <a:rPr lang="en-US" dirty="0"/>
              <a:t>A user logs into a banking app, checks their balance, and downloads a statement PDF.</a:t>
            </a:r>
          </a:p>
          <a:p>
            <a:r>
              <a:rPr lang="en-US" b="1" dirty="0"/>
              <a:t>Step 2: Break it down</a:t>
            </a:r>
          </a:p>
          <a:p>
            <a:r>
              <a:rPr lang="en-US" dirty="0"/>
              <a:t>For each step below, identify:</a:t>
            </a:r>
          </a:p>
          <a:p>
            <a:r>
              <a:rPr lang="en-US" b="1" dirty="0"/>
              <a:t>Data State</a:t>
            </a:r>
            <a:r>
              <a:rPr lang="en-US" dirty="0"/>
              <a:t> (At Rest / In Transit / In Use) </a:t>
            </a:r>
          </a:p>
          <a:p>
            <a:r>
              <a:rPr lang="en-US" b="1" dirty="0"/>
              <a:t>Risk</a:t>
            </a:r>
            <a:r>
              <a:rPr lang="en-US" dirty="0"/>
              <a:t> </a:t>
            </a:r>
          </a:p>
          <a:p>
            <a:r>
              <a:rPr lang="en-US" b="1" dirty="0"/>
              <a:t>Security Control</a:t>
            </a:r>
            <a:r>
              <a:rPr lang="en-US" dirty="0"/>
              <a:t> </a:t>
            </a:r>
          </a:p>
          <a:p>
            <a:r>
              <a:rPr lang="en-US" b="1" dirty="0"/>
              <a:t>Tasks:</a:t>
            </a:r>
          </a:p>
          <a:p>
            <a:r>
              <a:rPr lang="en-US" b="1" dirty="0"/>
              <a:t>1. User enters login credentials</a:t>
            </a:r>
          </a:p>
          <a:p>
            <a:r>
              <a:rPr lang="en-US" dirty="0"/>
              <a:t>What state is the data in? </a:t>
            </a:r>
          </a:p>
          <a:p>
            <a:r>
              <a:rPr lang="en-US" dirty="0"/>
              <a:t>What could go wrong? </a:t>
            </a:r>
          </a:p>
          <a:p>
            <a:r>
              <a:rPr lang="en-US" dirty="0"/>
              <a:t>How do you protect it? </a:t>
            </a:r>
          </a:p>
          <a:p>
            <a:r>
              <a:rPr lang="en-US" b="1" dirty="0"/>
              <a:t>2. Credentials are sent to the server</a:t>
            </a:r>
          </a:p>
          <a:p>
            <a:r>
              <a:rPr lang="en-US" dirty="0"/>
              <a:t>Data state? </a:t>
            </a:r>
          </a:p>
          <a:p>
            <a:r>
              <a:rPr lang="en-US" dirty="0"/>
              <a:t>Risk? </a:t>
            </a:r>
          </a:p>
          <a:p>
            <a:r>
              <a:rPr lang="en-US" dirty="0"/>
              <a:t>Control? </a:t>
            </a:r>
          </a:p>
          <a:p>
            <a:r>
              <a:rPr lang="en-US" b="1" dirty="0"/>
              <a:t>3. Server verifies credentials using database</a:t>
            </a:r>
          </a:p>
          <a:p>
            <a:r>
              <a:rPr lang="en-US" dirty="0"/>
              <a:t>Data state? </a:t>
            </a:r>
          </a:p>
          <a:p>
            <a:r>
              <a:rPr lang="en-US" dirty="0"/>
              <a:t>Risk? </a:t>
            </a:r>
          </a:p>
          <a:p>
            <a:r>
              <a:rPr lang="en-US" dirty="0"/>
              <a:t>Control? </a:t>
            </a:r>
          </a:p>
          <a:p>
            <a:r>
              <a:rPr lang="en-US" b="1" dirty="0"/>
              <a:t>4. Bank balance is displayed on screen</a:t>
            </a:r>
          </a:p>
          <a:p>
            <a:r>
              <a:rPr lang="en-US" dirty="0"/>
              <a:t>Data state? </a:t>
            </a:r>
          </a:p>
          <a:p>
            <a:r>
              <a:rPr lang="en-US" dirty="0"/>
              <a:t>Risk? </a:t>
            </a:r>
          </a:p>
          <a:p>
            <a:r>
              <a:rPr lang="en-US" dirty="0"/>
              <a:t>Control? </a:t>
            </a:r>
          </a:p>
          <a:p>
            <a:r>
              <a:rPr lang="en-US" b="1" dirty="0"/>
              <a:t>5. User downloads PDF statement</a:t>
            </a:r>
          </a:p>
          <a:p>
            <a:r>
              <a:rPr lang="en-US" dirty="0"/>
              <a:t>Data state (during download)? </a:t>
            </a:r>
          </a:p>
          <a:p>
            <a:r>
              <a:rPr lang="en-US" dirty="0"/>
              <a:t>Data state (after download)? </a:t>
            </a:r>
          </a:p>
          <a:p>
            <a:r>
              <a:rPr lang="en-US" dirty="0"/>
              <a:t>Risks? </a:t>
            </a:r>
          </a:p>
          <a:p>
            <a:r>
              <a:rPr lang="en-US" dirty="0"/>
              <a:t>Controls? </a:t>
            </a:r>
          </a:p>
          <a:p>
            <a:r>
              <a:rPr lang="en-US" b="1" dirty="0"/>
              <a:t>Step 3: Push further (Leader Thinking)</a:t>
            </a:r>
          </a:p>
          <a:p>
            <a:r>
              <a:rPr lang="en-US" dirty="0"/>
              <a:t>Ask yourself:</a:t>
            </a:r>
          </a:p>
          <a:p>
            <a:r>
              <a:rPr lang="en-US" dirty="0"/>
              <a:t>Where is the </a:t>
            </a:r>
            <a:r>
              <a:rPr lang="en-US" b="1" dirty="0"/>
              <a:t>highest risk point</a:t>
            </a:r>
            <a:r>
              <a:rPr lang="en-US" dirty="0"/>
              <a:t>? </a:t>
            </a:r>
          </a:p>
          <a:p>
            <a:r>
              <a:rPr lang="en-US" dirty="0"/>
              <a:t>If you could fix only ONE thing, what would it be? </a:t>
            </a:r>
          </a:p>
          <a:p>
            <a:r>
              <a:rPr lang="en-US" b="1" dirty="0"/>
              <a:t>Bonus Challenge (Real Cyber Thinking)</a:t>
            </a:r>
          </a:p>
          <a:p>
            <a:r>
              <a:rPr lang="en-US" dirty="0"/>
              <a:t>I’ll give you a twist:</a:t>
            </a:r>
          </a:p>
          <a:p>
            <a:r>
              <a:rPr lang="en-US" dirty="0"/>
              <a:t>The app uses HTTPS, but a user is on public Wi-Fi.</a:t>
            </a:r>
          </a:p>
          <a:p>
            <a:r>
              <a:rPr lang="en-US" dirty="0"/>
              <a:t>Is the data safe in transit? </a:t>
            </a:r>
          </a:p>
          <a:p>
            <a:r>
              <a:rPr lang="en-US" dirty="0"/>
              <a:t>What </a:t>
            </a:r>
            <a:r>
              <a:rPr lang="en-US" i="1" dirty="0"/>
              <a:t>new</a:t>
            </a:r>
            <a:r>
              <a:rPr lang="en-US" dirty="0"/>
              <a:t> risks appear? </a:t>
            </a:r>
          </a:p>
          <a:p>
            <a:r>
              <a:rPr lang="en-US" dirty="0"/>
              <a:t>What would you recommend?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DKIM and DMARC are </a:t>
            </a:r>
            <a:r>
              <a:rPr lang="en-US" dirty="0"/>
              <a:t>crucial email authentication protocols used together to prevent spoofing and phishing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Accepted</a:t>
            </a:r>
          </a:p>
          <a:p>
            <a:r>
              <a:rPr lang="en-US" dirty="0"/>
              <a:t>You decide to </a:t>
            </a:r>
            <a:r>
              <a:rPr lang="en-US" b="1" dirty="0"/>
              <a:t>live with the risk</a:t>
            </a:r>
            <a:r>
              <a:rPr lang="en-US" dirty="0"/>
              <a:t>.</a:t>
            </a:r>
          </a:p>
          <a:p>
            <a:r>
              <a:rPr lang="en-US" dirty="0"/>
              <a:t>You know it exists </a:t>
            </a:r>
          </a:p>
          <a:p>
            <a:r>
              <a:rPr lang="en-US" dirty="0"/>
              <a:t>You understand the impact </a:t>
            </a:r>
          </a:p>
          <a:p>
            <a:r>
              <a:rPr lang="en-US" dirty="0"/>
              <a:t>But you choose not to fix it (usually because cost &gt; benefit) 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low-risk vulnerability exists, but fixing it would take too much time/resources.</a:t>
            </a:r>
          </a:p>
          <a:p>
            <a:r>
              <a:rPr lang="en-US" dirty="0"/>
              <a:t> “If it happens, we’ll deal with it.”</a:t>
            </a:r>
          </a:p>
          <a:p>
            <a:r>
              <a:rPr lang="en-US" b="1" dirty="0"/>
              <a:t>2. Mitigated</a:t>
            </a:r>
          </a:p>
          <a:p>
            <a:r>
              <a:rPr lang="en-US" dirty="0"/>
              <a:t>You </a:t>
            </a:r>
            <a:r>
              <a:rPr lang="en-US" b="1" dirty="0"/>
              <a:t>reduce the risk</a:t>
            </a:r>
            <a:r>
              <a:rPr lang="en-US" dirty="0"/>
              <a:t>, but don’t eliminate it completely.</a:t>
            </a:r>
          </a:p>
          <a:p>
            <a:r>
              <a:rPr lang="en-US" dirty="0"/>
              <a:t>Add controls </a:t>
            </a:r>
          </a:p>
          <a:p>
            <a:r>
              <a:rPr lang="en-US" dirty="0"/>
              <a:t>Lower the chance or impact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Install firewalls </a:t>
            </a:r>
          </a:p>
          <a:p>
            <a:r>
              <a:rPr lang="en-US" dirty="0"/>
              <a:t>Patch systems </a:t>
            </a:r>
          </a:p>
          <a:p>
            <a:r>
              <a:rPr lang="en-US" dirty="0"/>
              <a:t>Add MFA </a:t>
            </a:r>
          </a:p>
          <a:p>
            <a:r>
              <a:rPr lang="en-US" dirty="0"/>
              <a:t>“We can’t remove the risk entirely, but we can make it much harder to exploit.”</a:t>
            </a:r>
          </a:p>
          <a:p>
            <a:r>
              <a:rPr lang="en-US" b="1" dirty="0"/>
              <a:t>3. Transferred (Insurance)</a:t>
            </a:r>
          </a:p>
          <a:p>
            <a:r>
              <a:rPr lang="en-US" dirty="0"/>
              <a:t>You </a:t>
            </a:r>
            <a:r>
              <a:rPr lang="en-US" b="1" dirty="0"/>
              <a:t>shift the financial impact</a:t>
            </a:r>
            <a:r>
              <a:rPr lang="en-US" dirty="0"/>
              <a:t> to someone else.</a:t>
            </a:r>
          </a:p>
          <a:p>
            <a:r>
              <a:rPr lang="en-US" dirty="0"/>
              <a:t>Typically through cyber insurance or outsourcing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Buy cyber insurance to cover breach costs </a:t>
            </a:r>
          </a:p>
          <a:p>
            <a:r>
              <a:rPr lang="en-US" dirty="0"/>
              <a:t>Use a third-party security provider </a:t>
            </a:r>
          </a:p>
          <a:p>
            <a:r>
              <a:rPr lang="en-US" dirty="0"/>
              <a:t>“If something goes wrong, someone else bears the cost.”</a:t>
            </a:r>
          </a:p>
          <a:p>
            <a:r>
              <a:rPr lang="en-US" b="1" dirty="0"/>
              <a:t>4. Avoided</a:t>
            </a:r>
          </a:p>
          <a:p>
            <a:r>
              <a:rPr lang="en-US" dirty="0"/>
              <a:t>You </a:t>
            </a:r>
            <a:r>
              <a:rPr lang="en-US" b="1" dirty="0"/>
              <a:t>eliminate the risk completely</a:t>
            </a:r>
            <a:r>
              <a:rPr lang="en-US" dirty="0"/>
              <a:t> by removing the source.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Don’t store sensitive data at all </a:t>
            </a:r>
          </a:p>
          <a:p>
            <a:r>
              <a:rPr lang="en-US" dirty="0"/>
              <a:t>Shut down a vulnerable system </a:t>
            </a:r>
          </a:p>
          <a:p>
            <a:r>
              <a:rPr lang="en-US" dirty="0"/>
              <a:t>Avoid using a risky technology </a:t>
            </a:r>
          </a:p>
          <a:p>
            <a:r>
              <a:rPr lang="en-US" dirty="0"/>
              <a:t> “No exposure = no risk.”</a:t>
            </a:r>
          </a:p>
          <a:p>
            <a:r>
              <a:rPr lang="en-US" b="1" dirty="0"/>
              <a:t>Simple way to remember:</a:t>
            </a:r>
          </a:p>
          <a:p>
            <a:r>
              <a:rPr lang="en-US" b="1" dirty="0"/>
              <a:t>Accept</a:t>
            </a:r>
            <a:r>
              <a:rPr lang="en-US" dirty="0"/>
              <a:t> → Ignore (knowingly) </a:t>
            </a:r>
          </a:p>
          <a:p>
            <a:r>
              <a:rPr lang="en-US" b="1" dirty="0"/>
              <a:t>Mitigate</a:t>
            </a:r>
            <a:r>
              <a:rPr lang="en-US" dirty="0"/>
              <a:t> → Reduce </a:t>
            </a:r>
          </a:p>
          <a:p>
            <a:r>
              <a:rPr lang="en-US" b="1" dirty="0"/>
              <a:t>Transfer</a:t>
            </a:r>
            <a:r>
              <a:rPr lang="en-US" dirty="0"/>
              <a:t> → Shift </a:t>
            </a:r>
          </a:p>
          <a:p>
            <a:r>
              <a:rPr lang="en-US" b="1" dirty="0"/>
              <a:t>Avoid</a:t>
            </a:r>
            <a:r>
              <a:rPr lang="en-US" dirty="0"/>
              <a:t> → Eliminate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it like this:</a:t>
            </a:r>
          </a:p>
          <a:p>
            <a:r>
              <a:rPr lang="en-US" dirty="0"/>
              <a:t>Your computer gets infected (malware) </a:t>
            </a:r>
          </a:p>
          <a:p>
            <a:r>
              <a:rPr lang="en-US" dirty="0"/>
              <a:t>That malware needs instructions </a:t>
            </a:r>
          </a:p>
          <a:p>
            <a:r>
              <a:rPr lang="en-US" dirty="0"/>
              <a:t>So it secretly “calls home” to the attacker’s server </a:t>
            </a:r>
          </a:p>
          <a:p>
            <a:r>
              <a:rPr lang="en-US" dirty="0"/>
              <a:t>That communication = </a:t>
            </a:r>
            <a:r>
              <a:rPr lang="en-US" b="1" dirty="0"/>
              <a:t>C2</a:t>
            </a:r>
            <a:r>
              <a:rPr lang="en-US" dirty="0"/>
              <a:t> </a:t>
            </a:r>
          </a:p>
          <a:p>
            <a:r>
              <a:rPr lang="en-US" b="1" dirty="0"/>
              <a:t>What happens over C2:</a:t>
            </a:r>
            <a:endParaRPr lang="en-US" dirty="0"/>
          </a:p>
          <a:p>
            <a:r>
              <a:rPr lang="en-US" dirty="0"/>
              <a:t>Attacker sends commands → “steal files”, “log keystrokes”, “move laterally” </a:t>
            </a:r>
          </a:p>
          <a:p>
            <a:r>
              <a:rPr lang="en-US" dirty="0"/>
              <a:t>Infected system sends data back → passwords, files, system info 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Your laptop looks normal, but in the background:</a:t>
            </a:r>
          </a:p>
          <a:p>
            <a:r>
              <a:rPr lang="en-US" dirty="0"/>
              <a:t>It’s making small, regular connections to a suspicious server </a:t>
            </a:r>
          </a:p>
          <a:p>
            <a:r>
              <a:rPr lang="en-US" dirty="0"/>
              <a:t>That server is telling it what to do next </a:t>
            </a:r>
          </a:p>
          <a:p>
            <a:r>
              <a:rPr lang="en-US" b="1" dirty="0"/>
              <a:t>Why it’s tricky:</a:t>
            </a:r>
            <a:br>
              <a:rPr lang="en-US" dirty="0"/>
            </a:br>
            <a:r>
              <a:rPr lang="en-US" dirty="0"/>
              <a:t>C2 traffic is often designed to look </a:t>
            </a:r>
            <a:r>
              <a:rPr lang="en-US" b="1" dirty="0"/>
              <a:t>normal</a:t>
            </a:r>
            <a:r>
              <a:rPr lang="en-US" dirty="0"/>
              <a:t>, like:</a:t>
            </a:r>
          </a:p>
          <a:p>
            <a:r>
              <a:rPr lang="en-US" dirty="0"/>
              <a:t>Web traffic (HTTP/HTTPS) </a:t>
            </a:r>
          </a:p>
          <a:p>
            <a:r>
              <a:rPr lang="en-US" dirty="0"/>
              <a:t>DNS requests </a:t>
            </a:r>
          </a:p>
          <a:p>
            <a:r>
              <a:rPr lang="en-US" dirty="0"/>
              <a:t>Cloud services (to blend in) </a:t>
            </a:r>
          </a:p>
          <a:p>
            <a:r>
              <a:rPr lang="en-US" dirty="0"/>
              <a:t>So instead of obvious “hacker-looking” activity, it might look like:</a:t>
            </a:r>
          </a:p>
          <a:p>
            <a:r>
              <a:rPr lang="en-US" dirty="0"/>
              <a:t>“Just another website request”</a:t>
            </a:r>
            <a:br>
              <a:rPr lang="en-US" dirty="0"/>
            </a:br>
            <a:r>
              <a:rPr lang="en-US" dirty="0"/>
              <a:t>when it’s actually:</a:t>
            </a:r>
            <a:br>
              <a:rPr lang="en-US" dirty="0"/>
            </a:br>
            <a:r>
              <a:rPr lang="en-US" dirty="0"/>
              <a:t>“Your system reporting to an attacker”</a:t>
            </a:r>
          </a:p>
          <a:p>
            <a:r>
              <a:rPr lang="en-US" b="1" dirty="0"/>
              <a:t>Simple analogy:</a:t>
            </a:r>
            <a:endParaRPr lang="en-US" dirty="0"/>
          </a:p>
          <a:p>
            <a:r>
              <a:rPr lang="en-US" dirty="0"/>
              <a:t>Malware = spy inside your system </a:t>
            </a:r>
          </a:p>
          <a:p>
            <a:r>
              <a:rPr lang="en-US" dirty="0"/>
              <a:t>C2 = the spy’s communication line to their boss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fatigue is </a:t>
            </a:r>
            <a:r>
              <a:rPr lang="en-US" dirty="0"/>
              <a:t>the mental and emotional exhaustion resulting from making, or anticipating, numerous choices throughout the 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46F6-31F1-6B3F-194C-E10951BC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F0BD3-E11F-EB84-09BB-FAAC4DB3F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B3006-93F3-DCA7-A74F-2708EAEEC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74BCE-5F5A-2A55-BA59-757B1B869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103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2296" cy="5143500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Becoming an Effective Leader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Cybersecurity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163775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Training Module — Leadership Theory | Psychology | Frameworks | CISO Guidance</a:t>
            </a:r>
          </a:p>
          <a:p>
            <a:pPr marL="0" indent="0" algn="l">
              <a:buNone/>
            </a:pPr>
            <a:endParaRPr lang="en-US" dirty="0">
              <a:solidFill>
                <a:srgbClr val="00C2C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800" dirty="0" err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Jeytha</a:t>
            </a:r>
            <a:r>
              <a:rPr lang="en-US" sz="1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Sahana . V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16568" cy="4800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Security Leadership  |  CISO Guide  |  Cybersecurity Training Module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31520"/>
            <a:ext cx="109728" cy="3657600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“Good leaders organize and align people around what the team needs to do. Great leaders motivate and inspire people with WHY they're doing it.”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Marillyn Hewson, CEO Lockheed Martin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069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Digital Security Leadership — Butterhof &amp; Bobbert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76272"/>
            <a:ext cx="9144000" cy="54864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1: Foundation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Think — Not Just What They Do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 vs. Management in Cybersecurity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 right — executing processes, applying patches, following protocols.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right things — setting vision, driving culture, making risk-based decisions.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 Shift 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closes a vulnerability. A leader asks: 'What is the risk to the business if this isn't fixed today?'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get you the seat. Leadership skills keep you at the table.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CISSP-Style Thinking Shift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asks: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fix this vulnerability?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asks: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risk does this create for the business? What is the asset, the threat, the impact?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Leaders prioritize by IMPACT, not urgency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Exposed database &gt; internal config error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Leaders communicate risk in business language, not tech jargon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the formula: Risk = Threat × Vulnerability × Impact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 Theories You Must Know (Digital Security Leadership)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 Leadership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Inspire people with WHY security matters
•  Lead by example — follow your own policies
•  Drive cultural change, not just compliance
•  Cyber use: Moving org from reactive to proactive security posture
•  Source: Butterhof &amp; Bobbert, Ch.1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26323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 Leadership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 blockers for your team
•  Develop others' skills constantly
•  Prioritize team wellbeing and clarity
•  Cyber use: Build SOC team capacity, reduce analyst burnout
•  Psychology: People perform best when they feel supported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83564"/>
            <a:ext cx="2651760" cy="3566160"/>
          </a:xfrm>
          <a:prstGeom prst="rect">
            <a:avLst/>
          </a:prstGeom>
          <a:solidFill>
            <a:srgbClr val="1A3A4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Leadership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conditions where ALL people can contribute
•  Collaboration is essential — no solo wins
•  Security is everyone's responsibility
•  Cyber use: Cross-team ownership of risk (IT, HR, Finance, Legal)
•  Chain is only as strong as weakest link
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a Leader — Core Ingredients (Warren Bennis Model)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Guiding Vision: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has a clear idea of what they want to achieve and communicates it constantly.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Passion: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who communicates passion gives hope and inspiration to others.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Integrity: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behavior between what you say and what you do. 'Do as I say, not as I do' destroys teams.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Definition: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'Leadership is influencing people by providing PURPOSE, DIRECTION, and MOTIVATION to accomplish the mission.'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Cybersecurity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 Cyber: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— 'We will verify every user, every device, every time.'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 in Cyber: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security protects employees, customers, and the business — not just rules.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in Cyber: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enforce MFA for employees but skip it yourself — you lose all credibility.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need to know they're protecting real people, not just running alerts.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76272"/>
            <a:ext cx="9144000" cy="54864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2: Core Frameworks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| OODA Loop | STRIDE | Risk Thinking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CIA Triad — Don't Memorize It. USE It to Think.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Confidentiality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unauthorized users access this data?
•  Example: Customer PII exposed in S3 bucket
•  Control: Encryption, IAM, least privilege
•  Tradeoff: More access controls = less usability
•  Leader decision: Who NEEDS access vs who WANTS it?
•  Phishing targets confidentiality directly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26323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Integrity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data be modified without detection?
•  Example: Attacker alters financial transaction logs
•  Control: Hashing, audit trails, checksums
•  Tradeoff: Integrity checks slow processing
•  Leader decision: What data MUST be trusted?
•  Insider threats often attack integrity silently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651760" cy="3566160"/>
          </a:xfrm>
          <a:prstGeom prst="rect">
            <a:avLst/>
          </a:prstGeom>
          <a:solidFill>
            <a:srgbClr val="1A3A4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Availability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happens if the system goes down?
•  Example: Ransomware brings down hospital systems
•  Control: Backups, redundancy, DRP, BCP
•  Tradeoff: High availability = higher cost
•  Leader decision: What is the RTO/RPO?
•  DDoS attacks target availability specifically
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CIA Triad: The Leadership Insight — Security Is Always a Tradeoff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Example: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MFA ↑ Confidentiality but ↓ Availability (users locked out). Leaders decide the RIGHT tradeoff for the business.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Policies: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accounts after 3 failed attempts ↑ security but ↓ availability for legitimate users.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Confidentiality but adds processing overhead — Availability impact.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Leader's Job: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'maximum security everywhere' — but the RIGHT security for what matters most to the business.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Training Exercise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Pick ANY system (login portal, database, API)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all three: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unauthorized users access it? Can data be changed silently? What happens if it goes down?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Identify the biggest risk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Decide: Which element matters most HERE?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Practice daily for 30 days → becomes instinct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org: Availability &gt; Confidentiality in an emergency. Life before data privacy.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OODA Loop: Your Real-Time Decision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· Orient · Decide · Act — How leaders make fast, correct decisions under pressure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201168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  OBSERVE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5727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4F72"/>
                </a:solidFill>
              </a:rPr>
              <a:t>Gather 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99339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93852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Monitor alerts &amp; logs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54203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48716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Watch for anomalies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309067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303580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Collect threat intel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363931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58444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Never assume — verify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377440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77440" y="960120"/>
            <a:ext cx="20116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7744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ORIENT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50592" y="15727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D9488"/>
                </a:solidFill>
              </a:rPr>
              <a:t>THIS is where leaders differ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87168" y="19933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33472" y="193852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Is this noise or real threat?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87168" y="254203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33472" y="248716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What system is at risk?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87168" y="30906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33472" y="303580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What is the blast radius?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87168" y="363931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33472" y="358444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Apply CIA + STRIDE lens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0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960120"/>
            <a:ext cx="201168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DECIDE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45152" y="15727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A623"/>
                </a:solidFill>
              </a:rPr>
              <a:t>Choose the highest-impact action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1728" y="19933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8032" y="193852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What reduces MOST risk now?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81728" y="254203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28032" y="248716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Isolate, patch, or escalate?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81728" y="309067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8032" y="303580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Communicate to stakeholders?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81728" y="363931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28032" y="358444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Commit — no half-measures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66560" y="96012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66560" y="960120"/>
            <a:ext cx="201168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6656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ACT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39712" y="15727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74C3C"/>
                </a:solidFill>
              </a:rPr>
              <a:t>Execute with speed &amp; precision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76288" y="199339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022592" y="193852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Move fast — time kills in IR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6288" y="254203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22592" y="248716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Follow the playbook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6288" y="309067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022592" y="303580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Log every action taken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76288" y="363931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022592" y="3584448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Then loop back to Observe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E8"/>
                </a:solidFill>
              </a:rPr>
              <a:t>Training Drill: When you see ANY cyber issue, say aloud: What am I observing? → What does it mean? → What matters most? → What action now?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OODA Loop — Your Real-Time Decision Engine (John Boyd, USAF)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 — alerts, logs, user reports, threat intel. What is actually happening right now?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leaders separate themselves. Analyze: Is this noise or real threat? What system? What is the blast radius?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action reduces the most risk right now? Don't wait for perfect information — decide with what you have.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decisively. Don't overthink after deciding. Revisit only when NEW data arrives.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OODA in 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Alert Scenario: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200 users clicked a link. Orient: Is the payload active? Which systems touched? Decide: Isolate or monitor? Act: Isolate affected machines NOW.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Scenario: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Files encrypting. Orient: Spread rate, backup status. Decide: Shut down network segment. Act: Execute IR playbook immediately.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Drill: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out loud for every incident: 'What am I observing? What does this mean? What matters most? What action now?'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 this 30 days → instinctive leadership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Think Like an Attacker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don't wait for threats — they model them first using STRIDE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347472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00584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005840"/>
            <a:ext cx="13716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01952" y="1005840"/>
            <a:ext cx="1920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01952" y="1005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Leader Asks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22192" y="1005840"/>
            <a:ext cx="21031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2192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 Attack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25312" y="1005840"/>
            <a:ext cx="23774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25312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1325880"/>
            <a:ext cx="8778240" cy="566928"/>
          </a:xfrm>
          <a:prstGeom prst="rect">
            <a:avLst/>
          </a:prstGeom>
          <a:solidFill>
            <a:srgbClr val="F7FAFC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2880" y="1399032"/>
            <a:ext cx="32918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" y="1399032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13258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Spoofing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01952" y="13258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Can someone fake identity?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22192" y="13258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Forged tokens, fake login pages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25312" y="13258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MFA, digital signatures, PKI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1938528"/>
            <a:ext cx="8778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2011680"/>
            <a:ext cx="329184" cy="42062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" y="201168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" y="19385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</a:rPr>
              <a:t>Tampering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01952" y="1938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Can data be silently altered?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22192" y="193852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Man-in-Middle, DB record edit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25312" y="19385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Hashing, integrity checks, TLS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2551176"/>
            <a:ext cx="8778240" cy="566928"/>
          </a:xfrm>
          <a:prstGeom prst="rect">
            <a:avLst/>
          </a:prstGeom>
          <a:solidFill>
            <a:srgbClr val="F7FAFC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2624328"/>
            <a:ext cx="329184" cy="42062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2880" y="2624328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" y="255117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71A3"/>
                </a:solidFill>
              </a:rPr>
              <a:t>Repudiation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01952" y="255117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Can actions be denied later?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22192" y="255117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No log of who deleted the 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25312" y="25511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Audit logs, non-repudiation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3163824"/>
            <a:ext cx="8778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82880" y="3236976"/>
            <a:ext cx="329184" cy="42062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82880" y="3236976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0352" y="316382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</a:rPr>
              <a:t>Info Disclosure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901952" y="31638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Can sensitive data be exposed?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22192" y="316382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API leaking PII, verbose errors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25312" y="31638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Encryption, data classification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3776472"/>
            <a:ext cx="8778240" cy="566928"/>
          </a:xfrm>
          <a:prstGeom prst="rect">
            <a:avLst/>
          </a:prstGeom>
          <a:solidFill>
            <a:srgbClr val="F7FAFC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82880" y="3849624"/>
            <a:ext cx="329184" cy="42062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82880" y="3849624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0352" y="377647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5400"/>
                </a:solidFill>
              </a:rPr>
              <a:t>Denial of Service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901952" y="37764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Can systems be made unavailable?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22192" y="377647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DDoS, resource exhaustion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25312" y="37764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Rate limiting, CDN, failover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4389120"/>
            <a:ext cx="8778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82880" y="4462272"/>
            <a:ext cx="329184" cy="42062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82880" y="4462272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0352" y="43891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</a:rPr>
              <a:t>Elevation of Privilege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901952" y="4389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Can someone gain higher access?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822192" y="43891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1"/>
                </a:solidFill>
              </a:rPr>
              <a:t>Privilege escalation via SUID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25312" y="4389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Least privilege, PAM, reviews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STRIDE — How Leaders Think Like Attackers (Threat Modeling)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Spoofing: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fake an identity? Example: Phishing email pretending to be the CEO. Control: MFA, email authentication (DMARC/DKIM).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Tampering: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data be altered? Example: Man-in-the-middle attack modifying API calls. Control: TLS, data signing, checksums.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Repudiation: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deny taking an action? Example: Admin claims they didn't delete records. Control: Audit logging, non-repudiation tools.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Info Disclosure: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sensitive data be exposed? Example: Unencrypted database backup. Control: Encryption, DLP, access controls.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S-T-R-I-D-E Continued + Exercise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Denial of Service: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system be made unavailable? Example: DDoS against customer portal. Control: Rate limiting, CDN, redundancy.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Elevation of Privilege: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attacker gain more access than intended? Example: SQL injection granting admin rights. Control: Least privilege, input validation.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Exercise: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login system. Apply all 6 STRIDE questions. Find the weakest point. That's where attackers will go first.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STRIDE before ANY new system is built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Leaders who use STRIDE catch threats BEFORE incidents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Thinking: Your Primary Job as a Leader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Threat × Vulnerability × Impact  —  Impact always wins the prioritization battle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 =  Threat  ×  Vulnerability  ×  Impact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" y="1828800"/>
            <a:ext cx="2743200" cy="2697480"/>
          </a:xfrm>
          <a:prstGeom prst="rect">
            <a:avLst/>
          </a:prstGeom>
          <a:solidFill>
            <a:srgbClr val="FDECEA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1828800"/>
            <a:ext cx="27432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HIGH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Internal dev server bug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6700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Threat: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6700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0083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Vulnerability: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0083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Medium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346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Impact: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33467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4498848"/>
            <a:ext cx="2743200" cy="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7307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→ Schedule fix in next sprint. No urgency.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1828800"/>
            <a:ext cx="2743200" cy="2697480"/>
          </a:xfrm>
          <a:prstGeom prst="rect">
            <a:avLst/>
          </a:prstGeom>
          <a:solidFill>
            <a:srgbClr val="FDF2F8"/>
          </a:solidFill>
          <a:ln w="1905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08960" y="1828800"/>
            <a:ext cx="27432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CRITICAL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</a:rPr>
              <a:t>Public-facing DB exposed to internet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6700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Threat: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26700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</a:rPr>
              <a:t>High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0083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Vulnerability: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0083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</a:rPr>
              <a:t>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346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Impact: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33467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</a:rPr>
              <a:t>Critical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4498848"/>
            <a:ext cx="2743200" cy="0"/>
          </a:xfrm>
          <a:prstGeom prst="rect">
            <a:avLst/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0" y="37307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→ STOP everything. Isolate + patch NOW. Notify legal.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1828800"/>
            <a:ext cx="2743200" cy="2697480"/>
          </a:xfrm>
          <a:prstGeom prst="rect">
            <a:avLst/>
          </a:prstGeom>
          <a:solidFill>
            <a:srgbClr val="EBF5FB"/>
          </a:solidFill>
          <a:ln w="1905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35040" y="1828800"/>
            <a:ext cx="27432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MEDIUM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2212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</a:rPr>
              <a:t>Employee clicked phishing link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26700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Threat: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26700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</a:rPr>
              <a:t>Medium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30083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Vulnerability: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30083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</a:rPr>
              <a:t>Low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346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Impact: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33467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</a:rPr>
              <a:t>Medium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4498848"/>
            <a:ext cx="2743200" cy="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26480" y="37307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→ Isolate endpoint. Password reset. IR protocol.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Leader Rule: Fix highest IMPACT issues first, regardless of how exciting or technical other issues seem.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Thinking — The Primary Job of a Cybersecurity Leader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Threat × Vulnerability × Impact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Leadership Secret: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dominates everything. A critical vulnerability on a low-impact system &lt; A medium vulnerability on a high-impact system.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Rule: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fix the highest impact risk first — regardless of how easy the low-impact fix might be.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What is the asset? 2) What is the threat? 3) What is the likelihood? 4) What is the business impact if compromised?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Scenarios — Leaders Decide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bug in dev environment (low impact) vs. Exposed customer database (critical impact). Leader fixes the database FIRST — always.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Ransomware: Restore from backup vs. Pay ransom? Leader calculates: RTO vs. ransom cost vs. data integrity risk. No hesitation, structured decision.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Insight: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can be: Accepted, Mitigated, Transferred (insurance), or Avoided. Leaders choose based on business context.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Daily habit: For every issue — 'What's the worst-case outcome?'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76272"/>
            <a:ext cx="9144000" cy="54864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3: Psychology of Leadership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Follow | Cognitive Biases | Emotional Control | Influence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of Leadership: Why People Follow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80% human behavior. Leaders who ignore psychology fail.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2743200" cy="640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 CLARITY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A8E8"/>
                </a:solidFill>
              </a:rPr>
              <a:t>They know what to 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719072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freeze under ambiguity. Leaders give crystal-clear direction. In a breach — no one can guess. Assign roles explicitly.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2944368"/>
            <a:ext cx="2743200" cy="274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2999232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'You own network isolation. You own communication. Go.'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08960" y="1005840"/>
            <a:ext cx="2743200" cy="640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🧱  CONFIDENCE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A8E8"/>
                </a:solidFill>
              </a:rPr>
              <a:t>They trust you under pressure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8688" y="1719072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not bravado. It is structured thinking under stress. Teams mirror their leader's emotional state in crises.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0" y="2944368"/>
            <a:ext cx="2743200" cy="274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18688" y="2999232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panic → team collapses. If you're calm → team stabilizes.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743200" cy="640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 CONSISTENCY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A8E8"/>
                </a:solidFill>
              </a:rPr>
              <a:t>They know you won't change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1719072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bend their principles destroy trust. If you said MFA is mandatory — enforce it every time, for everyone.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944368"/>
            <a:ext cx="2743200" cy="274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4768" y="2999232"/>
            <a:ext cx="2542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is exploited — by attackers and by teams.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407408"/>
            <a:ext cx="877824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43484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Psychological Law: People perform at the level their leader's behavior normalizes. Low standards from leadership → low vigilance from teams → breaches.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Psychology: Why Teams Follow Leaders (Not Just Obey Them)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follow when they understand exactly what to do and why it matters. Ambiguity destroys performance in security teams.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contagious. When the leader projects calm certainty, the team stabilizes — even in chaos.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change direction constantly lose credibility fast. Consistent behavior builds psychological safety.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Eisenhower's Definition: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'Leadership is the art of getting someone to do something you want done because THEY want to do it.'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Applied to Cybersecurity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Psychology: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breach: If the leader panics → team collapses and makes errors. If the leader is calm → team executes the playbook.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don't follow policies because they're told to. They follow when they understand the RISK to themselves and the organization.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over Authority: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influence (inspire, support, challenge) outlasts formal power (hire/fire/reward). Build influence first.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Trust: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'Leading from Within': Inner security is the foundation of outer leadership. You can't project confidence you don't have.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Cognitive Biases Every Cyber Leader MUST Fight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Confirmation Bias: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only what confirms existing beliefs. 'This traffic looks normal' — when it's actually C2 communication. Forces you to ignore attack signals.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Normalcy Bias: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'Nothing bad will happen to us.' Leaders delay action because they underestimate the probability of incidents. Equifax thought they were secure too.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Overconfidence Bias: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'We're patched and protected.' Creates blind spots. The SolarWinds attack succeeded partly because defenders were overconfident.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Availability Heuristic: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Overweighting recent threats. After a phishing attack, you focus all resources on phishing — missing ransomware building in the background.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Fight These Biases Daily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Rule: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'What if I'm wrong about this? What am I NOT seeing?'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Thinking: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yourself to argue the attacker's position. What would I do if I wanted to breach this org?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Pre-Mortem Exercise: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launching a security control, ask: 'Imagine it failed completely. Why did it fail?'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CISOs who run regular tabletops build team muscle memory that overrides panic bias during real incidents. (Modern CISO Guide, rec. #6)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Decision fatigue: Make critical decisions before 3pm when possible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Communication: The Most Underestimated Leadership Skill in Cybersecurity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840480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Truth: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CISOs report failing to communicate their role to the rest of the organization. 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communication should follow: 'If X happens → Y business impact → We must do Z.' Business-first, always.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Grandfather Test: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CISO Mathias Bücherl: 'Every message I convey must be easily comprehensible to someone unfamiliar with security terms.’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vs Right: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'We have an unpatched SQL injection in the login service.' ✅ 'If exploited, attackers can access all customer data → legal/financial exposure → we must patch within 24 hours.'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Layers for Cyber Leaders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Executives/Board: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business risk and financial impact. Use KPIs tied to revenue, compliance, and reputation — not technical metrics.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Technical Teams: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specific, clear, and prioritized. Give 3 clear priorities. Confusion = failure in incident response.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General Employees: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language, real consequences, and empathy. Make security relatable — 'This protects YOUR data too.'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Incidents: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early, often, and honestly. Silence creates rumors. Leaders who over-communicate build trust faster.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Practice: Explain 1 cyber issue per day in 1 sentence, no jargon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The Skill That Makes or Breaks Leaders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paid to know. You are paid to make others understand.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Leader Formula:  "If X happens → Y impact → We must do Z"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1691640"/>
            <a:ext cx="1005840" cy="98755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7373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Vulnerability Report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98448" y="1691640"/>
            <a:ext cx="3657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4C3C"/>
                </a:solidFill>
              </a:rPr>
              <a:t>❌  "There is an SQL injection vulnerability in the login endpoint."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931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 "If exploited, an attacker can extract our entire customer database — affecting 500K users and triggering GDPR fines. We need an emergency patch within 48 hours."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770632"/>
            <a:ext cx="1005840" cy="98755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2816352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Breach Notification to Exec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98448" y="2770632"/>
            <a:ext cx="3657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4C3C"/>
                </a:solidFill>
              </a:rPr>
              <a:t>❌  "We had an intrusion. The SOC team is working on containment."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770632"/>
            <a:ext cx="3931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 "We detected unauthorized access to the finance system at 2AM. Customer data appears unaffected. We have isolated the affected servers. Legal and PR teams are on standby. Next update in 2 hours."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849624"/>
            <a:ext cx="1005840" cy="98755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3895344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Security Awareness to Employees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98448" y="3849624"/>
            <a:ext cx="3657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4C3C"/>
                </a:solidFill>
              </a:rPr>
              <a:t>❌  "Don't click phishing emails. Use strong passwords."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849624"/>
            <a:ext cx="3931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✅  "Phishing is the #1 way attackers enter our network. If you click a bad link, you could give an attacker your credentials — and access to systems you don't even use. Report suspicious emails to security@company.com immediately."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E8"/>
                </a:solidFill>
              </a:rPr>
              <a:t>Daily drill: Explain one cyber issue per day in ONE sentence with no jargon. To your partner, your manager, even your mirror.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Making Without Wavering — The Leadership Differentiator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Leaders Fail: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paralysis. Waiting for perfect information that never comes. Security decisions made slowly are decisions that allow attacks to succeed.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Leadership Rule: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with the best available information. Commit fully. Adjust ONLY when new, significant data emerges — not because of pressure.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OODA Applied: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decisions in OODA loops beat slow, perfect decisions every time. The attacker is also moving — your delay is their advantage.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Ground: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executives push back on security decisions, use your framework: 'Based on the risk formula, the business impact is X. I recommend Y.' Stand behind data, not ego.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Scenarios: Make the 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— Pay or Restore?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Calculate: Downtime cost vs. ransom vs. data integrity risk vs. funding criminals. Decide. Act. Don't freeze. Document rationale.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Pressure to Skip Patching: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risk clearly. If they accept it formally, document it. The risk is now theirs — not yours. (Modern CISO Guide, rec. #8)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Ground: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structured thinking, not ego. Use frameworks. Show the math. Present alternatives. Then hold your position.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Reality: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CISOs now face personal legal liability. Aaron Shaha: 'Document everything. The risk is now transitory to the exec who accepts it.'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76272"/>
            <a:ext cx="9144000" cy="54864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4: CISO &amp; Organizational Leadership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CISO Role | Strategy | Governance | Team Building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Modern CISO: Business Leader, Not Just Tech Expert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Evolution: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is evolving from technical IT expert to strategic business enabler. The role now sits at the highest levels of corporate governance.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Glavach, CyberSN: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CISO role is no longer technology-based. It now heavily relies on soft skills — listening, communicating, influencing.'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Challenge: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CISOs must lead daily security operations AND maintain big-picture business risk visibility. Getting lost in technical details = strategic failure.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Structure: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report to CIO. 44% report to CEO. Best practice: Report where you have the MOST influence and impact. (Modern CISO Guide)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CISO Priorities (Devo Survey, 200 CISOs)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Security technology integration: 69%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Security strategy and governance: 68%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Legal compliance and collaboration: 58%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Gap: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CISOs fail to communicate their role effectively to the organization. This is fixable with the right leadership approach.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KPIs CISOs Track: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awareness/training metrics (68%), Vulnerability management (57%), Risk management metrics (31%)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metrics are what boards need — not just patch counts. The gap between what CISOs measure and what boards need is a leadership problem.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Recommendations for CISOs — From Real CISOs (Devo/Modern CISO Guide)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1805" y="960120"/>
            <a:ext cx="8646435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Report where you have power: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should report to whoever controls the real power base in the organization. Influence &gt; reporting line title. </a:t>
            </a:r>
          </a:p>
          <a:p>
            <a:pPr marL="0" indent="0">
              <a:buNone/>
            </a:pPr>
            <a:endParaRPr lang="en-US" sz="1200" b="1" dirty="0">
              <a:solidFill>
                <a:srgbClr val="263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Speak business risk, always: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value is measured in risk reduction and business enablement — not tools deployed. Build a 'talk track' that connects security to revenue. (Richard LaTulip)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SEC rules as leverage: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regulations are a hammer. Document risks, escalate formally. When execs sign off on accepted risk — they own it.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executive tabletops: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type-A leaders through realistic breach scenarios before a real incident. Muscle memory beats panic every time. 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 lines to the business: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business units what THEY are worried about. Build alliances. The best CISOs are essentially security salespeople. (Carraig Stanwyck)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Document risk acceptance workflows: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→ risk owner accepts. High risk → CISO + counsel. Critical → CEO. Everything documented. Auditors then have nothing on you. (Kayla Williams)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and Leading High-Performing Cyber Teams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as Leader: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do everything yourself. Your job is to make OTHERS effective. Every hour you spend doing instead of leading is a lost multiplier.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Clear Ownership: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→ threat detection. IR team → incident response. GRC team → compliance. Cloud security → cloud team. Confusion = failure.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Digital Security Leadership: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you want to go fast, go alone. If you want to go far, go together.' Great teams are built on trust, clarity, and shared mission.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of Skills: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security teams combine: technical depth (analysts, engineers) with strategic thinkers, communicators, and risk managers.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Psychology &amp; Culture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Culture: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breaches involve human error. Culture &gt; policy. People don't follow rules they don't understand or believe in.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Change Curve: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implementing new security controls, expect: Denial → Anger → Bargaining → Depression → Acceptance. Leader's job: Accelerate acceptance through communication.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Fail Reasons: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changes fail when: No vision, no skills, no incentives, no resources, no action plan, no communication, no reinforcement, no quick wins. (Kotter/Lippitt model)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Engagement: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follow clarity + confidence + consistency. Regular 1:1s, transparent priorities, and celebrating security wins build engaged security teams.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+ Execution: The Gap Where Security Programs Die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cybersecurity, 'strategy' is often just a PowerPoint roadmap. Real strategy has 3 dimensions: Technical (roadmap), Economic (funding), Political (stakeholder alignment).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Dimension: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controls, tools, and frameworks (NIST CSF, ISO 27001, Zero Trust). This is what most security people focus on.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Dimension: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ROI of security (ROSI), funding justification. Leaders who can't make a business case lose budget every time.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Dimension: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Influencing all stakeholders — board, executives, IT, HR, legal — to move in the same security direction. This is pure leadership.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Vision to Execution — Cyber 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29955" y="1536192"/>
            <a:ext cx="4101921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Organization — 'Never trust, always verify.' Every user, every device, every session authenticated.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Identity-first security: MFA everywhere, microsegmentation, continuous monitoring, least-privilege access.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MFA for all privileged accounts. Phase 2: Endpoint detection. Phase 3: Network microsegmentation. KPIs track each phase.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sponsorship secured. Each business unit has a security champion. Board receives quarterly risk report.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Vision + Strategy + Execution + Political = Security Program That Survives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76272"/>
            <a:ext cx="9144000" cy="54864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5: General Leadership Skills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 | Presence | Confidence | Teamwork | Emotional Intelligence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Presenting with Confidence — A Critical Cybersecurity Leadership Skill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CISOs fail to communicate effectively. The best security program fails if leadership can't sell it to the board, executives, and employees.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Every Presentation: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What is the problem? 2) What is the business impact? 3) What is the recommended solution? 4) What do you need from the audience?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open posture projects confidence. Crossed arms, rapid speech, avoiding eye contact signals anxiety — and loses credibility instantly.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Questions: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guess under pressure. 'That's an important question — let me give you the precise answer rather than a rough estimate.' Then follow up in 24 hours.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Executive Communication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'Grandfather Test':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non-technical person can't understand it, rewrite it. No acronyms without definition. No technical detail without business context.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Communication Template: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[threat scenario] occurs, [business impact in $/$$ or operational terms]. We can reduce this risk by [control], which costs [X] and takes [Y] time.'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Hide Bad News: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deliver bad news clearly and with a solution plan build MORE trust than those who downplay issues.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= Vulnerability: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crisis, communicate every hour if needed. The communication cadence IS leadership presence during an incident.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Emotional Intelligence — The Hidden Leadership Advantage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384048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Goleman's EI Framework: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 → Self-regulation → Motivation → Empathy → Social skills. EI predicts leadership effectiveness more reliably than IQ.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 in Cyber: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own biases and decision tendencies. Do you over-trust vendors? Under-communicate risk? The Johari Window helps: What do YOU know about yourself that others don't?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Self-Regulation: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Brené Brown (Dare to Lead): Armored leadership = shutting down emotion. Daring leadership = staying present under pressure without losing control.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in Security: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employees click phishing links. Fear, time pressure, trust. Address root causes — not just awareness training.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in Practice — Cybersecurity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Incident: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is watching your face and voice for cues. Regulate your fear response. Project calm confidence. Your emotional state is contagious.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Incident: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culture destroys security programs. High-EI leaders run blameless post-mortems — focus on systems, not people.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Executives: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room. Know when the board wants reassurance vs. detailed risk analysis. Adapt your communication style in real time.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Resilience: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burnout is an epidemic. High-EI leaders notice early warning signs: disengagement, increased errors, cynicism. Intervene before burnout, not after.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Mental health of CISO = mental health of team (Modern CISO Guide)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Holding Your Ground — Standing Firm Under Pressure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78408"/>
            <a:ext cx="384048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 WILL face: executive pressure to skip controls, budget cuts to security, being blamed for incidents they warned about, demands to 'just make it work.'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Ego: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structured thinking backed by data. Ego is defending a position because of pride. Know the difference — and make sure YOUR team knows which one you operate from.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Anchor: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under pressure, return to frameworks: 'Based on the CIA Triad analysis and our risk formula, the impact of skipping this control is X. I recommend we proceed with Y.'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overruled: Document the risk, who accepted it, and why. This protects you legally.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Ground — Real Scenarios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'We can't afford MFA right now'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'The average cost of a credential-based breach is $4.5M. MFA costs $X/year. The ROI of this control is [Y]x. I recommend we prioritize it.'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'This patch can wait until next quarter'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'This vulnerability has a CVSS score of 9.8 and active exploits in the wild. Waiting increases our exposure probability by [X]%. My recommendation stands.'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Tzu's Principle: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'Intelligence, Credibility, Humaneness, Courage, Discipline.' The cyber leader who embodies all five is formidable — technically AND politically.'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Hold the line with data. Change position only with new data.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567E-47E1-9721-F37C-DC426230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7F686C-AEDD-C66C-36BA-1E7960D8BED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E5BF63-E4AF-64DC-979F-0EDBFAA5463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A1DBD2-9E99-C312-B4BA-311C22A6E030}"/>
              </a:ext>
            </a:extLst>
          </p:cNvPr>
          <p:cNvSpPr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Your Ground Under Pressure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40D7E1-A48B-4A57-1CDF-059F76D33C32}"/>
              </a:ext>
            </a:extLst>
          </p:cNvPr>
          <p:cNvSpPr/>
          <p:nvPr/>
        </p:nvSpPr>
        <p:spPr>
          <a:xfrm>
            <a:off x="2743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leaders face pushback constantly. Confidence = structured reasoning, not ego.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15759A-50E8-25D1-F015-008347F0D03C}"/>
              </a:ext>
            </a:extLst>
          </p:cNvPr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Common Pressures You WILL Face: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D92D3DF-C45B-0CA8-35A2-6C9CEE602B87}"/>
              </a:ext>
            </a:extLst>
          </p:cNvPr>
          <p:cNvSpPr/>
          <p:nvPr/>
        </p:nvSpPr>
        <p:spPr>
          <a:xfrm>
            <a:off x="228600" y="1417320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0794D12-BBFB-DA62-D313-2568E153081D}"/>
              </a:ext>
            </a:extLst>
          </p:cNvPr>
          <p:cNvSpPr/>
          <p:nvPr/>
        </p:nvSpPr>
        <p:spPr>
          <a:xfrm>
            <a:off x="228600" y="1417320"/>
            <a:ext cx="12344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5F0EE1-34D6-3DA1-42FF-F1FB68D80AA3}"/>
              </a:ext>
            </a:extLst>
          </p:cNvPr>
          <p:cNvSpPr/>
          <p:nvPr/>
        </p:nvSpPr>
        <p:spPr>
          <a:xfrm>
            <a:off x="228600" y="1417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Executive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CCB4AF-855F-EB5D-48C2-B420B8A48726}"/>
              </a:ext>
            </a:extLst>
          </p:cNvPr>
          <p:cNvSpPr/>
          <p:nvPr/>
        </p:nvSpPr>
        <p:spPr>
          <a:xfrm>
            <a:off x="1508760" y="147218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4C3C"/>
                </a:solidFill>
              </a:rPr>
              <a:t>They say: "Just patch it later — the launch can't move."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0B9431-1FA3-13E8-EBD2-CD46E930634B}"/>
              </a:ext>
            </a:extLst>
          </p:cNvPr>
          <p:cNvSpPr/>
          <p:nvPr/>
        </p:nvSpPr>
        <p:spPr>
          <a:xfrm>
            <a:off x="1508760" y="1892808"/>
            <a:ext cx="7269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</a:rPr>
              <a:t>You say: "Deploying with this vulnerability creates a legal + financial risk of X. Here is the 2-hour patch plan that won't delay the launch."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218798A-FF15-EB79-61F2-67F62BE9B65A}"/>
              </a:ext>
            </a:extLst>
          </p:cNvPr>
          <p:cNvSpPr/>
          <p:nvPr/>
        </p:nvSpPr>
        <p:spPr>
          <a:xfrm>
            <a:off x="228600" y="2423160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56F937-F2E7-041C-6D31-FD1FD723443A}"/>
              </a:ext>
            </a:extLst>
          </p:cNvPr>
          <p:cNvSpPr/>
          <p:nvPr/>
        </p:nvSpPr>
        <p:spPr>
          <a:xfrm>
            <a:off x="228600" y="2423160"/>
            <a:ext cx="12344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D06BBC-F8A4-C302-6A9C-A554325B231D}"/>
              </a:ext>
            </a:extLst>
          </p:cNvPr>
          <p:cNvSpPr/>
          <p:nvPr/>
        </p:nvSpPr>
        <p:spPr>
          <a:xfrm>
            <a:off x="228600" y="24231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Dev Team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02EFB5C-8FB8-57D6-DB05-C5DBB3CA4767}"/>
              </a:ext>
            </a:extLst>
          </p:cNvPr>
          <p:cNvSpPr/>
          <p:nvPr/>
        </p:nvSpPr>
        <p:spPr>
          <a:xfrm>
            <a:off x="1508760" y="247802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4C3C"/>
                </a:solidFill>
              </a:rPr>
              <a:t>They say: "Security is slowing us down. Can we skip this step?"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00ADF9-A71C-3238-630E-FDEF1C50B549}"/>
              </a:ext>
            </a:extLst>
          </p:cNvPr>
          <p:cNvSpPr/>
          <p:nvPr/>
        </p:nvSpPr>
        <p:spPr>
          <a:xfrm>
            <a:off x="1508760" y="2898648"/>
            <a:ext cx="7269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</a:rPr>
              <a:t>You say: "Skipping this step removes the control preventing privilege escalation. I can streamline the process — but I cannot remove it."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A60A3C6-2E43-051F-0BE7-36990BCDD765}"/>
              </a:ext>
            </a:extLst>
          </p:cNvPr>
          <p:cNvSpPr/>
          <p:nvPr/>
        </p:nvSpPr>
        <p:spPr>
          <a:xfrm>
            <a:off x="228600" y="3429000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3C8A206-7082-298D-5782-2287A02DF27F}"/>
              </a:ext>
            </a:extLst>
          </p:cNvPr>
          <p:cNvSpPr/>
          <p:nvPr/>
        </p:nvSpPr>
        <p:spPr>
          <a:xfrm>
            <a:off x="228600" y="3429000"/>
            <a:ext cx="12344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068331E-7435-2AEF-2FB1-280E5A6F21A4}"/>
              </a:ext>
            </a:extLst>
          </p:cNvPr>
          <p:cNvSpPr/>
          <p:nvPr/>
        </p:nvSpPr>
        <p:spPr>
          <a:xfrm>
            <a:off x="228600" y="34290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Finance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80EAFCE-A395-580A-EAAB-41EE90BBC057}"/>
              </a:ext>
            </a:extLst>
          </p:cNvPr>
          <p:cNvSpPr/>
          <p:nvPr/>
        </p:nvSpPr>
        <p:spPr>
          <a:xfrm>
            <a:off x="1508760" y="348386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4C3C"/>
                </a:solidFill>
              </a:rPr>
              <a:t>They say: "The security budget is being cut 30%."</a:t>
            </a: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82133F2-6DA4-0914-C612-C8672B828401}"/>
              </a:ext>
            </a:extLst>
          </p:cNvPr>
          <p:cNvSpPr/>
          <p:nvPr/>
        </p:nvSpPr>
        <p:spPr>
          <a:xfrm>
            <a:off x="1508760" y="3904488"/>
            <a:ext cx="7269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</a:rPr>
              <a:t>You say: "I understand. Here are the top 3 controls I cannot reduce without increasing breach risk by X. I can cut from lower-impact areas instead."</a:t>
            </a:r>
            <a:endParaRPr lang="en-US" sz="10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3A2B3C-7CE5-B46F-6033-03F13CF611FF}"/>
              </a:ext>
            </a:extLst>
          </p:cNvPr>
          <p:cNvSpPr/>
          <p:nvPr/>
        </p:nvSpPr>
        <p:spPr>
          <a:xfrm>
            <a:off x="228600" y="4645152"/>
            <a:ext cx="8686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2D9E4D7-4ACF-B196-02C5-19415A92BE86}"/>
              </a:ext>
            </a:extLst>
          </p:cNvPr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E8"/>
                </a:solidFill>
              </a:rPr>
              <a:t>The Formula for Holding Ground: Data + Framework + Impact = Unbeatable argument. Never defend with opinion. Defend with evidence.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41529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76272"/>
            <a:ext cx="9144000" cy="54864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6: Your Leadership Training Plan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Habits | 30-Day System | Self-Assessment | Continuous Growth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Leadership Training Routine — 30 Days to Think Like a Leader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1-10: Framework Foundation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system daily. Apply STRIDE (6 questions). Map the risk using CIA. Write the risk in 1 sentence for a non-technical person.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11-20: Decision Training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security decision you encounter: Run the OODA loop mentally. What are you observing? What does it mean? What's the action? Time yourself.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21-30: Communication Practice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1 security concept daily to a non-technical colleague. Use the 'If X → Y impact → We must Z' framework. No jargon allowed.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Days: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become instinct. You think in risk, not tools. You communicate in business language, not tech. You decide fast and with confidence.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Questions (Bobbert &amp; Butterhof)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 I know what the 5 most critical assets in my org are?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 I explain our top 3 risks to the CEO in 2 minutes?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 I have a documented incident response plan tested in the last 6 months?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 my team members have clarity on their exact responsibilities?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Have I communicated security priorities to the board in the last quarter?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Johari Window: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know about your leadership that others don't? What do others see that you don't? Seek feedback actively — it's the fastest growth accelerator.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CISO Self-Assessment Template available in Digital Security Leadership appendix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 Mistakes Cyber Leaders Make — And How to Fix Them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651760" cy="73152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Focusing only on tools and technology
•  Getting lost in technical details instead of leading
•  Measuring success by patches applied, not risk reduced
•  Fix: Spend 40% of your time on strategy and stakeholder management
•  Fix: Measure business risk outcomes, not technical activities
•  Source: Digital Security Leadership, Ch.1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26323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73152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Ignoring human behavior and culture
•  Treating security as an IT problem only
•  Blaming users for clicking phishing links
•  Fix: Build security culture through education, not enforcement
•  Fix: Make security easy to follow, hard to bypass
•  74% of breaches involve human element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651760" cy="3566160"/>
          </a:xfrm>
          <a:prstGeom prst="rect">
            <a:avLst/>
          </a:prstGeom>
          <a:solidFill>
            <a:srgbClr val="1A3A4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651760" cy="73152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Failure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Using technical jargon with executives
•  Communicating only during incidents
•  Not documenting risk decisions
•  Fix: Monthly board/exec risk briefing
•  Fix: Translate every finding to business impact
•  Fix: Document all accepted risks formally
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Truth About Cybersecurity Leadership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Technical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Cybersecurity is 80% human behavior
•  Tools don't lead — people do
•  The chain is only as strong as its weakest human link
•  Most breaches have a leadership failure upstream
•  Technical skills get you IN the room. Leadership keeps you there.
•  Peter Drucker: 'Management is doing things right; leadership is doing the right things.'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26323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Influence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Informal influence &gt; formal authority
•  People follow clarity, confidence, consistency
•  Communication IS the job — not just a skill
•  Build trust before you need it in a crisis
•  Security culture &gt; security policy
•  Stephen Covey: 'Leadership is communicating people's worth so clearly they are inspired to see it in themselves.'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651760" cy="3566160"/>
          </a:xfrm>
          <a:prstGeom prst="rect">
            <a:avLst/>
          </a:prstGeom>
          <a:solidFill>
            <a:srgbClr val="1A3A4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6517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1887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Daily Practice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173736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Apply CIA, OODA, STRIDE daily
•  Fight your cognitive biases consciously
•  Communicate risk in business language always
•  Document decisions and accepted risks
•  Build the team first, tools second
•  30-day training system → leadership becomes instinct
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Leadership Training Module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31520"/>
            <a:ext cx="109728" cy="3657600"/>
          </a:xfrm>
          <a:prstGeom prst="rect">
            <a:avLst/>
          </a:prstGeom>
          <a:solidFill>
            <a:srgbClr val="F4840C"/>
          </a:solidFill>
          <a:ln w="12700">
            <a:solidFill>
              <a:srgbClr val="F484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role of the CISO is now a business leadership role — not a technology role. The leaders who succeed are those who can translate risk into business reality and inspire an entire organization to care about security.”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wisdom — Digital Security Leadership &amp; Modern CISO Guide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069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Butterhof &amp; Bobbert | Devo CISO Survey 2024 | Leading from Within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7229</Words>
  <Application>Microsoft Office PowerPoint</Application>
  <PresentationFormat>On-screen Show (16:9)</PresentationFormat>
  <Paragraphs>717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Leadership: A Complete Training Module</dc:title>
  <dc:subject>PptxGenJS Presentation</dc:subject>
  <dc:creator>PptxGenJS</dc:creator>
  <cp:lastModifiedBy>JEYTHA Sahana</cp:lastModifiedBy>
  <cp:revision>63</cp:revision>
  <dcterms:created xsi:type="dcterms:W3CDTF">2026-04-06T02:45:18Z</dcterms:created>
  <dcterms:modified xsi:type="dcterms:W3CDTF">2026-04-07T00:19:03Z</dcterms:modified>
</cp:coreProperties>
</file>