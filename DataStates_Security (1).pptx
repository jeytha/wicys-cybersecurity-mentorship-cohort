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706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164E63">
              <a:alpha val="40000"/>
            </a:srgbClr>
          </a:solidFill>
          <a:ln w="12700">
            <a:solidFill>
              <a:srgbClr val="164E6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731520" cy="548640"/>
          </a:xfrm>
          <a:prstGeom prst="ellipse">
            <a:avLst/>
          </a:prstGeom>
          <a:solidFill>
            <a:srgbClr val="000000">
              <a:alpha val="0"/>
            </a:srgbClr>
          </a:solidFill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9144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06B6D4"/>
                </a:solidFill>
              </a:rPr>
              <a:t>DATA STATES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&amp; Security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</a:rPr>
              <a:t>Understanding At Rest · In Transit · In Use  </a:t>
            </a:r>
          </a:p>
          <a:p>
            <a:pPr marL="0" indent="0">
              <a:buNone/>
            </a:pPr>
            <a:endParaRPr lang="en-US" sz="1500" i="1" dirty="0">
              <a:solidFill>
                <a:srgbClr val="CBD5E1"/>
              </a:solidFill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</a:rPr>
              <a:t>BY: </a:t>
            </a:r>
            <a:r>
              <a:rPr lang="en-US" sz="1500" i="1" dirty="0" err="1">
                <a:solidFill>
                  <a:srgbClr val="CBD5E1"/>
                </a:solidFill>
              </a:rPr>
              <a:t>Jeytha</a:t>
            </a:r>
            <a:r>
              <a:rPr lang="en-US" sz="1500" i="1" dirty="0">
                <a:solidFill>
                  <a:srgbClr val="CBD5E1"/>
                </a:solidFill>
              </a:rPr>
              <a:t> Sahana .V 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Cybersecurity Fundamentals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098534-4668-26C6-CF99-19D2E93B595D}"/>
              </a:ext>
            </a:extLst>
          </p:cNvPr>
          <p:cNvSpPr txBox="1"/>
          <p:nvPr/>
        </p:nvSpPr>
        <p:spPr>
          <a:xfrm>
            <a:off x="690282" y="3614868"/>
            <a:ext cx="4168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Three Data States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34640" cy="3977640"/>
          </a:xfrm>
          <a:prstGeom prst="rect">
            <a:avLst/>
          </a:prstGeom>
          <a:solidFill>
            <a:srgbClr val="1E3A5F"/>
          </a:solidFill>
          <a:ln w="254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34640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490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at 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Stored, not moving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240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E7490"/>
                </a:solidFill>
              </a:rPr>
              <a:t>EXAMPLES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2450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Files, DBs, Backups, Cloud Storage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9260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F4444"/>
                </a:solidFill>
              </a:rPr>
              <a:t>RISK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3136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Theft if accessed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5204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</a:rPr>
              <a:t>PROTECTION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" y="3730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Encryption + Access Controls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914400"/>
            <a:ext cx="2834640" cy="3977640"/>
          </a:xfrm>
          <a:prstGeom prst="rect">
            <a:avLst/>
          </a:prstGeom>
          <a:solidFill>
            <a:srgbClr val="1E3A5F"/>
          </a:solidFill>
          <a:ln w="254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914400"/>
            <a:ext cx="283464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5584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55848" y="1508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 Transit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55848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Moving across a network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2240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C3AED"/>
                </a:solidFill>
              </a:rPr>
              <a:t>EXAMPLES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5848" y="2450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Emails, HTTPS, APIs, Uploads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29260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F4444"/>
                </a:solidFill>
              </a:rPr>
              <a:t>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55848" y="3136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Man-in-the-Middle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35204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</a:rPr>
              <a:t>PROTECTION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55848" y="3730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TLS/HTTPS + VPN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914400"/>
            <a:ext cx="2834640" cy="3977640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914400"/>
            <a:ext cx="28346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2764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27648" y="1508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 Use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27648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Actively being processed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27648" y="22402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</a:rPr>
              <a:t>EXAMPLES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27648" y="2450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RAM, Running queries, Apps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27648" y="29260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F4444"/>
                </a:solidFill>
              </a:rPr>
              <a:t>RISK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27648" y="3136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Exposed during processing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27648" y="35204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</a:rPr>
              <a:t>PROTECTION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27648" y="3730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Secure coding + Mem protection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🏦  Real-World Scenario: Banking App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</a:rPr>
              <a:t>A user logs in, checks their balance, and downloads a PDF statement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737360"/>
          </a:xfrm>
          <a:prstGeom prst="rect">
            <a:avLst/>
          </a:prstGeom>
          <a:solidFill>
            <a:srgbClr val="172A4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1216152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54680" y="123444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IN USE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2688" y="1207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enters login credentials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7556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⚠ Keyloggers, shoulder surfing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103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🛡 Masked input, MFA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206240" cy="1737360"/>
          </a:xfrm>
          <a:prstGeom prst="rect">
            <a:avLst/>
          </a:prstGeom>
          <a:solidFill>
            <a:srgbClr val="172A47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18888" y="1207008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1888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1234440"/>
            <a:ext cx="1216152" cy="292608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89520" y="123444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</a:rPr>
              <a:t>IN TRANSIT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67528" y="1207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Credentials sent to server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17556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⚠ Man-in-the-Middle attack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2103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🛡 TLS/HTTPS encryption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206240" cy="1737360"/>
          </a:xfrm>
          <a:prstGeom prst="rect">
            <a:avLst/>
          </a:prstGeom>
          <a:solidFill>
            <a:srgbClr val="172A47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4048" y="312724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54680" y="3154680"/>
            <a:ext cx="1216152" cy="29260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54680" y="315468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</a:rPr>
              <a:t>AT REST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32688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Server checks database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6758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⚠ DB breach, SQL injection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4023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🛡 Hashed passwords, access control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017520"/>
            <a:ext cx="4206240" cy="1737360"/>
          </a:xfrm>
          <a:prstGeom prst="rect">
            <a:avLst/>
          </a:prstGeom>
          <a:solidFill>
            <a:srgbClr val="172A4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18888" y="31272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18888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89520" y="3154680"/>
            <a:ext cx="1216152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89520" y="315468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IN USE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67528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Balance displayed on screen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18888" y="36758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</a:rPr>
              <a:t>⚠ Screen scraping, unauthorized eyes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8888" y="4023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🛡 Session timeouts, auto-lock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26280" y="1965960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5: Downloading the PDF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108960"/>
          </a:xfrm>
          <a:prstGeom prst="rect">
            <a:avLst/>
          </a:prstGeom>
          <a:solidFill>
            <a:srgbClr val="1E3A5F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DURING DOWNLOAD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</a:rPr>
              <a:t>Data in Transit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Risk: </a:t>
            </a:r>
            <a:r>
              <a:rPr lang="en-US" sz="1100" dirty="0">
                <a:solidFill>
                  <a:srgbClr val="CBD5E1"/>
                </a:solidFill>
              </a:rPr>
              <a:t>Intercepted download on shared network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Control: </a:t>
            </a:r>
            <a:r>
              <a:rPr lang="en-US" sz="1100" dirty="0">
                <a:solidFill>
                  <a:srgbClr val="CBD5E1"/>
                </a:solidFill>
              </a:rPr>
              <a:t>HTTPS/TLS ensures encrypted transfer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Control: </a:t>
            </a:r>
            <a:r>
              <a:rPr lang="en-US" sz="1100" dirty="0">
                <a:solidFill>
                  <a:srgbClr val="CBD5E1"/>
                </a:solidFill>
              </a:rPr>
              <a:t>Avoid public Wi-Fi without VPN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540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Control: </a:t>
            </a:r>
            <a:r>
              <a:rPr lang="en-US" sz="1100" dirty="0">
                <a:solidFill>
                  <a:srgbClr val="CBD5E1"/>
                </a:solidFill>
              </a:rPr>
              <a:t>Certificate pinning to prevent MITM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28600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07408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46320" y="822960"/>
            <a:ext cx="4023360" cy="3108960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822960"/>
            <a:ext cx="40233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1F3D"/>
                </a:solidFill>
              </a:rPr>
              <a:t>AFTER DOWNLOAD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Data at Rest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16276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Risk: </a:t>
            </a:r>
            <a:r>
              <a:rPr lang="en-US" sz="1100" dirty="0">
                <a:solidFill>
                  <a:srgbClr val="CBD5E1"/>
                </a:solidFill>
              </a:rPr>
              <a:t>Unencrypted PDF on device or cloud sync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Risk: </a:t>
            </a:r>
            <a:r>
              <a:rPr lang="en-US" sz="1100" dirty="0">
                <a:solidFill>
                  <a:srgbClr val="CBD5E1"/>
                </a:solidFill>
              </a:rPr>
              <a:t>Malware reading local files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542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Control: </a:t>
            </a:r>
            <a:r>
              <a:rPr lang="en-US" sz="1100" dirty="0">
                <a:solidFill>
                  <a:srgbClr val="CBD5E1"/>
                </a:solidFill>
              </a:rPr>
              <a:t>Device encryption (FileVault, BitLocker)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Control: </a:t>
            </a:r>
            <a:r>
              <a:rPr lang="en-US" sz="1100" dirty="0">
                <a:solidFill>
                  <a:srgbClr val="CBD5E1"/>
                </a:solidFill>
              </a:rPr>
              <a:t>Password-protect the PDF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069080"/>
            <a:ext cx="8595360" cy="777240"/>
          </a:xfrm>
          <a:prstGeom prst="rect">
            <a:avLst/>
          </a:prstGeom>
          <a:solidFill>
            <a:srgbClr val="1C3557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F9FF"/>
                </a:solidFill>
              </a:rPr>
              <a:t>💡  One file — two states. Security must cover BOTH transitions for full protection.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1D2E"/>
          </a:solidFill>
          <a:ln w="12700">
            <a:solidFill>
              <a:srgbClr val="7C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  Leader Thinking: Risk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234440"/>
          </a:xfrm>
          <a:prstGeom prst="rect">
            <a:avLst/>
          </a:prstGeom>
          <a:solidFill>
            <a:srgbClr val="3B0A17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⚠  Highest Risk Point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Credentials in transit (Step 2) — if TLS is broken or absent, an attacker can capture the username + password in plaintext and gain full account access. Everything else downstream becomes irrelevant.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8595360" cy="1234440"/>
          </a:xfrm>
          <a:prstGeom prst="rect">
            <a:avLst/>
          </a:prstGeom>
          <a:solidFill>
            <a:srgbClr val="0A2D1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✅  If You Could Fix ONE Thing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Enforce strong TLS everywhere — this protects login credentials AND the PDF download in a single control. Pair with MFA so that even if credentials leak, an attacker still can't log in.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</a:rPr>
              <a:t>RELATIVE RISK EXPOSURE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Credential Transit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4206240"/>
            <a:ext cx="146304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1389888" cy="50292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DB at Rest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84832" y="4206240"/>
            <a:ext cx="146304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84832" y="4206240"/>
            <a:ext cx="1097280" cy="502920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84832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12464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PDF at Rest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03904" y="4206240"/>
            <a:ext cx="146304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03904" y="4206240"/>
            <a:ext cx="877824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03904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31536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Balance in Use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22976" y="4206240"/>
            <a:ext cx="146304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22976" y="4206240"/>
            <a:ext cx="658368" cy="502920"/>
          </a:xfrm>
          <a:prstGeom prst="rect">
            <a:avLst/>
          </a:prstGeom>
          <a:solidFill>
            <a:srgbClr val="A3E635">
              <a:alpha val="80000"/>
            </a:srgbClr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22976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50608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PDF Download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42048" y="4206240"/>
            <a:ext cx="146304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42048" y="4206240"/>
            <a:ext cx="731520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42048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440"/>
          </a:solidFill>
          <a:ln w="12700">
            <a:solidFill>
              <a:srgbClr val="1C1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📶  Bonus Challenge: HTTPS on Public Wi-Fi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</a:rPr>
              <a:t>Is the data safe in transit?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132238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9FF"/>
                </a:solidFill>
              </a:rPr>
              <a:t>Mostly — but not entirely. HTTPS encrypts the content, but several attack vectors remain open on public Wi-Fi.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F4444"/>
                </a:solidFill>
              </a:rPr>
              <a:t>NEW RISKS ON PUBLIC WI-FI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36576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Evil Twin Attack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224028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Rogue hotspot mimicking the real one — user connects unknowingly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715768"/>
            <a:ext cx="36576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SSL Stripping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715768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Attacker downgrades HTTPS→HTTP if app doesn't enforce HSTS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191256"/>
            <a:ext cx="36576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1912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DNS Hijacking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191256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Redirects user to a fake banking site despite correct URL typed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66744"/>
            <a:ext cx="36576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6667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Session Hijacking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3666744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Attacker steals session cookie over unencrypted sub-requests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✓  Use a VPN to encrypt all traffic end-to-end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✓  Ensure app enforces HSTS (HTTP Strict Transport Security)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✓  Enable certificate pinning in the mobile app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📋  Complete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87452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914400"/>
            <a:ext cx="141732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9144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914400"/>
            <a:ext cx="205740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9040" y="9144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914400"/>
            <a:ext cx="324612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0" y="914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25880"/>
            <a:ext cx="187452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3258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Enter credentials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1325880"/>
            <a:ext cx="141732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0" y="132588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 Use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1325880"/>
            <a:ext cx="205740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49040" y="13258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Keyloggers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1325880"/>
            <a:ext cx="324612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132588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MFA + masked input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856232"/>
            <a:ext cx="187452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18562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Send to server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94560" y="1856232"/>
            <a:ext cx="141732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0" y="185623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In Transit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1856232"/>
            <a:ext cx="205740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49040" y="18562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MITM attack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1856232"/>
            <a:ext cx="324612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52160" y="185623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TLS/HTTPS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386584"/>
            <a:ext cx="187452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3865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DB verification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94560" y="2386584"/>
            <a:ext cx="141732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0" y="238658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At Rest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0" y="2386584"/>
            <a:ext cx="205740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49040" y="238658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DB breach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60720" y="2386584"/>
            <a:ext cx="324612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52160" y="238658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Hashed passwords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916936"/>
            <a:ext cx="187452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291693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Balance on screen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94560" y="2916936"/>
            <a:ext cx="141732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286000" y="291693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 Use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0" y="2916936"/>
            <a:ext cx="205740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49040" y="291693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Shoulder surfing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60720" y="2916936"/>
            <a:ext cx="324612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52160" y="291693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Session timeout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447288"/>
            <a:ext cx="187452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344728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PDF download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94560" y="3447288"/>
            <a:ext cx="141732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286000" y="344728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In Transit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0" y="3447288"/>
            <a:ext cx="205740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749040" y="344728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Interception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760720" y="3447288"/>
            <a:ext cx="3246120" cy="475488"/>
          </a:xfrm>
          <a:prstGeom prst="rect">
            <a:avLst/>
          </a:prstGeom>
          <a:solidFill>
            <a:srgbClr val="172A4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52160" y="344728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HTTPS + VPN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3977640"/>
            <a:ext cx="187452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5760" y="39776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PDF saved locally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194560" y="3977640"/>
            <a:ext cx="141732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286000" y="397764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At Rest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0" y="3977640"/>
            <a:ext cx="205740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749040" y="39776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File theft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60720" y="3977640"/>
            <a:ext cx="3246120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852160" y="397764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Disk encryption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578</Words>
  <Application>Microsoft Office PowerPoint</Application>
  <PresentationFormat>On-screen Show (16:9)</PresentationFormat>
  <Paragraphs>139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States &amp; Security</dc:title>
  <dc:subject>PptxGenJS Presentation</dc:subject>
  <dc:creator>PptxGenJS</dc:creator>
  <cp:lastModifiedBy>JEYTHA Sahana</cp:lastModifiedBy>
  <cp:revision>3</cp:revision>
  <dcterms:created xsi:type="dcterms:W3CDTF">2026-04-06T17:32:03Z</dcterms:created>
  <dcterms:modified xsi:type="dcterms:W3CDTF">2026-04-07T00:27:40Z</dcterms:modified>
</cp:coreProperties>
</file>